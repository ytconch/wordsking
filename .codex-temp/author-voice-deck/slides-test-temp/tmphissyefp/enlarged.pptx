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50fd9e09df54e99" Type="http://schemas.openxmlformats.org/package/2006/relationships/metadata/core-properties" Target="docProps/core.xml"/><Relationship Id="R81d3d5fe2d3d45b7" Type="http://schemas.openxmlformats.org/officeDocument/2006/relationships/officeDocument" Target="ppt/presentation.xml"/><Relationship Id="Rd9b10f752812467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57b959221c4f06"/>
  </p:sldMasterIdLst>
  <p:notesMasterIdLst>
    <p:notesMasterId xmlns:r="http://schemas.openxmlformats.org/officeDocument/2006/relationships" r:id="R6ed3bc5dfdb44eb9"/>
  </p:notesMasterIdLst>
  <p:sldIdLst>
    <p:sldId xmlns:r="http://schemas.openxmlformats.org/officeDocument/2006/relationships" id="256" r:id="R99653584a0694b10"/>
    <p:sldId xmlns:r="http://schemas.openxmlformats.org/officeDocument/2006/relationships" id="257" r:id="R3fe787b419e14b5f"/>
    <p:sldId xmlns:r="http://schemas.openxmlformats.org/officeDocument/2006/relationships" id="258" r:id="R2a2ab04caea04b93"/>
    <p:sldId xmlns:r="http://schemas.openxmlformats.org/officeDocument/2006/relationships" id="259" r:id="Rd168a3b332064563"/>
    <p:sldId xmlns:r="http://schemas.openxmlformats.org/officeDocument/2006/relationships" id="260" r:id="Rb52b7943f61b4c06"/>
    <p:sldId xmlns:r="http://schemas.openxmlformats.org/officeDocument/2006/relationships" id="261" r:id="R5e2fb3167b144f53"/>
    <p:sldId xmlns:r="http://schemas.openxmlformats.org/officeDocument/2006/relationships" id="262" r:id="R7a2b6ad9fb1e431c"/>
    <p:sldId xmlns:r="http://schemas.openxmlformats.org/officeDocument/2006/relationships" id="263" r:id="R9b087e316d8f47de"/>
    <p:sldId xmlns:r="http://schemas.openxmlformats.org/officeDocument/2006/relationships" id="264" r:id="R385097fb84724e6f"/>
    <p:sldId xmlns:r="http://schemas.openxmlformats.org/officeDocument/2006/relationships" id="265" r:id="Rb0dbe22cb7fc4667"/>
    <p:sldId xmlns:r="http://schemas.openxmlformats.org/officeDocument/2006/relationships" id="266" r:id="R2b8c644ea95242fd"/>
    <p:sldId xmlns:r="http://schemas.openxmlformats.org/officeDocument/2006/relationships" id="267" r:id="R4257ac2a73554adf"/>
    <p:sldId xmlns:r="http://schemas.openxmlformats.org/officeDocument/2006/relationships" id="268" r:id="Rf389a4b571704cab"/>
    <p:sldId xmlns:r="http://schemas.openxmlformats.org/officeDocument/2006/relationships" id="269" r:id="R878635d49bf64f04"/>
    <p:sldId xmlns:r="http://schemas.openxmlformats.org/officeDocument/2006/relationships" id="270" r:id="Rbb86617a84944abe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a2ab04caea04b93" Type="http://schemas.openxmlformats.org/officeDocument/2006/relationships/slide" Target="slides/slide3.xml"/><Relationship Id="R2b8c644ea95242fd" Type="http://schemas.openxmlformats.org/officeDocument/2006/relationships/slide" Target="slides/slide11.xml"/><Relationship Id="R2c3e207d94a24d10" Type="http://schemas.openxmlformats.org/officeDocument/2006/relationships/tableStyles" Target="tableStyles.xml"/><Relationship Id="R385097fb84724e6f" Type="http://schemas.openxmlformats.org/officeDocument/2006/relationships/slide" Target="slides/slide9.xml"/><Relationship Id="R3fe787b419e14b5f" Type="http://schemas.openxmlformats.org/officeDocument/2006/relationships/slide" Target="slides/slide2.xml"/><Relationship Id="R4257ac2a73554adf" Type="http://schemas.openxmlformats.org/officeDocument/2006/relationships/slide" Target="slides/slide12.xml"/><Relationship Id="R5e2fb3167b144f53" Type="http://schemas.openxmlformats.org/officeDocument/2006/relationships/slide" Target="slides/slide6.xml"/><Relationship Id="R6ed3bc5dfdb44eb9" Type="http://schemas.openxmlformats.org/officeDocument/2006/relationships/notesMaster" Target="notesMasters/notesMaster1.xml"/><Relationship Id="R7a2b6ad9fb1e431c" Type="http://schemas.openxmlformats.org/officeDocument/2006/relationships/slide" Target="slides/slide7.xml"/><Relationship Id="R86d839243023446e" Type="http://schemas.openxmlformats.org/officeDocument/2006/relationships/theme" Target="theme/theme1.xml"/><Relationship Id="R878635d49bf64f04" Type="http://schemas.openxmlformats.org/officeDocument/2006/relationships/slide" Target="slides/slide14.xml"/><Relationship Id="R9057b959221c4f06" Type="http://schemas.openxmlformats.org/officeDocument/2006/relationships/slideMaster" Target="slideMasters/slideMaster1.xml"/><Relationship Id="R99653584a0694b10" Type="http://schemas.openxmlformats.org/officeDocument/2006/relationships/slide" Target="slides/slide1.xml"/><Relationship Id="R9b087e316d8f47de" Type="http://schemas.openxmlformats.org/officeDocument/2006/relationships/slide" Target="slides/slide8.xml"/><Relationship Id="Rb0dbe22cb7fc4667" Type="http://schemas.openxmlformats.org/officeDocument/2006/relationships/slide" Target="slides/slide10.xml"/><Relationship Id="Rb52b7943f61b4c06" Type="http://schemas.openxmlformats.org/officeDocument/2006/relationships/slide" Target="slides/slide5.xml"/><Relationship Id="Rbb86617a84944abe" Type="http://schemas.openxmlformats.org/officeDocument/2006/relationships/slide" Target="slides/slide15.xml"/><Relationship Id="Rc5864cd6d8da4021" Type="http://schemas.openxmlformats.org/officeDocument/2006/relationships/presProps" Target="presProps.xml"/><Relationship Id="Rd168a3b332064563" Type="http://schemas.openxmlformats.org/officeDocument/2006/relationships/slide" Target="slides/slide4.xml"/><Relationship Id="Rf389a4b571704cab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b3ba97fdafa641d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bcf11c81eba4e39" Type="http://schemas.openxmlformats.org/officeDocument/2006/relationships/notesMaster" Target="../notesMasters/notesMaster1.xml"/><Relationship Id="Rec410fd1cb0b40d4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b19bed9aed744282" Type="http://schemas.openxmlformats.org/officeDocument/2006/relationships/notesMaster" Target="../notesMasters/notesMaster1.xml"/><Relationship Id="Rc70772b6ec21449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95994d65ed248bc" Type="http://schemas.openxmlformats.org/officeDocument/2006/relationships/notesMaster" Target="../notesMasters/notesMaster1.xml"/><Relationship Id="R47a3344061e5405e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2c6330817f241d8" Type="http://schemas.openxmlformats.org/officeDocument/2006/relationships/notesMaster" Target="../notesMasters/notesMaster1.xml"/><Relationship Id="Rd5f4068f06a8490d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ceab4cdf4eca4f30" Type="http://schemas.openxmlformats.org/officeDocument/2006/relationships/notesMaster" Target="../notesMasters/notesMaster1.xml"/><Relationship Id="Re89e0ed8efa74da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1506bfadf2184ab0" Type="http://schemas.openxmlformats.org/officeDocument/2006/relationships/slide" Target="../slides/slide6.xml"/><Relationship Id="Rbb37c4798c4b443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c7b273fd6d64bc2" Type="http://schemas.openxmlformats.org/officeDocument/2006/relationships/notesMaster" Target="../notesMasters/notesMaster1.xml"/><Relationship Id="R44928b1244fd4ee3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238c89469344a97" Type="http://schemas.openxmlformats.org/officeDocument/2006/relationships/notesMaster" Target="../notesMasters/notesMaster1.xml"/><Relationship Id="Ra66068bf04354f1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4dc53fc8a3c4cbf" Type="http://schemas.openxmlformats.org/officeDocument/2006/relationships/slide" Target="../slides/slide9.xml"/><Relationship Id="R36876a343971415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d0c1cf016884bc4" Type="http://schemas.openxmlformats.org/officeDocument/2006/relationships/slide" Target="../slides/slide10.xml"/><Relationship Id="Rc7dc913cb98a4266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a6d1a0d5db6b447d" Type="http://schemas.openxmlformats.org/officeDocument/2006/relationships/notesMaster" Target="../notesMasters/notesMaster1.xml"/><Relationship Id="Rcbfe79772b9a4da9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ae52597d4e3c4c5a" Type="http://schemas.openxmlformats.org/officeDocument/2006/relationships/slide" Target="../slides/slide12.xml"/><Relationship Id="Rc48bac95373a469c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6b313900f464baf" Type="http://schemas.openxmlformats.org/officeDocument/2006/relationships/notesMaster" Target="../notesMasters/notesMaster1.xml"/><Relationship Id="Rcb23597944cc476d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5c159b2563314868" Type="http://schemas.openxmlformats.org/officeDocument/2006/relationships/notesMaster" Target="../notesMasters/notesMaster1.xml"/><Relationship Id="Rc69e7746f16e4886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23bdaa576e2c4880" Type="http://schemas.openxmlformats.org/officeDocument/2006/relationships/notesMaster" Target="../notesMasters/notesMaster1.xml"/><Relationship Id="R23eae19ce66c404d" Type="http://schemas.openxmlformats.org/officeDocument/2006/relationships/slide" Target="../slides/slide1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本專案識別與申請人資料。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Merriam-Webster — https://www.merriam-webster.com/dictionary/distribute</a:t>
            </a:r>
          </a:p>
          <a:p xmlns:a="http://schemas.openxmlformats.org/drawingml/2006/main">
            <a:r>
              <a:t>- Oxford Advanced Learner's Dictionary — https://www.oxfordlearnersdictionaries.com/definition/english/distribute</a:t>
            </a:r>
          </a:p>
          <a:p xmlns:a="http://schemas.openxmlformats.org/drawingml/2006/main">
            <a:r>
              <a:t>- 本專案開發動機。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本專案功能流程與資料結構。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本專案展示畫面。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本專案開發紀錄。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本專案原始碼：server.js、src/routes、src/db、src/middleware、src/utils、public。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 AI 匯入流程：scripts/image_word_pipeline.py、src/routes/import.js。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本專案資料庫統計，2026/08/15。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本專案發音服務與內容審查功能。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本專案學習反思、公開服務與未來規劃。</a:t>
            </a:r>
          </a:p>
          <a:p xmlns:a="http://schemas.openxmlformats.org/drawingml/2006/main">
            <a:r>
              <a:t>- https://words.ytconch.duckdns.org/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本專案公開頁面與後端路由。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測試命令：python -m unittest tests.test_image_word_pipeline；2026/08/15 共 26 項通過。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本專案原始碼、資料庫分工與部署架構。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本專案需求、測試與維運紀錄。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公開服務：https://words.ytconch.duckdns.org/</a:t>
            </a:r>
          </a:p>
          <a:p xmlns:a="http://schemas.openxmlformats.org/drawingml/2006/main">
            <a:r>
              <a:t>- 本專案展示用去識別化畫面。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380de98820c4f5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3723e5ca47f411c" Type="http://schemas.openxmlformats.org/officeDocument/2006/relationships/theme" Target="theme/theme2.xml"/><Relationship Id="Rb5bfeb84f77d4c7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bfeb84f77d4c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73c684aacec44fd" Type="http://schemas.openxmlformats.org/officeDocument/2006/relationships/notesSlide" Target="../notesSlides/notesSlide1.xml"/><Relationship Id="R949fc403e46f47cc" Type="http://schemas.openxmlformats.org/officeDocument/2006/relationships/slideLayout" Target="../slideLayouts/slideLayout1.xml"/><Relationship Id="R9fd443cc4313418f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03a4af09447c498b" Type="http://schemas.openxmlformats.org/officeDocument/2006/relationships/slideLayout" Target="../slideLayouts/slideLayout1.xml"/><Relationship Id="R5a9c17690a5640ac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3bf265add2b147b6" Type="http://schemas.openxmlformats.org/officeDocument/2006/relationships/notesSlide" Target="../notesSlides/notesSlide3.xml"/><Relationship Id="R8a6bee734c1841ef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2e862d4ae17343e6" Type="http://schemas.openxmlformats.org/officeDocument/2006/relationships/image" Target="../media/image2.jpeg"/><Relationship Id="R3bdc8f3fc01742e1" Type="http://schemas.openxmlformats.org/officeDocument/2006/relationships/slideLayout" Target="../slideLayouts/slideLayout1.xml"/><Relationship Id="R9c57498c4a4a41dc" Type="http://schemas.openxmlformats.org/officeDocument/2006/relationships/image" Target="../media/image.jpeg"/><Relationship Id="Rc4807ae66f1c43b8" Type="http://schemas.openxmlformats.org/officeDocument/2006/relationships/notesSlide" Target="../notesSlides/notesSlide4.xml"/><Relationship Id="Rd582f6c3a8904971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8301b8f091ee464a" Type="http://schemas.openxmlformats.org/officeDocument/2006/relationships/slideLayout" Target="../slideLayouts/slideLayout1.xml"/><Relationship Id="Rcf8b65eb2c7e48e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a6c64b9138548be" Type="http://schemas.openxmlformats.org/officeDocument/2006/relationships/slideLayout" Target="../slideLayouts/slideLayout1.xml"/><Relationship Id="R4f0599d9f82c4b3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8d996bb34c74935" Type="http://schemas.openxmlformats.org/officeDocument/2006/relationships/notesSlide" Target="../notesSlides/notesSlide7.xml"/><Relationship Id="Rb6c0b90542b943ef" Type="http://schemas.openxmlformats.org/officeDocument/2006/relationships/slideLayout" Target="../slideLayouts/slideLayout1.xml"/><Relationship Id="Rfb099c6e7ca04b6e" Type="http://schemas.openxmlformats.org/officeDocument/2006/relationships/image" Target="../media/image4.jpeg"/></Relationships>
</file>

<file path=ppt/slides/_rels/slide8.xml.rels><?xml version='1.0' encoding='UTF-8' standalone='yes'?>
<Relationships xmlns="http://schemas.openxmlformats.org/package/2006/relationships"><Relationship Id="R555405db52af436a" Type="http://schemas.openxmlformats.org/officeDocument/2006/relationships/notesSlide" Target="../notesSlides/notesSlide8.xml"/><Relationship Id="Rb42c2f1f7fa24298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dd57b8ad25fd4fcd" Type="http://schemas.openxmlformats.org/officeDocument/2006/relationships/slideLayout" Target="../slideLayouts/slideLayout1.xml"/><Relationship Id="Rde202c26c93d4c3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17a74b8d6cc2490c" Type="http://schemas.openxmlformats.org/officeDocument/2006/relationships/slideLayout" Target="../slideLayouts/slideLayout1.xml"/><Relationship Id="R4f2a3894784843bc" Type="http://schemas.openxmlformats.org/officeDocument/2006/relationships/notesSlide" Target="../notesSlides/notesSlide10.xml"/><Relationship Id="Rbefbbfbd0f074eaa" Type="http://schemas.openxmlformats.org/officeDocument/2006/relationships/hyperlink" Target="https://words.ytconch.duckdns.org/" TargetMode="External"/></Relationships>
</file>

<file path=ppt/slides/_rels/slide11.xml.rels><?xml version='1.0' encoding='UTF-8' standalone='yes'?>
<Relationships xmlns="http://schemas.openxmlformats.org/package/2006/relationships"><Relationship Id="R4982830e71414041" Type="http://schemas.openxmlformats.org/officeDocument/2006/relationships/slideLayout" Target="../slideLayouts/slideLayout1.xml"/><Relationship Id="Rbc96732f82e447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de2c232cd354200" Type="http://schemas.openxmlformats.org/officeDocument/2006/relationships/notesSlide" Target="../notesSlides/notesSlide12.xml"/><Relationship Id="Rf5cd335e0a90428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76672072be58450a" Type="http://schemas.openxmlformats.org/officeDocument/2006/relationships/notesSlide" Target="../notesSlides/notesSlide13.xml"/><Relationship Id="R9afedd5a9ef54288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3a9e08ba5a884900" Type="http://schemas.openxmlformats.org/officeDocument/2006/relationships/notesSlide" Target="../notesSlides/notesSlide14.xml"/><Relationship Id="R473aa090b1964a6b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5c774582cae4e04" Type="http://schemas.openxmlformats.org/officeDocument/2006/relationships/notesSlide" Target="../notesSlides/notesSlide15.xml"/><Relationship Id="R90fffb74f5694727" Type="http://schemas.openxmlformats.org/officeDocument/2006/relationships/image" Target="../media/image5.jpeg"/><Relationship Id="Ra6bd7cb198c242e9" Type="http://schemas.openxmlformats.org/officeDocument/2006/relationships/hyperlink" Target="https://words.ytconch.duckdns.org/" TargetMode="External"/><Relationship Id="Rd6587cfa80a240d3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ver-left-panel">
            <a:extLst xmlns:a="http://schemas.openxmlformats.org/drawingml/2006/main">
              <a:ext uri="{FF2B5EF4-FFF2-40B4-BE49-F238E27FC236}">
                <a16:creationId xmlns:a16="http://schemas.microsoft.com/office/drawing/2014/main" id="{1EF2175E-6F5F-4A3E-8A6F-91ACFA5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DFE185C2-E910-4AEA-9C4B-5D644C73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443cc4313418f"/>
          <a:stretch xmlns:a="http://schemas.openxmlformats.org/drawingml/2006/main"/>
        </p:blipFill>
        <p:spPr>
          <a:xfrm xmlns:a="http://schemas.openxmlformats.org/drawingml/2006/main">
            <a:off x="1600200" y="2019300"/>
            <a:ext cx="1619250" cy="1619250"/>
          </a:xfrm>
          <a:prstGeom xmlns:a="http://schemas.openxmlformats.org/drawingml/2006/main" prst="rect">
            <a:avLst/>
          </a:prstGeom>
        </p:spPr>
      </p:pic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38F4E10E-B556-40CB-ADC2-1EC42185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24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</a:p>
        </p:txBody>
      </p:sp>
      <p:sp>
        <p:nvSpPr>
          <p:cNvPr id="5" name="cover-tag">
            <a:extLst xmlns:a="http://schemas.openxmlformats.org/drawingml/2006/main">
              <a:ext uri="{FF2B5EF4-FFF2-40B4-BE49-F238E27FC236}">
                <a16:creationId xmlns:a16="http://schemas.microsoft.com/office/drawing/2014/main" id="{8D4AF8EC-20FD-4BAE-9AA9-E4AE780C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38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特殊選才 · 專案作品報告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9630BEA-16E0-4444-BB06-C92E657A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81200"/>
            <a:ext cx="6572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把詞源理解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轉化為可驗證的學習系統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BC71FAB-C6A5-4184-8748-057C67D8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814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從個人學習痛點出發，建立可公開使用、可記錄、可持續修正的單字學習服務。</a:t>
            </a:r>
          </a:p>
        </p:txBody>
      </p:sp>
      <p:sp>
        <p:nvSpPr>
          <p:cNvPr id="8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597A64AC-A439-40D1-8DEE-A03858B7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578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39A48FE7-835E-489A-A405-61D166CE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72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詹秉睿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清水高中 · 高三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3E93A3B2-C5B3-4294-8E83-7F91FF92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6737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PROJECT SNAPSHOT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  <a:def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2026.08.15</a:t>
            </a:r>
          </a:p>
        </p:txBody>
      </p:sp>
    </p:spTree>
    <p:extLst>
      <p:ext uri="{BB962C8B-B14F-4D97-AF65-F5344CB8AC3E}">
        <p14:creationId xmlns:p14="http://schemas.microsoft.com/office/powerpoint/2010/main" val="1025263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op-rule-2">
            <a:extLst xmlns:a="http://schemas.openxmlformats.org/drawingml/2006/main">
              <a:ext uri="{FF2B5EF4-FFF2-40B4-BE49-F238E27FC236}">
                <a16:creationId xmlns:a16="http://schemas.microsoft.com/office/drawing/2014/main" id="{08AE1A78-EA0B-4039-8297-6FD1D863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4372304E-FCD5-4573-931B-1E2E6CFC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ORIGIN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C6F91DAF-02AF-4090-A41F-CA1DD5EF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我不想再逐字詢問 AI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F67999C5-57AE-4304-B795-C0047109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起點是一個反覆出現的學習摩擦。</a:t>
            </a:r>
          </a:p>
        </p:txBody>
      </p:sp>
      <p:sp>
        <p:nvSpPr>
          <p:cNvPr id="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C2E3E1BB-9C68-4B2A-8018-3E59216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B0FBCFCC-0B14-46FD-A87B-7D65108C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origin-quote">
            <a:extLst xmlns:a="http://schemas.openxmlformats.org/drawingml/2006/main">
              <a:ext uri="{FF2B5EF4-FFF2-40B4-BE49-F238E27FC236}">
                <a16:creationId xmlns:a16="http://schemas.microsoft.com/office/drawing/2014/main" id="{02BC07E1-04E2-4B95-AE3D-485B6B58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以前，我會把每個單字逐一問 AI：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它的拉丁字根是什麼？詞源如何演變？</a:t>
            </a:r>
          </a:p>
        </p:txBody>
      </p:sp>
      <p:sp>
        <p:nvSpPr>
          <p:cNvPr id="8" name="origin-body">
            <a:extLst xmlns:a="http://schemas.openxmlformats.org/drawingml/2006/main">
              <a:ext uri="{FF2B5EF4-FFF2-40B4-BE49-F238E27FC236}">
                <a16:creationId xmlns:a16="http://schemas.microsoft.com/office/drawing/2014/main" id="{401DE8FD-0BFB-424B-9E78-38180BC5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這種方法能讓我理解單字，卻無法規模化；我也觀察到，同學多半仍靠重複背誦。於是我把個人的查詢流程，改造成可以整理、練習與追蹤的系統。</a:t>
            </a:r>
          </a:p>
        </p:txBody>
      </p:sp>
      <p:sp>
        <p:nvSpPr>
          <p:cNvPr id="9" name="word-study-bg">
            <a:extLst xmlns:a="http://schemas.openxmlformats.org/drawingml/2006/main">
              <a:ext uri="{FF2B5EF4-FFF2-40B4-BE49-F238E27FC236}">
                <a16:creationId xmlns:a16="http://schemas.microsoft.com/office/drawing/2014/main" id="{6D7DD59A-917C-48FB-9CBB-66FA5E01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4667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word-study-label-bg">
            <a:extLst xmlns:a="http://schemas.openxmlformats.org/drawingml/2006/main">
              <a:ext uri="{FF2B5EF4-FFF2-40B4-BE49-F238E27FC236}">
                <a16:creationId xmlns:a16="http://schemas.microsoft.com/office/drawing/2014/main" id="{04EB4176-7F05-46EE-BA85-112102B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765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-study-label">
            <a:extLst xmlns:a="http://schemas.openxmlformats.org/drawingml/2006/main">
              <a:ext uri="{FF2B5EF4-FFF2-40B4-BE49-F238E27FC236}">
                <a16:creationId xmlns:a16="http://schemas.microsoft.com/office/drawing/2014/main" id="{0503551F-9664-4F0C-AB8B-11CC285E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ONE WORD, ONE MEMORY HOOK</a:t>
            </a:r>
          </a:p>
        </p:txBody>
      </p:sp>
      <p:sp>
        <p:nvSpPr>
          <p:cNvPr id="12" name="word">
            <a:extLst xmlns:a="http://schemas.openxmlformats.org/drawingml/2006/main">
              <a:ext uri="{FF2B5EF4-FFF2-40B4-BE49-F238E27FC236}">
                <a16:creationId xmlns:a16="http://schemas.microsoft.com/office/drawing/2014/main" id="{6FE56672-64B2-445E-85C4-597A946C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distribute</a:t>
            </a:r>
          </a:p>
        </p:txBody>
      </p:sp>
      <p:sp>
        <p:nvSpPr>
          <p:cNvPr id="13" name="prefix">
            <a:extLst xmlns:a="http://schemas.openxmlformats.org/drawingml/2006/main">
              <a:ext uri="{FF2B5EF4-FFF2-40B4-BE49-F238E27FC236}">
                <a16:creationId xmlns:a16="http://schemas.microsoft.com/office/drawing/2014/main" id="{99F0F30A-851B-43FA-A98A-1CF5AE90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dis-</a:t>
            </a:r>
          </a:p>
        </p:txBody>
      </p:sp>
      <p:sp>
        <p:nvSpPr>
          <p:cNvPr id="14" name="plus">
            <a:extLst xmlns:a="http://schemas.openxmlformats.org/drawingml/2006/main">
              <a:ext uri="{FF2B5EF4-FFF2-40B4-BE49-F238E27FC236}">
                <a16:creationId xmlns:a16="http://schemas.microsoft.com/office/drawing/2014/main" id="{7873C3D7-C13C-4B04-87E7-1292EEDF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100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+</a:t>
            </a:r>
          </a:p>
        </p:txBody>
      </p:sp>
      <p:sp>
        <p:nvSpPr>
          <p:cNvPr id="15" name="root">
            <a:extLst xmlns:a="http://schemas.openxmlformats.org/drawingml/2006/main">
              <a:ext uri="{FF2B5EF4-FFF2-40B4-BE49-F238E27FC236}">
                <a16:creationId xmlns:a16="http://schemas.microsoft.com/office/drawing/2014/main" id="{5AF8B0C8-0E16-4532-A9E9-46DFEF27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0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tribuere</a:t>
            </a:r>
          </a:p>
        </p:txBody>
      </p:sp>
      <p:sp>
        <p:nvSpPr>
          <p:cNvPr id="16" name="prefix-meaning">
            <a:extLst xmlns:a="http://schemas.openxmlformats.org/drawingml/2006/main">
              <a:ext uri="{FF2B5EF4-FFF2-40B4-BE49-F238E27FC236}">
                <a16:creationId xmlns:a16="http://schemas.microsoft.com/office/drawing/2014/main" id="{0CECC351-8351-46B2-A333-5D8518AD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apart／分開</a:t>
            </a:r>
          </a:p>
        </p:txBody>
      </p:sp>
      <p:sp>
        <p:nvSpPr>
          <p:cNvPr id="17" name="root-meaning">
            <a:extLst xmlns:a="http://schemas.openxmlformats.org/drawingml/2006/main">
              <a:ext uri="{FF2B5EF4-FFF2-40B4-BE49-F238E27FC236}">
                <a16:creationId xmlns:a16="http://schemas.microsoft.com/office/drawing/2014/main" id="{EB040E76-6832-4973-ADF9-A5D14B0D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43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assign／分配</a:t>
            </a:r>
          </a:p>
        </p:txBody>
      </p:sp>
      <p:sp>
        <p:nvSpPr>
          <p:cNvPr id="18" name="word-takeaway">
            <a:extLst xmlns:a="http://schemas.openxmlformats.org/drawingml/2006/main">
              <a:ext uri="{FF2B5EF4-FFF2-40B4-BE49-F238E27FC236}">
                <a16:creationId xmlns:a16="http://schemas.microsoft.com/office/drawing/2014/main" id="{60F021CD-ED91-483D-A57D-006E6EC0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91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理解「分開分配」的意象，比只背中文翻譯更容易建立連結。</a:t>
            </a:r>
          </a:p>
        </p:txBody>
      </p:sp>
    </p:spTree>
    <p:extLst>
      <p:ext uri="{BB962C8B-B14F-4D97-AF65-F5344CB8AC3E}">
        <p14:creationId xmlns:p14="http://schemas.microsoft.com/office/powerpoint/2010/main" val="2133830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-rule-3">
            <a:extLst xmlns:a="http://schemas.openxmlformats.org/drawingml/2006/main">
              <a:ext uri="{FF2B5EF4-FFF2-40B4-BE49-F238E27FC236}">
                <a16:creationId xmlns:a16="http://schemas.microsoft.com/office/drawing/2014/main" id="{1044CBD4-8C46-4BFC-955B-1C385403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989CE78C-7E95-4E3F-B472-54820DAC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PROBLEM FRAMING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CC5F40FE-ED1C-4ABB-B622-D4723536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把『會背』改成『看得見掌握程度』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E6AA2B8A-8C77-4035-8A44-5D633598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我先建立理解、練習與追蹤三步循環，再逐步補齊功能。</a:t>
            </a:r>
          </a:p>
        </p:txBody>
      </p:sp>
      <p:sp>
        <p:nvSpPr>
          <p:cNvPr id="5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DAEB7158-CFF1-4F88-9F6B-E4AC508D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756065EC-FA10-4CE8-A00A-F59D0AF1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hypothesis-flow-1">
            <a:extLst xmlns:a="http://schemas.openxmlformats.org/drawingml/2006/main">
              <a:ext uri="{FF2B5EF4-FFF2-40B4-BE49-F238E27FC236}">
                <a16:creationId xmlns:a16="http://schemas.microsoft.com/office/drawing/2014/main" id="{F6376B0C-ACF2-41D3-8D5C-D3DB1CDF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71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hypothesis-flow-2">
            <a:extLst xmlns:a="http://schemas.openxmlformats.org/drawingml/2006/main">
              <a:ext uri="{FF2B5EF4-FFF2-40B4-BE49-F238E27FC236}">
                <a16:creationId xmlns:a16="http://schemas.microsoft.com/office/drawing/2014/main" id="{DE498EAF-CD7D-4506-814E-3CFAD03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71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hyp-01-bg">
            <a:extLst xmlns:a="http://schemas.openxmlformats.org/drawingml/2006/main">
              <a:ext uri="{FF2B5EF4-FFF2-40B4-BE49-F238E27FC236}">
                <a16:creationId xmlns:a16="http://schemas.microsoft.com/office/drawing/2014/main" id="{F6EFA319-7B3E-4F84-8125-EB2D69C1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76550"/>
            <a:ext cx="26670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hyp-01-badge">
            <a:extLst xmlns:a="http://schemas.openxmlformats.org/drawingml/2006/main">
              <a:ext uri="{FF2B5EF4-FFF2-40B4-BE49-F238E27FC236}">
                <a16:creationId xmlns:a16="http://schemas.microsoft.com/office/drawing/2014/main" id="{29B570B5-F935-4BCC-ACEF-D04CADB5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yp-01-num">
            <a:extLst xmlns:a="http://schemas.openxmlformats.org/drawingml/2006/main">
              <a:ext uri="{FF2B5EF4-FFF2-40B4-BE49-F238E27FC236}">
                <a16:creationId xmlns:a16="http://schemas.microsoft.com/office/drawing/2014/main" id="{83F8F7F4-C14B-4C84-9081-310E633F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2" name="hyp-01-title">
            <a:extLst xmlns:a="http://schemas.openxmlformats.org/drawingml/2006/main">
              <a:ext uri="{FF2B5EF4-FFF2-40B4-BE49-F238E27FC236}">
                <a16:creationId xmlns:a16="http://schemas.microsoft.com/office/drawing/2014/main" id="{3DA2EA64-FED3-48C2-9D50-152319F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</a:p>
        </p:txBody>
      </p:sp>
      <p:sp>
        <p:nvSpPr>
          <p:cNvPr id="13" name="hyp-01-body">
            <a:extLst xmlns:a="http://schemas.openxmlformats.org/drawingml/2006/main">
              <a:ext uri="{FF2B5EF4-FFF2-40B4-BE49-F238E27FC236}">
                <a16:creationId xmlns:a16="http://schemas.microsoft.com/office/drawing/2014/main" id="{43E95654-4D0A-42FC-BDE2-DC078D19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以字根、詞源、詞義與例句建立記憶線索。</a:t>
            </a:r>
          </a:p>
        </p:txBody>
      </p:sp>
      <p:sp>
        <p:nvSpPr>
          <p:cNvPr id="14" name="hyp-02-bg">
            <a:extLst xmlns:a="http://schemas.openxmlformats.org/drawingml/2006/main">
              <a:ext uri="{FF2B5EF4-FFF2-40B4-BE49-F238E27FC236}">
                <a16:creationId xmlns:a16="http://schemas.microsoft.com/office/drawing/2014/main" id="{399F585E-81A9-4F03-93C4-6C8B7332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76550"/>
            <a:ext cx="29527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hyp-02-badge">
            <a:extLst xmlns:a="http://schemas.openxmlformats.org/drawingml/2006/main">
              <a:ext uri="{FF2B5EF4-FFF2-40B4-BE49-F238E27FC236}">
                <a16:creationId xmlns:a16="http://schemas.microsoft.com/office/drawing/2014/main" id="{D898EBEC-4657-4FD5-9B9D-C146C220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yp-02-num">
            <a:extLst xmlns:a="http://schemas.openxmlformats.org/drawingml/2006/main">
              <a:ext uri="{FF2B5EF4-FFF2-40B4-BE49-F238E27FC236}">
                <a16:creationId xmlns:a16="http://schemas.microsoft.com/office/drawing/2014/main" id="{BC885C4A-2A3D-4664-BD41-84B25B27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19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7" name="hyp-02-title">
            <a:extLst xmlns:a="http://schemas.openxmlformats.org/drawingml/2006/main">
              <a:ext uri="{FF2B5EF4-FFF2-40B4-BE49-F238E27FC236}">
                <a16:creationId xmlns:a16="http://schemas.microsoft.com/office/drawing/2014/main" id="{556B0688-BDC2-417D-AB76-C0F854DC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671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8" name="hyp-02-body">
            <a:extLst xmlns:a="http://schemas.openxmlformats.org/drawingml/2006/main">
              <a:ext uri="{FF2B5EF4-FFF2-40B4-BE49-F238E27FC236}">
                <a16:creationId xmlns:a16="http://schemas.microsoft.com/office/drawing/2014/main" id="{B8CEC625-427A-4D2D-B685-80A7C9D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38650"/>
            <a:ext cx="2495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用中選英、看中打英、克漏字等模式反覆提取。</a:t>
            </a:r>
          </a:p>
        </p:txBody>
      </p:sp>
      <p:sp>
        <p:nvSpPr>
          <p:cNvPr id="19" name="hyp-03-bg">
            <a:extLst xmlns:a="http://schemas.openxmlformats.org/drawingml/2006/main">
              <a:ext uri="{FF2B5EF4-FFF2-40B4-BE49-F238E27FC236}">
                <a16:creationId xmlns:a16="http://schemas.microsoft.com/office/drawing/2014/main" id="{19FBDBCB-6E63-4BB0-916D-98181696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360045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hyp-03-badge">
            <a:extLst xmlns:a="http://schemas.openxmlformats.org/drawingml/2006/main">
              <a:ext uri="{FF2B5EF4-FFF2-40B4-BE49-F238E27FC236}">
                <a16:creationId xmlns:a16="http://schemas.microsoft.com/office/drawing/2014/main" id="{B38247B0-DCF0-4E2D-B7B6-8AC499EF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yp-03-num">
            <a:extLst xmlns:a="http://schemas.openxmlformats.org/drawingml/2006/main">
              <a:ext uri="{FF2B5EF4-FFF2-40B4-BE49-F238E27FC236}">
                <a16:creationId xmlns:a16="http://schemas.microsoft.com/office/drawing/2014/main" id="{75A78A77-9993-4824-944B-693032B2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2" name="hyp-03-title">
            <a:extLst xmlns:a="http://schemas.openxmlformats.org/drawingml/2006/main">
              <a:ext uri="{FF2B5EF4-FFF2-40B4-BE49-F238E27FC236}">
                <a16:creationId xmlns:a16="http://schemas.microsoft.com/office/drawing/2014/main" id="{91C9A87F-E2DE-42C2-9BE3-FCD2D11F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追蹤</a:t>
            </a:r>
          </a:p>
        </p:txBody>
      </p:sp>
      <p:sp>
        <p:nvSpPr>
          <p:cNvPr id="23" name="hyp-03-body">
            <a:extLst xmlns:a="http://schemas.openxmlformats.org/drawingml/2006/main">
              <a:ext uri="{FF2B5EF4-FFF2-40B4-BE49-F238E27FC236}">
                <a16:creationId xmlns:a16="http://schemas.microsoft.com/office/drawing/2014/main" id="{C07AF300-BB8F-40E7-8D78-B7B441F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保留作答、錯題與熟練度，讓下一次複習有依據。</a:t>
            </a:r>
          </a:p>
        </p:txBody>
      </p:sp>
      <p:sp>
        <p:nvSpPr>
          <p:cNvPr id="24" name="hypothesis-guardrail">
            <a:extLst xmlns:a="http://schemas.openxmlformats.org/drawingml/2006/main">
              <a:ext uri="{FF2B5EF4-FFF2-40B4-BE49-F238E27FC236}">
                <a16:creationId xmlns:a16="http://schemas.microsoft.com/office/drawing/2014/main" id="{D75090A8-6200-4CCF-8512-2465F41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43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每次作答都會留下紀錄，支援錯題整理與熟練度追蹤。</a:t>
            </a:r>
          </a:p>
        </p:txBody>
      </p:sp>
    </p:spTree>
    <p:extLst>
      <p:ext uri="{BB962C8B-B14F-4D97-AF65-F5344CB8AC3E}">
        <p14:creationId xmlns:p14="http://schemas.microsoft.com/office/powerpoint/2010/main" val="128567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op-rule-4">
            <a:extLst xmlns:a="http://schemas.openxmlformats.org/drawingml/2006/main">
              <a:ext uri="{FF2B5EF4-FFF2-40B4-BE49-F238E27FC236}">
                <a16:creationId xmlns:a16="http://schemas.microsoft.com/office/drawing/2014/main" id="{63FAE985-10E9-4483-8A65-D7C30EC4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8681E323-0445-4EDF-AEB1-2B75F6A8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B7556CE7-4A79-4BBE-BC17-EDC45629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已形成完整學習循環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12628767-D121-4F5C-AA72-D1F33AEC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三個核心畫面串起理解、練習與追蹤。</a:t>
            </a:r>
          </a:p>
        </p:txBody>
      </p:sp>
      <p:sp>
        <p:nvSpPr>
          <p:cNvPr id="5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225C8619-C099-4D9D-AB20-C917994C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5668A10A-55CC-4115-A634-53DD3938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7498c4a4a41dc"/>
          <a:stretch xmlns:a="http://schemas.openxmlformats.org/drawingml/2006/main"/>
        </p:blipFill>
        <p:spPr>
          <a:xfrm xmlns:a="http://schemas.openxmlformats.org/drawingml/2006/main">
            <a:off x="1450957" y="2895600"/>
            <a:ext cx="3384586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62d4ae17343e6"/>
          <a:stretch xmlns:a="http://schemas.openxmlformats.org/drawingml/2006/main"/>
        </p:blipFill>
        <p:spPr>
          <a:xfrm xmlns:a="http://schemas.openxmlformats.org/drawingml/2006/main">
            <a:off x="5165707" y="2895600"/>
            <a:ext cx="3384586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2f6c3a8904971"/>
          <a:stretch xmlns:a="http://schemas.openxmlformats.org/drawingml/2006/main"/>
        </p:blipFill>
        <p:spPr>
          <a:xfrm xmlns:a="http://schemas.openxmlformats.org/drawingml/2006/main">
            <a:off x="8879417" y="2895600"/>
            <a:ext cx="3386667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10" name="words-cap-bg">
            <a:extLst xmlns:a="http://schemas.openxmlformats.org/drawingml/2006/main">
              <a:ext uri="{FF2B5EF4-FFF2-40B4-BE49-F238E27FC236}">
                <a16:creationId xmlns:a16="http://schemas.microsoft.com/office/drawing/2014/main" id="{BF50BB51-C690-4BAA-9C14-8F86ABB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863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s-cap">
            <a:extLst xmlns:a="http://schemas.openxmlformats.org/drawingml/2006/main">
              <a:ext uri="{FF2B5EF4-FFF2-40B4-BE49-F238E27FC236}">
                <a16:creationId xmlns:a16="http://schemas.microsoft.com/office/drawing/2014/main" id="{D9949AC4-D7BC-4EED-9B64-03B99D07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理解：單字庫</a:t>
            </a:r>
          </a:p>
        </p:txBody>
      </p:sp>
      <p:sp>
        <p:nvSpPr>
          <p:cNvPr id="12" name="practice-cap-bg">
            <a:extLst xmlns:a="http://schemas.openxmlformats.org/drawingml/2006/main">
              <a:ext uri="{FF2B5EF4-FFF2-40B4-BE49-F238E27FC236}">
                <a16:creationId xmlns:a16="http://schemas.microsoft.com/office/drawing/2014/main" id="{FF412BEC-C341-4726-A9D7-1716EC30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86350"/>
            <a:ext cx="2286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actice-cap">
            <a:extLst xmlns:a="http://schemas.openxmlformats.org/drawingml/2006/main">
              <a:ext uri="{FF2B5EF4-FFF2-40B4-BE49-F238E27FC236}">
                <a16:creationId xmlns:a16="http://schemas.microsoft.com/office/drawing/2014/main" id="{2BD249CE-0911-4478-AAB8-5FA15BC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244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提取：多模式練習</a:t>
            </a:r>
          </a:p>
        </p:txBody>
      </p:sp>
      <p:sp>
        <p:nvSpPr>
          <p:cNvPr id="14" name="analytics-cap-bg">
            <a:extLst xmlns:a="http://schemas.openxmlformats.org/drawingml/2006/main">
              <a:ext uri="{FF2B5EF4-FFF2-40B4-BE49-F238E27FC236}">
                <a16:creationId xmlns:a16="http://schemas.microsoft.com/office/drawing/2014/main" id="{124EFB5E-5748-43D0-9F26-CB16EBA3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863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alytics-cap">
            <a:extLst xmlns:a="http://schemas.openxmlformats.org/drawingml/2006/main">
              <a:ext uri="{FF2B5EF4-FFF2-40B4-BE49-F238E27FC236}">
                <a16:creationId xmlns:a16="http://schemas.microsoft.com/office/drawing/2014/main" id="{B01A491E-2F5D-4F7F-97B2-4CB9DD78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追蹤：學習趨勢</a:t>
            </a:r>
          </a:p>
        </p:txBody>
      </p:sp>
      <p:sp>
        <p:nvSpPr>
          <p:cNvPr id="16" name="product-loop-caption">
            <a:extLst xmlns:a="http://schemas.openxmlformats.org/drawingml/2006/main">
              <a:ext uri="{FF2B5EF4-FFF2-40B4-BE49-F238E27FC236}">
                <a16:creationId xmlns:a16="http://schemas.microsoft.com/office/drawing/2014/main" id="{0CE019FA-91DF-4B08-A790-B694A405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076950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單字內容不是終點；每一次作答都會回到下一次複習與資料修正。</a:t>
            </a:r>
          </a:p>
        </p:txBody>
      </p:sp>
    </p:spTree>
    <p:extLst>
      <p:ext uri="{BB962C8B-B14F-4D97-AF65-F5344CB8AC3E}">
        <p14:creationId xmlns:p14="http://schemas.microsoft.com/office/powerpoint/2010/main" val="387910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op-rule-5">
            <a:extLst xmlns:a="http://schemas.openxmlformats.org/drawingml/2006/main">
              <a:ext uri="{FF2B5EF4-FFF2-40B4-BE49-F238E27FC236}">
                <a16:creationId xmlns:a16="http://schemas.microsoft.com/office/drawing/2014/main" id="{74907EC8-6F71-45AE-B1A7-9F1F1A29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2D9DB14A-3499-49D4-A397-1D0E9D07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EVOLUTION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41556BE7-B1B1-41B8-974A-C9B2AA4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我在四個月內把原型做成公開服務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947172CE-3C70-4756-9D10-2F349DE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我以實際使用為目標，依序完成核心功能、內容匯入與公開部署。</a:t>
            </a:r>
          </a:p>
        </p:txBody>
      </p:sp>
      <p:sp>
        <p:nvSpPr>
          <p:cNvPr id="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9B969EC3-EE25-4166-AD1C-F4AD694D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FEE280B9-9390-49E1-96B2-2F422D34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B9C74224-5BCB-48E7-BBB5-8597A1A2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195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8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C61D5BFD-7B84-441C-ACBD-3FA5C9B0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line-date-0">
            <a:extLst xmlns:a="http://schemas.openxmlformats.org/drawingml/2006/main">
              <a:ext uri="{FF2B5EF4-FFF2-40B4-BE49-F238E27FC236}">
                <a16:creationId xmlns:a16="http://schemas.microsoft.com/office/drawing/2014/main" id="{54F5944F-73D0-4C5E-A457-7A9005B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04/24</a:t>
            </a:r>
          </a:p>
        </p:txBody>
      </p:sp>
      <p:sp>
        <p:nvSpPr>
          <p:cNvPr id="10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AABD4810-A53F-4957-9E3D-35A0A8B4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開始開發</a:t>
            </a:r>
          </a:p>
        </p:txBody>
      </p:sp>
      <p:sp>
        <p:nvSpPr>
          <p:cNvPr id="11" name="timeline-desc-0">
            <a:extLst xmlns:a="http://schemas.openxmlformats.org/drawingml/2006/main">
              <a:ext uri="{FF2B5EF4-FFF2-40B4-BE49-F238E27FC236}">
                <a16:creationId xmlns:a16="http://schemas.microsoft.com/office/drawing/2014/main" id="{549E2F73-62E6-486E-BE57-1B5E965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完成專案骨架</a:t>
            </a:r>
          </a:p>
        </p:txBody>
      </p:sp>
      <p:sp>
        <p:nvSpPr>
          <p:cNvPr id="12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21C5C150-0506-4D29-A759-A41AFC81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date-1">
            <a:extLst xmlns:a="http://schemas.openxmlformats.org/drawingml/2006/main">
              <a:ext uri="{FF2B5EF4-FFF2-40B4-BE49-F238E27FC236}">
                <a16:creationId xmlns:a16="http://schemas.microsoft.com/office/drawing/2014/main" id="{CD437191-89A6-458D-AC24-99DAE150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04/25</a:t>
            </a:r>
          </a:p>
        </p:txBody>
      </p:sp>
      <p:sp>
        <p:nvSpPr>
          <p:cNvPr id="14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F0FFF21E-FD44-4703-98E7-B610D18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第一版可用</a:t>
            </a:r>
          </a:p>
        </p:txBody>
      </p:sp>
      <p:sp>
        <p:nvSpPr>
          <p:cNvPr id="15" name="timeline-desc-1">
            <a:extLst xmlns:a="http://schemas.openxmlformats.org/drawingml/2006/main">
              <a:ext uri="{FF2B5EF4-FFF2-40B4-BE49-F238E27FC236}">
                <a16:creationId xmlns:a16="http://schemas.microsoft.com/office/drawing/2014/main" id="{701E4D0C-83BC-48DA-91AE-E50AC711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開始累積練習紀錄</a:t>
            </a:r>
          </a:p>
        </p:txBody>
      </p:sp>
      <p:sp>
        <p:nvSpPr>
          <p:cNvPr id="16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1424C302-2DA4-4A9C-B68C-A917698C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line-date-2">
            <a:extLst xmlns:a="http://schemas.openxmlformats.org/drawingml/2006/main">
              <a:ext uri="{FF2B5EF4-FFF2-40B4-BE49-F238E27FC236}">
                <a16:creationId xmlns:a16="http://schemas.microsoft.com/office/drawing/2014/main" id="{7A4356BB-7685-4246-A0F7-CADA596F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04/29</a:t>
            </a:r>
          </a:p>
        </p:txBody>
      </p:sp>
      <p:sp>
        <p:nvSpPr>
          <p:cNvPr id="18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279E0129-92BA-4D63-94DF-08217DC9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 匯入</a:t>
            </a:r>
          </a:p>
        </p:txBody>
      </p:sp>
      <p:sp>
        <p:nvSpPr>
          <p:cNvPr id="19" name="timeline-desc-2">
            <a:extLst xmlns:a="http://schemas.openxmlformats.org/drawingml/2006/main">
              <a:ext uri="{FF2B5EF4-FFF2-40B4-BE49-F238E27FC236}">
                <a16:creationId xmlns:a16="http://schemas.microsoft.com/office/drawing/2014/main" id="{0EEB14E0-69FE-429B-99B7-F5349E2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建立內容處理管線</a:t>
            </a:r>
          </a:p>
        </p:txBody>
      </p:sp>
      <p:sp>
        <p:nvSpPr>
          <p:cNvPr id="20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33C84578-1CD2-4A21-9CCB-BA63F08A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line-date-3">
            <a:extLst xmlns:a="http://schemas.openxmlformats.org/drawingml/2006/main">
              <a:ext uri="{FF2B5EF4-FFF2-40B4-BE49-F238E27FC236}">
                <a16:creationId xmlns:a16="http://schemas.microsoft.com/office/drawing/2014/main" id="{3F40FE12-D11D-41E5-8C37-0116C2B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05/25</a:t>
            </a:r>
          </a:p>
        </p:txBody>
      </p:sp>
      <p:sp>
        <p:nvSpPr>
          <p:cNvPr id="22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4D72DE01-7EE7-4C66-950F-E785AA73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公開部署</a:t>
            </a:r>
          </a:p>
        </p:txBody>
      </p:sp>
      <p:sp>
        <p:nvSpPr>
          <p:cNvPr id="23" name="timeline-desc-3">
            <a:extLst xmlns:a="http://schemas.openxmlformats.org/drawingml/2006/main">
              <a:ext uri="{FF2B5EF4-FFF2-40B4-BE49-F238E27FC236}">
                <a16:creationId xmlns:a16="http://schemas.microsoft.com/office/drawing/2014/main" id="{6D1BB977-F9BF-4203-9BE9-4C28B993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同學可透過網路使用</a:t>
            </a:r>
          </a:p>
        </p:txBody>
      </p:sp>
      <p:sp>
        <p:nvSpPr>
          <p:cNvPr id="24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11F58E1A-BDBD-4E74-8808-5ECC1D7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line-date-4">
            <a:extLst xmlns:a="http://schemas.openxmlformats.org/drawingml/2006/main">
              <a:ext uri="{FF2B5EF4-FFF2-40B4-BE49-F238E27FC236}">
                <a16:creationId xmlns:a16="http://schemas.microsoft.com/office/drawing/2014/main" id="{B6F5FA5F-77C0-4A65-8FFE-F86B65BB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08/15</a:t>
            </a:r>
          </a:p>
        </p:txBody>
      </p:sp>
      <p:sp>
        <p:nvSpPr>
          <p:cNvPr id="26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684F2864-F4BB-43DC-B0F0-4FD9F67C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持續維運</a:t>
            </a:r>
          </a:p>
        </p:txBody>
      </p:sp>
      <p:sp>
        <p:nvSpPr>
          <p:cNvPr id="27" name="timeline-desc-4">
            <a:extLst xmlns:a="http://schemas.openxmlformats.org/drawingml/2006/main">
              <a:ext uri="{FF2B5EF4-FFF2-40B4-BE49-F238E27FC236}">
                <a16:creationId xmlns:a16="http://schemas.microsoft.com/office/drawing/2014/main" id="{74A75475-57D1-4CCC-93FB-6DBBCD10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持續補充內容與功能</a:t>
            </a:r>
          </a:p>
        </p:txBody>
      </p:sp>
      <p:sp>
        <p:nvSpPr>
          <p:cNvPr id="28" name="timeline-evidence-bg">
            <a:extLst xmlns:a="http://schemas.openxmlformats.org/drawingml/2006/main">
              <a:ext uri="{FF2B5EF4-FFF2-40B4-BE49-F238E27FC236}">
                <a16:creationId xmlns:a16="http://schemas.microsoft.com/office/drawing/2014/main" id="{3784128C-E47C-4054-BC90-5AC779E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960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imeline-evidence">
            <a:extLst xmlns:a="http://schemas.openxmlformats.org/drawingml/2006/main">
              <a:ext uri="{FF2B5EF4-FFF2-40B4-BE49-F238E27FC236}">
                <a16:creationId xmlns:a16="http://schemas.microsoft.com/office/drawing/2014/main" id="{A521EF73-D9E3-4528-972D-715B99BB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34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● 功能逐步完成</a:t>
            </a:r>
          </a:p>
        </p:txBody>
      </p:sp>
      <p:sp>
        <p:nvSpPr>
          <p:cNvPr id="30" name="timeline-inference-bg">
            <a:extLst xmlns:a="http://schemas.openxmlformats.org/drawingml/2006/main">
              <a:ext uri="{FF2B5EF4-FFF2-40B4-BE49-F238E27FC236}">
                <a16:creationId xmlns:a16="http://schemas.microsoft.com/office/drawing/2014/main" id="{8EDD29D5-8786-4CD4-AD18-C69D9BC7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09600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imeline-inference">
            <a:extLst xmlns:a="http://schemas.openxmlformats.org/drawingml/2006/main">
              <a:ext uri="{FF2B5EF4-FFF2-40B4-BE49-F238E27FC236}">
                <a16:creationId xmlns:a16="http://schemas.microsoft.com/office/drawing/2014/main" id="{57D8DB7A-975B-455D-A295-740EDDD1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3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● 開始真實使用</a:t>
            </a:r>
          </a:p>
        </p:txBody>
      </p:sp>
      <p:sp>
        <p:nvSpPr>
          <p:cNvPr id="32" name="timeline-note">
            <a:extLst xmlns:a="http://schemas.openxmlformats.org/drawingml/2006/main">
              <a:ext uri="{FF2B5EF4-FFF2-40B4-BE49-F238E27FC236}">
                <a16:creationId xmlns:a16="http://schemas.microsoft.com/office/drawing/2014/main" id="{47696630-8AAB-4374-8AF2-B751F002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817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我透過實際使用與自行測試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持續推動下一輪迭代。</a:t>
            </a:r>
          </a:p>
        </p:txBody>
      </p:sp>
    </p:spTree>
    <p:extLst>
      <p:ext uri="{BB962C8B-B14F-4D97-AF65-F5344CB8AC3E}">
        <p14:creationId xmlns:p14="http://schemas.microsoft.com/office/powerpoint/2010/main" val="1485486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2" name="Rectangle 3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op-rule-6">
            <a:extLst xmlns:a="http://schemas.openxmlformats.org/drawingml/2006/main">
              <a:ext uri="{FF2B5EF4-FFF2-40B4-BE49-F238E27FC236}">
                <a16:creationId xmlns:a16="http://schemas.microsoft.com/office/drawing/2014/main" id="{889FB2AF-6F4F-4075-842E-EB11B715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A87343CF-388F-4884-88FD-82FFC1B2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ENGINEERING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42903C8D-1FEE-44A8-902D-96B178E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我把學習流程做成可持續運作的完整系統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5E7FB0D1-CE60-4216-B84E-0F0D7B7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從使用者操作到資料留存、內容匯入與維運，我必須同時處理多個責任邊界。</a:t>
            </a:r>
          </a:p>
        </p:txBody>
      </p:sp>
      <p:sp>
        <p:nvSpPr>
          <p:cNvPr id="5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D7BF36CB-EA38-44FC-B98B-63977624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4F3A821A-E441-42E1-970A-61527F5E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arch-link-1">
            <a:extLst xmlns:a="http://schemas.openxmlformats.org/drawingml/2006/main">
              <a:ext uri="{FF2B5EF4-FFF2-40B4-BE49-F238E27FC236}">
                <a16:creationId xmlns:a16="http://schemas.microsoft.com/office/drawing/2014/main" id="{336209A4-391A-4191-8B14-9FFBC0E2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05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8" name="arch-link-2">
            <a:extLst xmlns:a="http://schemas.openxmlformats.org/drawingml/2006/main">
              <a:ext uri="{FF2B5EF4-FFF2-40B4-BE49-F238E27FC236}">
                <a16:creationId xmlns:a16="http://schemas.microsoft.com/office/drawing/2014/main" id="{E47CE5E5-0657-4F74-800B-4E617FF5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6C7"/>
            </a:solidFill>
            <a:prstDash val="solid"/>
          </a:ln>
        </p:spPr>
      </p:sp>
      <p:sp>
        <p:nvSpPr>
          <p:cNvPr id="9" name="arch-0-bg">
            <a:extLst xmlns:a="http://schemas.openxmlformats.org/drawingml/2006/main">
              <a:ext uri="{FF2B5EF4-FFF2-40B4-BE49-F238E27FC236}">
                <a16:creationId xmlns:a16="http://schemas.microsoft.com/office/drawing/2014/main" id="{E4552FBA-33F8-4E9F-A5D0-618983B0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2495550" cy="31051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arch-0-top">
            <a:extLst xmlns:a="http://schemas.openxmlformats.org/drawingml/2006/main">
              <a:ext uri="{FF2B5EF4-FFF2-40B4-BE49-F238E27FC236}">
                <a16:creationId xmlns:a16="http://schemas.microsoft.com/office/drawing/2014/main" id="{A1B8B570-3025-4DA7-BBDE-A5B97947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2495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-0-icon">
            <a:extLst xmlns:a="http://schemas.openxmlformats.org/drawingml/2006/main">
              <a:ext uri="{FF2B5EF4-FFF2-40B4-BE49-F238E27FC236}">
                <a16:creationId xmlns:a16="http://schemas.microsoft.com/office/drawing/2014/main" id="{315170B3-D6FA-44A6-A36B-B54FE198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0-num">
            <a:extLst xmlns:a="http://schemas.openxmlformats.org/drawingml/2006/main">
              <a:ext uri="{FF2B5EF4-FFF2-40B4-BE49-F238E27FC236}">
                <a16:creationId xmlns:a16="http://schemas.microsoft.com/office/drawing/2014/main" id="{EC202D83-3F70-42A6-B038-8681134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3" name="arch-0-title">
            <a:extLst xmlns:a="http://schemas.openxmlformats.org/drawingml/2006/main">
              <a:ext uri="{FF2B5EF4-FFF2-40B4-BE49-F238E27FC236}">
                <a16:creationId xmlns:a16="http://schemas.microsoft.com/office/drawing/2014/main" id="{76378AE0-837D-4B80-BE56-48F2E8CE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624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使用者體驗</a:t>
            </a:r>
          </a:p>
        </p:txBody>
      </p:sp>
      <p:sp>
        <p:nvSpPr>
          <p:cNvPr id="14" name="arch-0-items">
            <a:extLst xmlns:a="http://schemas.openxmlformats.org/drawingml/2006/main">
              <a:ext uri="{FF2B5EF4-FFF2-40B4-BE49-F238E27FC236}">
                <a16:creationId xmlns:a16="http://schemas.microsoft.com/office/drawing/2014/main" id="{5AAA8F68-EE52-42AD-AF8E-FEFA5E90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多模式練習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趨勢與排行榜</a:t>
            </a:r>
          </a:p>
        </p:txBody>
      </p:sp>
      <p:sp>
        <p:nvSpPr>
          <p:cNvPr id="15" name="arch-1-bg">
            <a:extLst xmlns:a="http://schemas.openxmlformats.org/drawingml/2006/main">
              <a:ext uri="{FF2B5EF4-FFF2-40B4-BE49-F238E27FC236}">
                <a16:creationId xmlns:a16="http://schemas.microsoft.com/office/drawing/2014/main" id="{F21FC99F-2550-4593-A326-1F7379D9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34290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arch-1-top">
            <a:extLst xmlns:a="http://schemas.openxmlformats.org/drawingml/2006/main">
              <a:ext uri="{FF2B5EF4-FFF2-40B4-BE49-F238E27FC236}">
                <a16:creationId xmlns:a16="http://schemas.microsoft.com/office/drawing/2014/main" id="{62E4504B-7F42-405D-9847-DF8724E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3429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1-icon">
            <a:extLst xmlns:a="http://schemas.openxmlformats.org/drawingml/2006/main">
              <a:ext uri="{FF2B5EF4-FFF2-40B4-BE49-F238E27FC236}">
                <a16:creationId xmlns:a16="http://schemas.microsoft.com/office/drawing/2014/main" id="{E8A506FA-40A2-4182-854D-3A9BCEC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1-num">
            <a:extLst xmlns:a="http://schemas.openxmlformats.org/drawingml/2006/main">
              <a:ext uri="{FF2B5EF4-FFF2-40B4-BE49-F238E27FC236}">
                <a16:creationId xmlns:a16="http://schemas.microsoft.com/office/drawing/2014/main" id="{2D179D86-0696-4CC6-82B9-2D66CDD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9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AF1EF1A9-AE4E-4523-B713-3DACA00D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62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服務與資料</a:t>
            </a:r>
          </a:p>
        </p:txBody>
      </p:sp>
      <p:sp>
        <p:nvSpPr>
          <p:cNvPr id="20" name="arch-1-items">
            <a:extLst xmlns:a="http://schemas.openxmlformats.org/drawingml/2006/main">
              <a:ext uri="{FF2B5EF4-FFF2-40B4-BE49-F238E27FC236}">
                <a16:creationId xmlns:a16="http://schemas.microsoft.com/office/drawing/2014/main" id="{23AD5E35-63A8-449E-B578-44F46BDE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1010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Express API／JWT 權限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SQLite 三庫分工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學習同步、通知、日誌</a:t>
            </a:r>
          </a:p>
        </p:txBody>
      </p:sp>
      <p:sp>
        <p:nvSpPr>
          <p:cNvPr id="21" name="arch-2-bg">
            <a:extLst xmlns:a="http://schemas.openxmlformats.org/drawingml/2006/main">
              <a:ext uri="{FF2B5EF4-FFF2-40B4-BE49-F238E27FC236}">
                <a16:creationId xmlns:a16="http://schemas.microsoft.com/office/drawing/2014/main" id="{4ADC4A37-F140-49BD-868C-AC4E6A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31051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rch-2-top">
            <a:extLst xmlns:a="http://schemas.openxmlformats.org/drawingml/2006/main">
              <a:ext uri="{FF2B5EF4-FFF2-40B4-BE49-F238E27FC236}">
                <a16:creationId xmlns:a16="http://schemas.microsoft.com/office/drawing/2014/main" id="{90F4D958-0D3C-43CD-846F-216108BA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3105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2-icon">
            <a:extLst xmlns:a="http://schemas.openxmlformats.org/drawingml/2006/main">
              <a:ext uri="{FF2B5EF4-FFF2-40B4-BE49-F238E27FC236}">
                <a16:creationId xmlns:a16="http://schemas.microsoft.com/office/drawing/2014/main" id="{C85DD597-7E16-4C43-93F9-43A962E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-2-num">
            <a:extLst xmlns:a="http://schemas.openxmlformats.org/drawingml/2006/main">
              <a:ext uri="{FF2B5EF4-FFF2-40B4-BE49-F238E27FC236}">
                <a16:creationId xmlns:a16="http://schemas.microsoft.com/office/drawing/2014/main" id="{F4617B7E-5673-4E83-8776-6F905852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5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57F75A49-65A9-4F04-80FC-21A5366C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內容與維運</a:t>
            </a:r>
          </a:p>
        </p:txBody>
      </p:sp>
      <p:sp>
        <p:nvSpPr>
          <p:cNvPr id="26" name="arch-2-items">
            <a:extLst xmlns:a="http://schemas.openxmlformats.org/drawingml/2006/main">
              <a:ext uri="{FF2B5EF4-FFF2-40B4-BE49-F238E27FC236}">
                <a16:creationId xmlns:a16="http://schemas.microsoft.com/office/drawing/2014/main" id="{FE46124A-535D-43E9-BB30-8295D657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101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OCR／Gemini 匯入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管理後台與人工審核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發音快取與 fallback</a:t>
            </a:r>
          </a:p>
        </p:txBody>
      </p:sp>
      <p:sp>
        <p:nvSpPr>
          <p:cNvPr id="27" name="architecture-conclusion">
            <a:extLst xmlns:a="http://schemas.openxmlformats.org/drawingml/2006/main">
              <a:ext uri="{FF2B5EF4-FFF2-40B4-BE49-F238E27FC236}">
                <a16:creationId xmlns:a16="http://schemas.microsoft.com/office/drawing/2014/main" id="{992DEDFB-DD8C-48BB-87B7-49509C7D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484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我將資料、權限、錯誤處理與使用流程整合在同一套服務中。</a:t>
            </a:r>
          </a:p>
        </p:txBody>
      </p:sp>
    </p:spTree>
    <p:extLst>
      <p:ext uri="{BB962C8B-B14F-4D97-AF65-F5344CB8AC3E}">
        <p14:creationId xmlns:p14="http://schemas.microsoft.com/office/powerpoint/2010/main" val="727885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5" name="Rectangle 3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p-rule-7">
            <a:extLst xmlns:a="http://schemas.openxmlformats.org/drawingml/2006/main">
              <a:ext uri="{FF2B5EF4-FFF2-40B4-BE49-F238E27FC236}">
                <a16:creationId xmlns:a16="http://schemas.microsoft.com/office/drawing/2014/main" id="{89ACB7F1-AA13-4340-8CD9-C5B3EE4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70E649CB-BCCE-4082-94B1-A0C3379F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AI RELIABILITY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78296FC9-BAA1-431E-93DC-F03FC82D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品質控制讓 AI 內容能進入真實系統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EA6BB445-C32A-4B06-8100-10E7E6C1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發現單次生成會留下錯誤後，我把流程改成三階段審查。</a:t>
            </a:r>
          </a:p>
        </p:txBody>
      </p:sp>
      <p:sp>
        <p:nvSpPr>
          <p:cNvPr id="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0F3C8AAE-B1C4-40CA-ABA0-A3935DCF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69F77CF3-B87E-455E-9A8E-466BEC71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99c6e7ca04b6e"/>
          <a:srcRect xmlns:a="http://schemas.openxmlformats.org/drawingml/2006/main" l="7360" t="0" r="73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2686050"/>
            <a:ext cx="47625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8" name="ai-flow-line">
            <a:extLst xmlns:a="http://schemas.openxmlformats.org/drawingml/2006/main">
              <a:ext uri="{FF2B5EF4-FFF2-40B4-BE49-F238E27FC236}">
                <a16:creationId xmlns:a16="http://schemas.microsoft.com/office/drawing/2014/main" id="{973BB05C-69B9-46E0-9DB7-74C80FE8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86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6C7"/>
            </a:solidFill>
            <a:prstDash val="solid"/>
          </a:ln>
        </p:spPr>
      </p:sp>
      <p:sp>
        <p:nvSpPr>
          <p:cNvPr id="9" name="ai-step-1">
            <a:extLst xmlns:a="http://schemas.openxmlformats.org/drawingml/2006/main">
              <a:ext uri="{FF2B5EF4-FFF2-40B4-BE49-F238E27FC236}">
                <a16:creationId xmlns:a16="http://schemas.microsoft.com/office/drawing/2014/main" id="{0C82D101-D62C-4CBD-888B-7BE740A2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i-step-n-1">
            <a:extLst xmlns:a="http://schemas.openxmlformats.org/drawingml/2006/main">
              <a:ext uri="{FF2B5EF4-FFF2-40B4-BE49-F238E27FC236}">
                <a16:creationId xmlns:a16="http://schemas.microsoft.com/office/drawing/2014/main" id="{91138809-A854-4150-B66E-04D0B9A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1" name="ai-step-title-1">
            <a:extLst xmlns:a="http://schemas.openxmlformats.org/drawingml/2006/main">
              <a:ext uri="{FF2B5EF4-FFF2-40B4-BE49-F238E27FC236}">
                <a16:creationId xmlns:a16="http://schemas.microsoft.com/office/drawing/2014/main" id="{2395073D-4EF3-4DE2-AA0A-F5B2C1B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12" name="ai-step-sub-1">
            <a:extLst xmlns:a="http://schemas.openxmlformats.org/drawingml/2006/main">
              <a:ext uri="{FF2B5EF4-FFF2-40B4-BE49-F238E27FC236}">
                <a16:creationId xmlns:a16="http://schemas.microsoft.com/office/drawing/2014/main" id="{B6F0727E-B103-4D01-8FF9-2A011C6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建立初稿</a:t>
            </a:r>
          </a:p>
        </p:txBody>
      </p:sp>
      <p:sp>
        <p:nvSpPr>
          <p:cNvPr id="13" name="ai-step-2">
            <a:extLst xmlns:a="http://schemas.openxmlformats.org/drawingml/2006/main">
              <a:ext uri="{FF2B5EF4-FFF2-40B4-BE49-F238E27FC236}">
                <a16:creationId xmlns:a16="http://schemas.microsoft.com/office/drawing/2014/main" id="{0AC0A953-1B54-4C08-B787-7C6FB557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i-step-n-2">
            <a:extLst xmlns:a="http://schemas.openxmlformats.org/drawingml/2006/main">
              <a:ext uri="{FF2B5EF4-FFF2-40B4-BE49-F238E27FC236}">
                <a16:creationId xmlns:a16="http://schemas.microsoft.com/office/drawing/2014/main" id="{C9819D68-E3A4-4E8F-A83A-6780A0E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ai-step-title-2">
            <a:extLst xmlns:a="http://schemas.openxmlformats.org/drawingml/2006/main">
              <a:ext uri="{FF2B5EF4-FFF2-40B4-BE49-F238E27FC236}">
                <a16:creationId xmlns:a16="http://schemas.microsoft.com/office/drawing/2014/main" id="{5789B48C-4077-4814-89EC-B1DCB284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複核</a:t>
            </a:r>
          </a:p>
        </p:txBody>
      </p:sp>
      <p:sp>
        <p:nvSpPr>
          <p:cNvPr id="16" name="ai-step-sub-2">
            <a:extLst xmlns:a="http://schemas.openxmlformats.org/drawingml/2006/main">
              <a:ext uri="{FF2B5EF4-FFF2-40B4-BE49-F238E27FC236}">
                <a16:creationId xmlns:a16="http://schemas.microsoft.com/office/drawing/2014/main" id="{071C1472-1977-46BF-81C5-66256C1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檢查缺漏</a:t>
            </a:r>
          </a:p>
        </p:txBody>
      </p:sp>
      <p:sp>
        <p:nvSpPr>
          <p:cNvPr id="17" name="ai-step-3">
            <a:extLst xmlns:a="http://schemas.openxmlformats.org/drawingml/2006/main">
              <a:ext uri="{FF2B5EF4-FFF2-40B4-BE49-F238E27FC236}">
                <a16:creationId xmlns:a16="http://schemas.microsoft.com/office/drawing/2014/main" id="{EBC89567-881A-4E4E-84A8-A45B0AE5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i-step-n-3">
            <a:extLst xmlns:a="http://schemas.openxmlformats.org/drawingml/2006/main">
              <a:ext uri="{FF2B5EF4-FFF2-40B4-BE49-F238E27FC236}">
                <a16:creationId xmlns:a16="http://schemas.microsoft.com/office/drawing/2014/main" id="{FA9F1578-4FD0-48B3-9E42-45C262AF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ai-step-title-3">
            <a:extLst xmlns:a="http://schemas.openxmlformats.org/drawingml/2006/main">
              <a:ext uri="{FF2B5EF4-FFF2-40B4-BE49-F238E27FC236}">
                <a16:creationId xmlns:a16="http://schemas.microsoft.com/office/drawing/2014/main" id="{CDF06344-9F89-4D4B-932D-6ECDC5E3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仲裁</a:t>
            </a:r>
          </a:p>
        </p:txBody>
      </p:sp>
      <p:sp>
        <p:nvSpPr>
          <p:cNvPr id="20" name="ai-step-sub-3">
            <a:extLst xmlns:a="http://schemas.openxmlformats.org/drawingml/2006/main">
              <a:ext uri="{FF2B5EF4-FFF2-40B4-BE49-F238E27FC236}">
                <a16:creationId xmlns:a16="http://schemas.microsoft.com/office/drawing/2014/main" id="{A6D84F39-49F7-43CD-A4D2-BDDDC5E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決定最終稿</a:t>
            </a:r>
          </a:p>
        </p:txBody>
      </p:sp>
      <p:sp>
        <p:nvSpPr>
          <p:cNvPr id="21" name="ai-guardrail">
            <a:extLst xmlns:a="http://schemas.openxmlformats.org/drawingml/2006/main">
              <a:ext uri="{FF2B5EF4-FFF2-40B4-BE49-F238E27FC236}">
                <a16:creationId xmlns:a16="http://schemas.microsoft.com/office/drawing/2014/main" id="{357EBF3C-9204-4325-AC1D-8591B56C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19750"/>
            <a:ext cx="4762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ai-guardrail-text">
            <a:extLst xmlns:a="http://schemas.openxmlformats.org/drawingml/2006/main">
              <a:ext uri="{FF2B5EF4-FFF2-40B4-BE49-F238E27FC236}">
                <a16:creationId xmlns:a16="http://schemas.microsoft.com/office/drawing/2014/main" id="{5B497DF8-4D49-4F5E-96C1-BBB14013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48350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最後仍要通過：格式驗證 · 詞性規則 · 漏字／重複檢查 · 失敗回退</a:t>
            </a:r>
          </a:p>
        </p:txBody>
      </p:sp>
    </p:spTree>
    <p:extLst>
      <p:ext uri="{BB962C8B-B14F-4D97-AF65-F5344CB8AC3E}">
        <p14:creationId xmlns:p14="http://schemas.microsoft.com/office/powerpoint/2010/main" val="1460631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Rectangle 2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p-rule-8">
            <a:extLst xmlns:a="http://schemas.openxmlformats.org/drawingml/2006/main">
              <a:ext uri="{FF2B5EF4-FFF2-40B4-BE49-F238E27FC236}">
                <a16:creationId xmlns:a16="http://schemas.microsoft.com/office/drawing/2014/main" id="{2444400E-83F9-48ED-8B3B-78E65B82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B75D362B-4792-431D-81BA-B11B7D9E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CC31E288-FE09-4978-886C-8C988B06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已累積真實使用紀錄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E6FD4FC6-0BDC-4FC3-8679-DD42E9D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內容規模與作答資料，讓我能觀察系統運作並持續調整功能。</a:t>
            </a:r>
          </a:p>
        </p:txBody>
      </p:sp>
      <p:sp>
        <p:nvSpPr>
          <p:cNvPr id="5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E835D5C6-1FDD-42C9-90D3-D7A83F79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A7EA53D-081C-4F29-96B8-70EE4F33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metric-words-value">
            <a:extLst xmlns:a="http://schemas.openxmlformats.org/drawingml/2006/main">
              <a:ext uri="{FF2B5EF4-FFF2-40B4-BE49-F238E27FC236}">
                <a16:creationId xmlns:a16="http://schemas.microsoft.com/office/drawing/2014/main" id="{CDEED410-0DA5-4649-8103-38FC4E31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52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3,684</a:t>
            </a:r>
          </a:p>
        </p:txBody>
      </p:sp>
      <p:sp>
        <p:nvSpPr>
          <p:cNvPr id="8" name="metric-words-line">
            <a:extLst xmlns:a="http://schemas.openxmlformats.org/drawingml/2006/main">
              <a:ext uri="{FF2B5EF4-FFF2-40B4-BE49-F238E27FC236}">
                <a16:creationId xmlns:a16="http://schemas.microsoft.com/office/drawing/2014/main" id="{E19E0562-D752-4FF2-9492-69BDB68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81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metric-words-caption">
            <a:extLst xmlns:a="http://schemas.openxmlformats.org/drawingml/2006/main">
              <a:ext uri="{FF2B5EF4-FFF2-40B4-BE49-F238E27FC236}">
                <a16:creationId xmlns:a16="http://schemas.microsoft.com/office/drawing/2014/main" id="{207EA0F2-94AB-47E9-81B8-64948D8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個單字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分布於 71 個單元</a:t>
            </a:r>
          </a:p>
        </p:txBody>
      </p:sp>
      <p:sp>
        <p:nvSpPr>
          <p:cNvPr id="10" name="metric-visitors-value">
            <a:extLst xmlns:a="http://schemas.openxmlformats.org/drawingml/2006/main">
              <a:ext uri="{FF2B5EF4-FFF2-40B4-BE49-F238E27FC236}">
                <a16:creationId xmlns:a16="http://schemas.microsoft.com/office/drawing/2014/main" id="{2911B1E3-BD56-470A-B30F-722650FA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11" name="metric-visitors-line">
            <a:extLst xmlns:a="http://schemas.openxmlformats.org/drawingml/2006/main">
              <a:ext uri="{FF2B5EF4-FFF2-40B4-BE49-F238E27FC236}">
                <a16:creationId xmlns:a16="http://schemas.microsoft.com/office/drawing/2014/main" id="{0F35BDBC-3FE6-4FB8-A6F8-11E09E55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81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metric-visitors-caption">
            <a:extLst xmlns:a="http://schemas.openxmlformats.org/drawingml/2006/main">
              <a:ext uri="{FF2B5EF4-FFF2-40B4-BE49-F238E27FC236}">
                <a16:creationId xmlns:a16="http://schemas.microsoft.com/office/drawing/2014/main" id="{14316E86-57A9-492E-860C-5E0F7DB9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位去重造訪者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公開服務使用紀錄</a:t>
            </a:r>
          </a:p>
        </p:txBody>
      </p:sp>
      <p:sp>
        <p:nvSpPr>
          <p:cNvPr id="13" name="metric-learners-value">
            <a:extLst xmlns:a="http://schemas.openxmlformats.org/drawingml/2006/main">
              <a:ext uri="{FF2B5EF4-FFF2-40B4-BE49-F238E27FC236}">
                <a16:creationId xmlns:a16="http://schemas.microsoft.com/office/drawing/2014/main" id="{BD6D7174-1959-46E7-82B2-36D8860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14" name="metric-learners-line">
            <a:extLst xmlns:a="http://schemas.openxmlformats.org/drawingml/2006/main">
              <a:ext uri="{FF2B5EF4-FFF2-40B4-BE49-F238E27FC236}">
                <a16:creationId xmlns:a16="http://schemas.microsoft.com/office/drawing/2014/main" id="{0DD153D7-A18D-4384-B2E6-836BB7B2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5" name="metric-learners-caption">
            <a:extLst xmlns:a="http://schemas.openxmlformats.org/drawingml/2006/main">
              <a:ext uri="{FF2B5EF4-FFF2-40B4-BE49-F238E27FC236}">
                <a16:creationId xmlns:a16="http://schemas.microsoft.com/office/drawing/2014/main" id="{77999FDD-CA14-46FE-A799-E6065B85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位產生作答紀錄者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已留下實際學習資料</a:t>
            </a:r>
          </a:p>
        </p:txBody>
      </p:sp>
      <p:sp>
        <p:nvSpPr>
          <p:cNvPr id="16" name="metric-attempts-value">
            <a:extLst xmlns:a="http://schemas.openxmlformats.org/drawingml/2006/main">
              <a:ext uri="{FF2B5EF4-FFF2-40B4-BE49-F238E27FC236}">
                <a16:creationId xmlns:a16="http://schemas.microsoft.com/office/drawing/2014/main" id="{586719A6-AB6A-491A-8282-94945152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rPr>
              <a:t>10,011</a:t>
            </a:r>
          </a:p>
        </p:txBody>
      </p:sp>
      <p:sp>
        <p:nvSpPr>
          <p:cNvPr id="17" name="metric-attempts-line">
            <a:extLst xmlns:a="http://schemas.openxmlformats.org/drawingml/2006/main">
              <a:ext uri="{FF2B5EF4-FFF2-40B4-BE49-F238E27FC236}">
                <a16:creationId xmlns:a16="http://schemas.microsoft.com/office/drawing/2014/main" id="{702336EB-A0AB-498A-BEE0-34E3FE29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8140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metric-attempts-caption">
            <a:extLst xmlns:a="http://schemas.openxmlformats.org/drawingml/2006/main">
              <a:ext uri="{FF2B5EF4-FFF2-40B4-BE49-F238E27FC236}">
                <a16:creationId xmlns:a16="http://schemas.microsoft.com/office/drawing/2014/main" id="{85068135-2494-41C4-B642-DA4B44D3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筆作答紀錄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可追蹤錯題與熟練度</a:t>
            </a:r>
          </a:p>
        </p:txBody>
      </p:sp>
      <p:sp>
        <p:nvSpPr>
          <p:cNvPr id="19" name="evidence-strip">
            <a:extLst xmlns:a="http://schemas.openxmlformats.org/drawingml/2006/main">
              <a:ext uri="{FF2B5EF4-FFF2-40B4-BE49-F238E27FC236}">
                <a16:creationId xmlns:a16="http://schemas.microsoft.com/office/drawing/2014/main" id="{2A5B9778-6095-4687-96D4-5E2F4A1C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57800"/>
            <a:ext cx="106870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evidence-strip-main">
            <a:extLst xmlns:a="http://schemas.openxmlformats.org/drawingml/2006/main">
              <a:ext uri="{FF2B5EF4-FFF2-40B4-BE49-F238E27FC236}">
                <a16:creationId xmlns:a16="http://schemas.microsoft.com/office/drawing/2014/main" id="{1E2BD1F4-5ED0-4E9C-A8AF-EB336B7F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054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142 批匯入 · 277 場練習 · 2,122 筆熟練度資料</a:t>
            </a:r>
          </a:p>
        </p:txBody>
      </p:sp>
      <p:sp>
        <p:nvSpPr>
          <p:cNvPr id="21" name="evidence-strip-note">
            <a:extLst xmlns:a="http://schemas.openxmlformats.org/drawingml/2006/main">
              <a:ext uri="{FF2B5EF4-FFF2-40B4-BE49-F238E27FC236}">
                <a16:creationId xmlns:a16="http://schemas.microsoft.com/office/drawing/2014/main" id="{DEB174CC-F55E-4899-81A2-ED4A7E27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81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截至 2026/08/15</a:t>
            </a:r>
          </a:p>
        </p:txBody>
      </p:sp>
      <p:sp>
        <p:nvSpPr>
          <p:cNvPr id="22" name="evidence-guardrail">
            <a:extLst xmlns:a="http://schemas.openxmlformats.org/drawingml/2006/main">
              <a:ext uri="{FF2B5EF4-FFF2-40B4-BE49-F238E27FC236}">
                <a16:creationId xmlns:a16="http://schemas.microsoft.com/office/drawing/2014/main" id="{6E433F72-AFD0-4A99-AD93-A013508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5532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A84B3D"/>
                </a:solidFill>
                <a:latin typeface="Microsoft JhengHei"/>
                <a:ea typeface="Microsoft JhengHei"/>
                <a:cs typeface="Microsoft JhengHei"/>
              </a:rPr>
              <a:t>這些紀錄協助我定位錯題、調整內容，並規劃下一版功能。</a:t>
            </a:r>
          </a:p>
        </p:txBody>
      </p:sp>
    </p:spTree>
    <p:extLst>
      <p:ext uri="{BB962C8B-B14F-4D97-AF65-F5344CB8AC3E}">
        <p14:creationId xmlns:p14="http://schemas.microsoft.com/office/powerpoint/2010/main" val="292416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4" name="Rectangle 2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op-rule-9">
            <a:extLst xmlns:a="http://schemas.openxmlformats.org/drawingml/2006/main">
              <a:ext uri="{FF2B5EF4-FFF2-40B4-BE49-F238E27FC236}">
                <a16:creationId xmlns:a16="http://schemas.microsoft.com/office/drawing/2014/main" id="{641315D8-1486-4BFE-9AFD-29E46803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F9F99602-93D0-4269-B695-B8ACD38A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ITERATION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D46D2BF0-F9E9-43D4-9CBB-B2E74823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錯誤成為下一版設計的起點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80CCAB3B-43BA-49DD-B82F-DB685966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同學回報與自行測試讓我找到問題，再把修正納入系統流程。</a:t>
            </a:r>
          </a:p>
        </p:txBody>
      </p:sp>
      <p:sp>
        <p:nvSpPr>
          <p:cNvPr id="5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CC9EC945-D433-419F-B804-390D37D6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B9ABC76-2F25-417E-AAB3-AF9D871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iter-one">
            <a:extLst xmlns:a="http://schemas.openxmlformats.org/drawingml/2006/main">
              <a:ext uri="{FF2B5EF4-FFF2-40B4-BE49-F238E27FC236}">
                <a16:creationId xmlns:a16="http://schemas.microsoft.com/office/drawing/2014/main" id="{75A3BC9E-3781-4148-BBAD-74A12229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8" name="iter-one-label-bg">
            <a:extLst xmlns:a="http://schemas.openxmlformats.org/drawingml/2006/main">
              <a:ext uri="{FF2B5EF4-FFF2-40B4-BE49-F238E27FC236}">
                <a16:creationId xmlns:a16="http://schemas.microsoft.com/office/drawing/2014/main" id="{A506B980-017C-4D3F-99D3-F38A614C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ter-one-label">
            <a:extLst xmlns:a="http://schemas.openxmlformats.org/drawingml/2006/main">
              <a:ext uri="{FF2B5EF4-FFF2-40B4-BE49-F238E27FC236}">
                <a16:creationId xmlns:a16="http://schemas.microsoft.com/office/drawing/2014/main" id="{B1702996-E036-446D-A936-6BEF20FF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PRONUNCIATION</a:t>
            </a:r>
          </a:p>
        </p:txBody>
      </p:sp>
      <p:sp>
        <p:nvSpPr>
          <p:cNvPr id="10" name="iter-one-title">
            <a:extLst xmlns:a="http://schemas.openxmlformats.org/drawingml/2006/main">
              <a:ext uri="{FF2B5EF4-FFF2-40B4-BE49-F238E27FC236}">
                <a16:creationId xmlns:a16="http://schemas.microsoft.com/office/drawing/2014/main" id="{606DE7DB-305D-4E05-A552-7FBB614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語音模型發音不正確</a:t>
            </a:r>
          </a:p>
        </p:txBody>
      </p:sp>
      <p:sp>
        <p:nvSpPr>
          <p:cNvPr id="11" name="iter-one-arrow">
            <a:extLst xmlns:a="http://schemas.openxmlformats.org/drawingml/2006/main">
              <a:ext uri="{FF2B5EF4-FFF2-40B4-BE49-F238E27FC236}">
                <a16:creationId xmlns:a16="http://schemas.microsoft.com/office/drawing/2014/main" id="{6D46EDF7-12F2-48F4-B666-5A3D1911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2" name="iter-one-fix">
            <a:extLst xmlns:a="http://schemas.openxmlformats.org/drawingml/2006/main">
              <a:ext uri="{FF2B5EF4-FFF2-40B4-BE49-F238E27FC236}">
                <a16:creationId xmlns:a16="http://schemas.microsoft.com/office/drawing/2014/main" id="{6A58B808-A7E6-431C-9C22-EE44FFED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優先抓取字典真人發音；無合適來源時，再以 TTS 作為 fallback。</a:t>
            </a:r>
          </a:p>
        </p:txBody>
      </p:sp>
      <p:sp>
        <p:nvSpPr>
          <p:cNvPr id="13" name="iter-two">
            <a:extLst xmlns:a="http://schemas.openxmlformats.org/drawingml/2006/main">
              <a:ext uri="{FF2B5EF4-FFF2-40B4-BE49-F238E27FC236}">
                <a16:creationId xmlns:a16="http://schemas.microsoft.com/office/drawing/2014/main" id="{B60D2B79-04DD-405B-A81C-8293299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iter-two-label-bg">
            <a:extLst xmlns:a="http://schemas.openxmlformats.org/drawingml/2006/main">
              <a:ext uri="{FF2B5EF4-FFF2-40B4-BE49-F238E27FC236}">
                <a16:creationId xmlns:a16="http://schemas.microsoft.com/office/drawing/2014/main" id="{166D42FE-F6C4-4D40-B498-59F373B7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r-two-label">
            <a:extLst xmlns:a="http://schemas.openxmlformats.org/drawingml/2006/main">
              <a:ext uri="{FF2B5EF4-FFF2-40B4-BE49-F238E27FC236}">
                <a16:creationId xmlns:a16="http://schemas.microsoft.com/office/drawing/2014/main" id="{7CAFCB98-C5A5-4DD9-A7E2-FD8351C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CONTENT QUALITY</a:t>
            </a:r>
          </a:p>
        </p:txBody>
      </p:sp>
      <p:sp>
        <p:nvSpPr>
          <p:cNvPr id="16" name="iter-two-title">
            <a:extLst xmlns:a="http://schemas.openxmlformats.org/drawingml/2006/main">
              <a:ext uri="{FF2B5EF4-FFF2-40B4-BE49-F238E27FC236}">
                <a16:creationId xmlns:a16="http://schemas.microsoft.com/office/drawing/2014/main" id="{E927DB5C-28AC-45E1-8295-B5C6301A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單次生成會留下分析錯誤</a:t>
            </a:r>
          </a:p>
        </p:txBody>
      </p:sp>
      <p:sp>
        <p:nvSpPr>
          <p:cNvPr id="17" name="iter-two-arrow">
            <a:extLst xmlns:a="http://schemas.openxmlformats.org/drawingml/2006/main">
              <a:ext uri="{FF2B5EF4-FFF2-40B4-BE49-F238E27FC236}">
                <a16:creationId xmlns:a16="http://schemas.microsoft.com/office/drawing/2014/main" id="{0B43C8BB-8791-43E4-A74B-18E0F8A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1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18" name="iter-two-fix">
            <a:extLst xmlns:a="http://schemas.openxmlformats.org/drawingml/2006/main">
              <a:ext uri="{FF2B5EF4-FFF2-40B4-BE49-F238E27FC236}">
                <a16:creationId xmlns:a16="http://schemas.microsoft.com/office/drawing/2014/main" id="{6244D522-3204-40CB-82C3-6E37D741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6863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拆成生成、複核、仲裁，並用規則驗證與回退避免錯誤直接進入單字庫。</a:t>
            </a:r>
          </a:p>
        </p:txBody>
      </p:sp>
      <p:sp>
        <p:nvSpPr>
          <p:cNvPr id="19" name="iteration-conclusion">
            <a:extLst xmlns:a="http://schemas.openxmlformats.org/drawingml/2006/main">
              <a:ext uri="{FF2B5EF4-FFF2-40B4-BE49-F238E27FC236}">
                <a16:creationId xmlns:a16="http://schemas.microsoft.com/office/drawing/2014/main" id="{437A8008-0BA3-4F6A-94D8-DB2F6AED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324600"/>
            <a:ext cx="979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我為錯誤建立發現、阻擋與修正的完整路徑。</a:t>
            </a:r>
          </a:p>
        </p:txBody>
      </p:sp>
    </p:spTree>
    <p:extLst>
      <p:ext uri="{BB962C8B-B14F-4D97-AF65-F5344CB8AC3E}">
        <p14:creationId xmlns:p14="http://schemas.microsoft.com/office/powerpoint/2010/main" val="9870018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op-rule-10">
            <a:extLst xmlns:a="http://schemas.openxmlformats.org/drawingml/2006/main">
              <a:ext uri="{FF2B5EF4-FFF2-40B4-BE49-F238E27FC236}">
                <a16:creationId xmlns:a16="http://schemas.microsoft.com/office/drawing/2014/main" id="{D9F96F69-A10A-4BC6-AF98-33277DD8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C01AD759-1E87-4157-8C1D-231448DF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REFLECTION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1BEB8448-6C4C-4272-8A77-40C51AF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我的成長：從寫程式到做系統決策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4573BC5D-D9A7-4252-9A10-686FB38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我開始能把模糊需求轉成可被驗收的系統決策。</a:t>
            </a:r>
          </a:p>
        </p:txBody>
      </p:sp>
      <p:sp>
        <p:nvSpPr>
          <p:cNvPr id="5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AF6A27DB-9170-4CA0-AAF9-EC449562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3F740696-E4E1-47C5-8159-2C068F88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growth-before-label">
            <a:extLst xmlns:a="http://schemas.openxmlformats.org/drawingml/2006/main">
              <a:ext uri="{FF2B5EF4-FFF2-40B4-BE49-F238E27FC236}">
                <a16:creationId xmlns:a16="http://schemas.microsoft.com/office/drawing/2014/main" id="{01692938-8E1D-435A-A116-F0E1DDDF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95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</a:p>
        </p:txBody>
      </p:sp>
      <p:sp>
        <p:nvSpPr>
          <p:cNvPr id="8" name="growth-before">
            <a:extLst xmlns:a="http://schemas.openxmlformats.org/drawingml/2006/main">
              <a:ext uri="{FF2B5EF4-FFF2-40B4-BE49-F238E27FC236}">
                <a16:creationId xmlns:a16="http://schemas.microsoft.com/office/drawing/2014/main" id="{4889C2FE-DF0C-4A47-88DE-995841CD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具備程式基礎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做過小型專案</a:t>
            </a:r>
          </a:p>
        </p:txBody>
      </p:sp>
      <p:sp>
        <p:nvSpPr>
          <p:cNvPr id="9" name="growth-arrow">
            <a:extLst xmlns:a="http://schemas.openxmlformats.org/drawingml/2006/main">
              <a:ext uri="{FF2B5EF4-FFF2-40B4-BE49-F238E27FC236}">
                <a16:creationId xmlns:a16="http://schemas.microsoft.com/office/drawing/2014/main" id="{ED395F01-BE19-4964-B9B0-47B5F4A5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671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growth-after-label">
            <a:extLst xmlns:a="http://schemas.openxmlformats.org/drawingml/2006/main">
              <a:ext uri="{FF2B5EF4-FFF2-40B4-BE49-F238E27FC236}">
                <a16:creationId xmlns:a16="http://schemas.microsoft.com/office/drawing/2014/main" id="{3E1485FE-6046-409F-931A-0F0F6408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95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NOW</a:t>
            </a:r>
          </a:p>
        </p:txBody>
      </p:sp>
      <p:sp>
        <p:nvSpPr>
          <p:cNvPr id="11" name="growth-after">
            <a:extLst xmlns:a="http://schemas.openxmlformats.org/drawingml/2006/main">
              <a:ext uri="{FF2B5EF4-FFF2-40B4-BE49-F238E27FC236}">
                <a16:creationId xmlns:a16="http://schemas.microsoft.com/office/drawing/2014/main" id="{EDBE6B47-B123-4C5B-9C77-DB5F786E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2800"/>
            <a:ext cx="5334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定義問題 · 拆解需求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制定規則 · 測試驗收</a:t>
            </a:r>
          </a:p>
        </p:txBody>
      </p:sp>
      <p:sp>
        <p:nvSpPr>
          <p:cNvPr id="12" name="future-box">
            <a:extLst xmlns:a="http://schemas.openxmlformats.org/drawingml/2006/main">
              <a:ext uri="{FF2B5EF4-FFF2-40B4-BE49-F238E27FC236}">
                <a16:creationId xmlns:a16="http://schemas.microsoft.com/office/drawing/2014/main" id="{FEC2B4AA-65BC-40F3-840E-3ED16BE7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998220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3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DBBA25EB-1313-4862-9985-D52ED0E3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200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下一步：軟體系統 × AI 可靠性</a:t>
            </a:r>
          </a:p>
        </p:txBody>
      </p:sp>
      <p:sp>
        <p:nvSpPr>
          <p:cNvPr id="14" name="future-body">
            <a:extLst xmlns:a="http://schemas.openxmlformats.org/drawingml/2006/main">
              <a:ext uri="{FF2B5EF4-FFF2-40B4-BE49-F238E27FC236}">
                <a16:creationId xmlns:a16="http://schemas.microsoft.com/office/drawing/2014/main" id="{BD1786A3-D2B2-4737-B2F3-0E9220A6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769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繼續研究如何讓 AI 產出可驗證、可回退、能在真實服務中被信任。</a:t>
            </a:r>
          </a:p>
        </p:txBody>
      </p:sp>
      <p:sp>
        <p:nvSpPr>
          <p:cNvPr id="15" name="public-url">
            <a:extLst xmlns:a="http://schemas.openxmlformats.org/drawingml/2006/main">
              <a:ext uri="{FF2B5EF4-FFF2-40B4-BE49-F238E27FC236}">
                <a16:creationId xmlns:a16="http://schemas.microsoft.com/office/drawing/2014/main" id="{2052320F-F94C-41ED-9569-BA706583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149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befbbfbd0f074eaa"/>
              </a:rPr>
              <a:t>words.ytconch.duckdns.org</a:t>
            </a:r>
          </a:p>
        </p:txBody>
      </p:sp>
      <p:sp>
        <p:nvSpPr>
          <p:cNvPr id="16" name="public-url-note">
            <a:extLst xmlns:a="http://schemas.openxmlformats.org/drawingml/2006/main">
              <a:ext uri="{FF2B5EF4-FFF2-40B4-BE49-F238E27FC236}">
                <a16:creationId xmlns:a16="http://schemas.microsoft.com/office/drawing/2014/main" id="{BA297D89-2284-4C74-AD1F-9F5B3D18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6959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公開服務入口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4ECB08B4-A4C1-4D7B-A308-9C199ADF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4960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一個從自身需求開始，透過使用、錯誤與驗證持續成長的系統。</a:t>
            </a:r>
          </a:p>
        </p:txBody>
      </p:sp>
    </p:spTree>
    <p:extLst>
      <p:ext uri="{BB962C8B-B14F-4D97-AF65-F5344CB8AC3E}">
        <p14:creationId xmlns:p14="http://schemas.microsoft.com/office/powerpoint/2010/main" val="1547130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1" name="Rectangle 4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op-rule-11">
            <a:extLst xmlns:a="http://schemas.openxmlformats.org/drawingml/2006/main">
              <a:ext uri="{FF2B5EF4-FFF2-40B4-BE49-F238E27FC236}">
                <a16:creationId xmlns:a16="http://schemas.microsoft.com/office/drawing/2014/main" id="{19F89626-F075-451E-B97E-0B9893E8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1">
            <a:extLst xmlns:a="http://schemas.openxmlformats.org/drawingml/2006/main">
              <a:ext uri="{FF2B5EF4-FFF2-40B4-BE49-F238E27FC236}">
                <a16:creationId xmlns:a16="http://schemas.microsoft.com/office/drawing/2014/main" id="{1E1AA8F0-4229-45B4-97F9-765B7A5A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A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27FAD5FD-281F-4C8C-B375-5A4C20B8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系統範圍：八個使用介面，六類後端責任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68EC56AE-D467-4C26-94B6-EE38E04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附錄整理完整系統範圍，呈現各模組如何分工。</a:t>
            </a:r>
          </a:p>
        </p:txBody>
      </p:sp>
      <p:sp>
        <p:nvSpPr>
          <p:cNvPr id="5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6B42CB2B-A25B-400D-AF0F-2E21C1D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E8BC5D9E-1967-475E-A12A-67550D7A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scope-pages-title">
            <a:extLst xmlns:a="http://schemas.openxmlformats.org/drawingml/2006/main">
              <a:ext uri="{FF2B5EF4-FFF2-40B4-BE49-F238E27FC236}">
                <a16:creationId xmlns:a16="http://schemas.microsoft.com/office/drawing/2014/main" id="{B1A1EA8A-60C1-467D-BDB3-3948256D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43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使用介面</a:t>
            </a:r>
          </a:p>
        </p:txBody>
      </p:sp>
      <p:sp>
        <p:nvSpPr>
          <p:cNvPr id="8" name="scope-services-title">
            <a:extLst xmlns:a="http://schemas.openxmlformats.org/drawingml/2006/main">
              <a:ext uri="{FF2B5EF4-FFF2-40B4-BE49-F238E27FC236}">
                <a16:creationId xmlns:a16="http://schemas.microsoft.com/office/drawing/2014/main" id="{57233400-A8AD-4471-A0A6-B7A12126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43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後端責任</a:t>
            </a:r>
          </a:p>
        </p:txBody>
      </p:sp>
      <p:sp>
        <p:nvSpPr>
          <p:cNvPr id="9" name="page-item-bg-0">
            <a:extLst xmlns:a="http://schemas.openxmlformats.org/drawingml/2006/main">
              <a:ext uri="{FF2B5EF4-FFF2-40B4-BE49-F238E27FC236}">
                <a16:creationId xmlns:a16="http://schemas.microsoft.com/office/drawing/2014/main" id="{A79A5C43-3705-43D8-9F50-BB5BCEDF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0" name="page-item-0">
            <a:extLst xmlns:a="http://schemas.openxmlformats.org/drawingml/2006/main">
              <a:ext uri="{FF2B5EF4-FFF2-40B4-BE49-F238E27FC236}">
                <a16:creationId xmlns:a16="http://schemas.microsoft.com/office/drawing/2014/main" id="{68F31661-65E3-439D-8D75-BD158B22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14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首頁／登入</a:t>
            </a:r>
          </a:p>
        </p:txBody>
      </p:sp>
      <p:sp>
        <p:nvSpPr>
          <p:cNvPr id="11" name="page-item-bg-1">
            <a:extLst xmlns:a="http://schemas.openxmlformats.org/drawingml/2006/main">
              <a:ext uri="{FF2B5EF4-FFF2-40B4-BE49-F238E27FC236}">
                <a16:creationId xmlns:a16="http://schemas.microsoft.com/office/drawing/2014/main" id="{3F0C97D7-4307-49E8-8650-C74431BA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909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page-item-1">
            <a:extLst xmlns:a="http://schemas.openxmlformats.org/drawingml/2006/main">
              <a:ext uri="{FF2B5EF4-FFF2-40B4-BE49-F238E27FC236}">
                <a16:creationId xmlns:a16="http://schemas.microsoft.com/office/drawing/2014/main" id="{3CDA588E-090E-4F3C-A811-A107BE27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147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</a:p>
        </p:txBody>
      </p:sp>
      <p:sp>
        <p:nvSpPr>
          <p:cNvPr id="13" name="page-item-bg-2">
            <a:extLst xmlns:a="http://schemas.openxmlformats.org/drawingml/2006/main">
              <a:ext uri="{FF2B5EF4-FFF2-40B4-BE49-F238E27FC236}">
                <a16:creationId xmlns:a16="http://schemas.microsoft.com/office/drawing/2014/main" id="{8647EA15-09BA-433B-BEF7-10FDA08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19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page-item-2">
            <a:extLst xmlns:a="http://schemas.openxmlformats.org/drawingml/2006/main">
              <a:ext uri="{FF2B5EF4-FFF2-40B4-BE49-F238E27FC236}">
                <a16:creationId xmlns:a16="http://schemas.microsoft.com/office/drawing/2014/main" id="{A7B41A50-2197-4FA6-91D1-94ED836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43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</a:p>
        </p:txBody>
      </p:sp>
      <p:sp>
        <p:nvSpPr>
          <p:cNvPr id="15" name="page-item-bg-3">
            <a:extLst xmlns:a="http://schemas.openxmlformats.org/drawingml/2006/main">
              <a:ext uri="{FF2B5EF4-FFF2-40B4-BE49-F238E27FC236}">
                <a16:creationId xmlns:a16="http://schemas.microsoft.com/office/drawing/2014/main" id="{BE140AA3-FB88-4ABB-BA09-C338A47D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195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page-item-3">
            <a:extLst xmlns:a="http://schemas.openxmlformats.org/drawingml/2006/main">
              <a:ext uri="{FF2B5EF4-FFF2-40B4-BE49-F238E27FC236}">
                <a16:creationId xmlns:a16="http://schemas.microsoft.com/office/drawing/2014/main" id="{6827F356-6A1A-4F71-BC12-7136AF9F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43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排行榜</a:t>
            </a:r>
          </a:p>
        </p:txBody>
      </p:sp>
      <p:sp>
        <p:nvSpPr>
          <p:cNvPr id="17" name="page-item-bg-4">
            <a:extLst xmlns:a="http://schemas.openxmlformats.org/drawingml/2006/main">
              <a:ext uri="{FF2B5EF4-FFF2-40B4-BE49-F238E27FC236}">
                <a16:creationId xmlns:a16="http://schemas.microsoft.com/office/drawing/2014/main" id="{1EC635B7-297D-4794-9951-3B4E96B7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48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page-item-4">
            <a:extLst xmlns:a="http://schemas.openxmlformats.org/drawingml/2006/main">
              <a:ext uri="{FF2B5EF4-FFF2-40B4-BE49-F238E27FC236}">
                <a16:creationId xmlns:a16="http://schemas.microsoft.com/office/drawing/2014/main" id="{6E9C0960-6445-41F1-A280-9F6F1482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72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學習趨勢</a:t>
            </a:r>
          </a:p>
        </p:txBody>
      </p:sp>
      <p:sp>
        <p:nvSpPr>
          <p:cNvPr id="19" name="page-item-bg-5">
            <a:extLst xmlns:a="http://schemas.openxmlformats.org/drawingml/2006/main">
              <a:ext uri="{FF2B5EF4-FFF2-40B4-BE49-F238E27FC236}">
                <a16:creationId xmlns:a16="http://schemas.microsoft.com/office/drawing/2014/main" id="{2C9F614D-C9D3-4A80-A43F-BC2DF8BC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482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page-item-5">
            <a:extLst xmlns:a="http://schemas.openxmlformats.org/drawingml/2006/main">
              <a:ext uri="{FF2B5EF4-FFF2-40B4-BE49-F238E27FC236}">
                <a16:creationId xmlns:a16="http://schemas.microsoft.com/office/drawing/2014/main" id="{473C9D74-F86D-4781-9912-9AA29A22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7202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</a:p>
        </p:txBody>
      </p:sp>
      <p:sp>
        <p:nvSpPr>
          <p:cNvPr id="21" name="page-item-bg-6">
            <a:extLst xmlns:a="http://schemas.openxmlformats.org/drawingml/2006/main">
              <a:ext uri="{FF2B5EF4-FFF2-40B4-BE49-F238E27FC236}">
                <a16:creationId xmlns:a16="http://schemas.microsoft.com/office/drawing/2014/main" id="{1E81DC2A-4262-467B-800F-43D6A11F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page-item-6">
            <a:extLst xmlns:a="http://schemas.openxmlformats.org/drawingml/2006/main">
              <a:ext uri="{FF2B5EF4-FFF2-40B4-BE49-F238E27FC236}">
                <a16:creationId xmlns:a16="http://schemas.microsoft.com/office/drawing/2014/main" id="{CB1A9882-ACAD-4C1A-97A4-8603F8AD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00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通知</a:t>
            </a:r>
          </a:p>
        </p:txBody>
      </p:sp>
      <p:sp>
        <p:nvSpPr>
          <p:cNvPr id="23" name="page-item-bg-7">
            <a:extLst xmlns:a="http://schemas.openxmlformats.org/drawingml/2006/main">
              <a:ext uri="{FF2B5EF4-FFF2-40B4-BE49-F238E27FC236}">
                <a16:creationId xmlns:a16="http://schemas.microsoft.com/office/drawing/2014/main" id="{ED0A5DC6-D88D-4EBC-B906-E17FF81E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7685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page-item-7">
            <a:extLst xmlns:a="http://schemas.openxmlformats.org/drawingml/2006/main">
              <a:ext uri="{FF2B5EF4-FFF2-40B4-BE49-F238E27FC236}">
                <a16:creationId xmlns:a16="http://schemas.microsoft.com/office/drawing/2014/main" id="{EFD97384-F016-4BE4-A35A-4D1512FC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4006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管理後台</a:t>
            </a:r>
          </a:p>
        </p:txBody>
      </p:sp>
      <p:sp>
        <p:nvSpPr>
          <p:cNvPr id="25" name="svc-item-bg-0">
            <a:extLst xmlns:a="http://schemas.openxmlformats.org/drawingml/2006/main">
              <a:ext uri="{FF2B5EF4-FFF2-40B4-BE49-F238E27FC236}">
                <a16:creationId xmlns:a16="http://schemas.microsoft.com/office/drawing/2014/main" id="{3A119099-657B-43F8-AE2F-75721AD1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909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svc-item-0">
            <a:extLst xmlns:a="http://schemas.openxmlformats.org/drawingml/2006/main">
              <a:ext uri="{FF2B5EF4-FFF2-40B4-BE49-F238E27FC236}">
                <a16:creationId xmlns:a16="http://schemas.microsoft.com/office/drawing/2014/main" id="{0CE9635A-AB3B-4D5C-A2E2-0B87865F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86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驗證與權限</a:t>
            </a:r>
          </a:p>
        </p:txBody>
      </p:sp>
      <p:sp>
        <p:nvSpPr>
          <p:cNvPr id="27" name="svc-item-bg-1">
            <a:extLst xmlns:a="http://schemas.openxmlformats.org/drawingml/2006/main">
              <a:ext uri="{FF2B5EF4-FFF2-40B4-BE49-F238E27FC236}">
                <a16:creationId xmlns:a16="http://schemas.microsoft.com/office/drawing/2014/main" id="{7452D316-4D47-4104-89C6-337C2367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052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svc-item-1">
            <a:extLst xmlns:a="http://schemas.openxmlformats.org/drawingml/2006/main">
              <a:ext uri="{FF2B5EF4-FFF2-40B4-BE49-F238E27FC236}">
                <a16:creationId xmlns:a16="http://schemas.microsoft.com/office/drawing/2014/main" id="{695C9EBA-5AC8-43A2-886D-99F6CBB4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005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單字查詢</a:t>
            </a:r>
          </a:p>
        </p:txBody>
      </p:sp>
      <p:sp>
        <p:nvSpPr>
          <p:cNvPr id="29" name="svc-item-bg-2">
            <a:extLst xmlns:a="http://schemas.openxmlformats.org/drawingml/2006/main">
              <a:ext uri="{FF2B5EF4-FFF2-40B4-BE49-F238E27FC236}">
                <a16:creationId xmlns:a16="http://schemas.microsoft.com/office/drawing/2014/main" id="{ADFF0E90-2F0D-42E5-92F0-2396CE67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196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svc-item-2">
            <a:extLst xmlns:a="http://schemas.openxmlformats.org/drawingml/2006/main">
              <a:ext uri="{FF2B5EF4-FFF2-40B4-BE49-F238E27FC236}">
                <a16:creationId xmlns:a16="http://schemas.microsoft.com/office/drawing/2014/main" id="{A60C23F8-9CEA-452C-9667-A0DC38B5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14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練習與熟練度</a:t>
            </a:r>
          </a:p>
        </p:txBody>
      </p:sp>
      <p:sp>
        <p:nvSpPr>
          <p:cNvPr id="31" name="svc-item-bg-3">
            <a:extLst xmlns:a="http://schemas.openxmlformats.org/drawingml/2006/main">
              <a:ext uri="{FF2B5EF4-FFF2-40B4-BE49-F238E27FC236}">
                <a16:creationId xmlns:a16="http://schemas.microsoft.com/office/drawing/2014/main" id="{E4AEFE9F-ECCB-4CE2-91AD-FAAF3B7D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339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svc-item-3">
            <a:extLst xmlns:a="http://schemas.openxmlformats.org/drawingml/2006/main">
              <a:ext uri="{FF2B5EF4-FFF2-40B4-BE49-F238E27FC236}">
                <a16:creationId xmlns:a16="http://schemas.microsoft.com/office/drawing/2014/main" id="{8D3BBD01-B3B2-4750-8BD4-F8299BE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29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分析與排行榜</a:t>
            </a:r>
          </a:p>
        </p:txBody>
      </p:sp>
      <p:sp>
        <p:nvSpPr>
          <p:cNvPr id="33" name="svc-item-bg-4">
            <a:extLst xmlns:a="http://schemas.openxmlformats.org/drawingml/2006/main">
              <a:ext uri="{FF2B5EF4-FFF2-40B4-BE49-F238E27FC236}">
                <a16:creationId xmlns:a16="http://schemas.microsoft.com/office/drawing/2014/main" id="{C3E16FB8-8F36-4D51-8523-C7C48B41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44830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svc-item-4">
            <a:extLst xmlns:a="http://schemas.openxmlformats.org/drawingml/2006/main">
              <a:ext uri="{FF2B5EF4-FFF2-40B4-BE49-F238E27FC236}">
                <a16:creationId xmlns:a16="http://schemas.microsoft.com/office/drawing/2014/main" id="{69E2FF1C-9112-4BA3-AD95-AC685A46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5435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匯入與審核</a:t>
            </a:r>
          </a:p>
        </p:txBody>
      </p:sp>
      <p:sp>
        <p:nvSpPr>
          <p:cNvPr id="35" name="svc-item-bg-5">
            <a:extLst xmlns:a="http://schemas.openxmlformats.org/drawingml/2006/main">
              <a:ext uri="{FF2B5EF4-FFF2-40B4-BE49-F238E27FC236}">
                <a16:creationId xmlns:a16="http://schemas.microsoft.com/office/drawing/2014/main" id="{D2BC26FB-D99B-4756-BCB7-52040EBD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962650"/>
            <a:ext cx="40957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svc-item-5">
            <a:extLst xmlns:a="http://schemas.openxmlformats.org/drawingml/2006/main">
              <a:ext uri="{FF2B5EF4-FFF2-40B4-BE49-F238E27FC236}">
                <a16:creationId xmlns:a16="http://schemas.microsoft.com/office/drawing/2014/main" id="{138F0F38-4859-4FEE-BAF6-7FEEF866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0579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TTS／發音快取</a:t>
            </a:r>
          </a:p>
        </p:txBody>
      </p:sp>
    </p:spTree>
    <p:extLst>
      <p:ext uri="{BB962C8B-B14F-4D97-AF65-F5344CB8AC3E}">
        <p14:creationId xmlns:p14="http://schemas.microsoft.com/office/powerpoint/2010/main" val="241432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op-rule-12">
            <a:extLst xmlns:a="http://schemas.openxmlformats.org/drawingml/2006/main">
              <a:ext uri="{FF2B5EF4-FFF2-40B4-BE49-F238E27FC236}">
                <a16:creationId xmlns:a16="http://schemas.microsoft.com/office/drawing/2014/main" id="{3A126E12-6577-440A-AF4D-D50E6CF4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2">
            <a:extLst xmlns:a="http://schemas.openxmlformats.org/drawingml/2006/main">
              <a:ext uri="{FF2B5EF4-FFF2-40B4-BE49-F238E27FC236}">
                <a16:creationId xmlns:a16="http://schemas.microsoft.com/office/drawing/2014/main" id="{8EA315E7-B0A2-4B78-BF55-0CBEA77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B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7CCAB557-17D3-4285-98C2-C89694B4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26 項測試守住 AI 匯入的關鍵邊界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BEFCFCB0-01A9-448F-9D5F-0B171E82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這些測試聚焦在模型最常出現、也最容易污染資料庫的輸出差異。</a:t>
            </a:r>
          </a:p>
        </p:txBody>
      </p:sp>
      <p:sp>
        <p:nvSpPr>
          <p:cNvPr id="5" name="footer-brand-12">
            <a:extLst xmlns:a="http://schemas.openxmlformats.org/drawingml/2006/main">
              <a:ext uri="{FF2B5EF4-FFF2-40B4-BE49-F238E27FC236}">
                <a16:creationId xmlns:a16="http://schemas.microsoft.com/office/drawing/2014/main" id="{3776F789-07D1-41B5-BE15-B468731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40DAFAD8-B145-4472-A4C0-4BC6722D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test-count-value">
            <a:extLst xmlns:a="http://schemas.openxmlformats.org/drawingml/2006/main">
              <a:ext uri="{FF2B5EF4-FFF2-40B4-BE49-F238E27FC236}">
                <a16:creationId xmlns:a16="http://schemas.microsoft.com/office/drawing/2014/main" id="{3D70E18B-1E45-4134-B668-96D7B4CA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26 / 26</a:t>
            </a:r>
          </a:p>
        </p:txBody>
      </p:sp>
      <p:sp>
        <p:nvSpPr>
          <p:cNvPr id="8" name="test-count-line">
            <a:extLst xmlns:a="http://schemas.openxmlformats.org/drawingml/2006/main">
              <a:ext uri="{FF2B5EF4-FFF2-40B4-BE49-F238E27FC236}">
                <a16:creationId xmlns:a16="http://schemas.microsoft.com/office/drawing/2014/main" id="{580B9236-4BD3-4FCB-8540-002DF76B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86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9" name="test-count-caption">
            <a:extLst xmlns:a="http://schemas.openxmlformats.org/drawingml/2006/main">
              <a:ext uri="{FF2B5EF4-FFF2-40B4-BE49-F238E27FC236}">
                <a16:creationId xmlns:a16="http://schemas.microsoft.com/office/drawing/2014/main" id="{89D4019E-FA94-44D9-AC90-0A01D5DD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2026/08/15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26 項測試全部通過</a:t>
            </a:r>
          </a:p>
        </p:txBody>
      </p:sp>
      <p:sp>
        <p:nvSpPr>
          <p:cNvPr id="10" name="check-0-bg">
            <a:extLst xmlns:a="http://schemas.openxmlformats.org/drawingml/2006/main">
              <a:ext uri="{FF2B5EF4-FFF2-40B4-BE49-F238E27FC236}">
                <a16:creationId xmlns:a16="http://schemas.microsoft.com/office/drawing/2014/main" id="{CDFBC17B-A1FF-42E8-955A-3FBA54F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1" name="check-0-title">
            <a:extLst xmlns:a="http://schemas.openxmlformats.org/drawingml/2006/main">
              <a:ext uri="{FF2B5EF4-FFF2-40B4-BE49-F238E27FC236}">
                <a16:creationId xmlns:a16="http://schemas.microsoft.com/office/drawing/2014/main" id="{1ECE4F6D-B73B-4D8E-9BB0-7E3AA50B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71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格式契約</a:t>
            </a:r>
          </a:p>
        </p:txBody>
      </p:sp>
      <p:sp>
        <p:nvSpPr>
          <p:cNvPr id="12" name="check-0-desc">
            <a:extLst xmlns:a="http://schemas.openxmlformats.org/drawingml/2006/main">
              <a:ext uri="{FF2B5EF4-FFF2-40B4-BE49-F238E27FC236}">
                <a16:creationId xmlns:a16="http://schemas.microsoft.com/office/drawing/2014/main" id="{2A561F6C-E301-4845-88B8-3FF93A81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輸出欄位、順序與提示契約</a:t>
            </a:r>
          </a:p>
        </p:txBody>
      </p:sp>
      <p:sp>
        <p:nvSpPr>
          <p:cNvPr id="13" name="check-1-bg">
            <a:extLst xmlns:a="http://schemas.openxmlformats.org/drawingml/2006/main">
              <a:ext uri="{FF2B5EF4-FFF2-40B4-BE49-F238E27FC236}">
                <a16:creationId xmlns:a16="http://schemas.microsoft.com/office/drawing/2014/main" id="{67D3180D-DD27-4285-B00A-18778D7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4" name="check-1-title">
            <a:extLst xmlns:a="http://schemas.openxmlformats.org/drawingml/2006/main">
              <a:ext uri="{FF2B5EF4-FFF2-40B4-BE49-F238E27FC236}">
                <a16:creationId xmlns:a16="http://schemas.microsoft.com/office/drawing/2014/main" id="{8D17C82D-6369-44E9-B75F-C9FADF1C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詞性合法</a:t>
            </a:r>
          </a:p>
        </p:txBody>
      </p:sp>
      <p:sp>
        <p:nvSpPr>
          <p:cNvPr id="15" name="check-1-desc">
            <a:extLst xmlns:a="http://schemas.openxmlformats.org/drawingml/2006/main">
              <a:ext uri="{FF2B5EF4-FFF2-40B4-BE49-F238E27FC236}">
                <a16:creationId xmlns:a16="http://schemas.microsoft.com/office/drawing/2014/main" id="{89971F5D-8052-4610-8AD1-F98CE7A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拒絕非法 tense，允許安全正規化</a:t>
            </a:r>
          </a:p>
        </p:txBody>
      </p:sp>
      <p:sp>
        <p:nvSpPr>
          <p:cNvPr id="16" name="check-2-bg">
            <a:extLst xmlns:a="http://schemas.openxmlformats.org/drawingml/2006/main">
              <a:ext uri="{FF2B5EF4-FFF2-40B4-BE49-F238E27FC236}">
                <a16:creationId xmlns:a16="http://schemas.microsoft.com/office/drawing/2014/main" id="{B99C783B-EAC1-4954-81AC-6530B783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7" name="check-2-title">
            <a:extLst xmlns:a="http://schemas.openxmlformats.org/drawingml/2006/main">
              <a:ext uri="{FF2B5EF4-FFF2-40B4-BE49-F238E27FC236}">
                <a16:creationId xmlns:a16="http://schemas.microsoft.com/office/drawing/2014/main" id="{77E242FE-4D26-4048-8140-2A39032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71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內容完整</a:t>
            </a:r>
          </a:p>
        </p:txBody>
      </p:sp>
      <p:sp>
        <p:nvSpPr>
          <p:cNvPr id="18" name="check-2-desc">
            <a:extLst xmlns:a="http://schemas.openxmlformats.org/drawingml/2006/main">
              <a:ext uri="{FF2B5EF4-FFF2-40B4-BE49-F238E27FC236}">
                <a16:creationId xmlns:a16="http://schemas.microsoft.com/office/drawing/2014/main" id="{15354CC0-912D-443B-BE11-25A9B819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95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補回漏字、維持輸入順序</a:t>
            </a:r>
          </a:p>
        </p:txBody>
      </p:sp>
      <p:sp>
        <p:nvSpPr>
          <p:cNvPr id="19" name="check-3-bg">
            <a:extLst xmlns:a="http://schemas.openxmlformats.org/drawingml/2006/main">
              <a:ext uri="{FF2B5EF4-FFF2-40B4-BE49-F238E27FC236}">
                <a16:creationId xmlns:a16="http://schemas.microsoft.com/office/drawing/2014/main" id="{AEE5049F-3D17-4786-BE64-37B294A4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check-3-title">
            <a:extLst xmlns:a="http://schemas.openxmlformats.org/drawingml/2006/main">
              <a:ext uri="{FF2B5EF4-FFF2-40B4-BE49-F238E27FC236}">
                <a16:creationId xmlns:a16="http://schemas.microsoft.com/office/drawing/2014/main" id="{D1C440AD-6A60-4230-80EB-FF55314C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去除重複</a:t>
            </a:r>
          </a:p>
        </p:txBody>
      </p:sp>
      <p:sp>
        <p:nvSpPr>
          <p:cNvPr id="21" name="check-3-desc">
            <a:extLst xmlns:a="http://schemas.openxmlformats.org/drawingml/2006/main">
              <a:ext uri="{FF2B5EF4-FFF2-40B4-BE49-F238E27FC236}">
                <a16:creationId xmlns:a16="http://schemas.microsoft.com/office/drawing/2014/main" id="{BC328F18-3FA1-44C6-9575-60291B63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958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合併重複 row 與重複字義</a:t>
            </a:r>
          </a:p>
        </p:txBody>
      </p:sp>
      <p:sp>
        <p:nvSpPr>
          <p:cNvPr id="22" name="check-4-bg">
            <a:extLst xmlns:a="http://schemas.openxmlformats.org/drawingml/2006/main">
              <a:ext uri="{FF2B5EF4-FFF2-40B4-BE49-F238E27FC236}">
                <a16:creationId xmlns:a16="http://schemas.microsoft.com/office/drawing/2014/main" id="{2286B04A-0BAA-4A63-8CAE-CEE82274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00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3" name="check-4-title">
            <a:extLst xmlns:a="http://schemas.openxmlformats.org/drawingml/2006/main">
              <a:ext uri="{FF2B5EF4-FFF2-40B4-BE49-F238E27FC236}">
                <a16:creationId xmlns:a16="http://schemas.microsoft.com/office/drawing/2014/main" id="{ACA0554C-F9D7-4DAE-B3CA-F04FBA9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72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降級回退</a:t>
            </a:r>
          </a:p>
        </p:txBody>
      </p:sp>
      <p:sp>
        <p:nvSpPr>
          <p:cNvPr id="24" name="check-4-desc">
            <a:extLst xmlns:a="http://schemas.openxmlformats.org/drawingml/2006/main">
              <a:ext uri="{FF2B5EF4-FFF2-40B4-BE49-F238E27FC236}">
                <a16:creationId xmlns:a16="http://schemas.microsoft.com/office/drawing/2014/main" id="{E4239043-22BB-4E8F-B405-B83D3CB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695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後續審查失敗時沿用可靠版本</a:t>
            </a:r>
          </a:p>
        </p:txBody>
      </p:sp>
      <p:sp>
        <p:nvSpPr>
          <p:cNvPr id="25" name="check-5-bg">
            <a:extLst xmlns:a="http://schemas.openxmlformats.org/drawingml/2006/main">
              <a:ext uri="{FF2B5EF4-FFF2-40B4-BE49-F238E27FC236}">
                <a16:creationId xmlns:a16="http://schemas.microsoft.com/office/drawing/2014/main" id="{318E3179-B036-4043-9F19-57AD70AA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00650"/>
            <a:ext cx="32575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check-5-title">
            <a:extLst xmlns:a="http://schemas.openxmlformats.org/drawingml/2006/main">
              <a:ext uri="{FF2B5EF4-FFF2-40B4-BE49-F238E27FC236}">
                <a16:creationId xmlns:a16="http://schemas.microsoft.com/office/drawing/2014/main" id="{887A3494-C8CB-4A50-8AE1-04732889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37210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API 限流</a:t>
            </a:r>
          </a:p>
        </p:txBody>
      </p:sp>
      <p:sp>
        <p:nvSpPr>
          <p:cNvPr id="27" name="check-5-desc">
            <a:extLst xmlns:a="http://schemas.openxmlformats.org/drawingml/2006/main">
              <a:ext uri="{FF2B5EF4-FFF2-40B4-BE49-F238E27FC236}">
                <a16:creationId xmlns:a16="http://schemas.microsoft.com/office/drawing/2014/main" id="{0578380C-F04A-4D2F-BCB7-D0DCFB7D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95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429 時切換 key 或交回協調器</a:t>
            </a:r>
          </a:p>
        </p:txBody>
      </p:sp>
      <p:sp>
        <p:nvSpPr>
          <p:cNvPr id="28" name="test-command">
            <a:extLst xmlns:a="http://schemas.openxmlformats.org/drawingml/2006/main">
              <a:ext uri="{FF2B5EF4-FFF2-40B4-BE49-F238E27FC236}">
                <a16:creationId xmlns:a16="http://schemas.microsoft.com/office/drawing/2014/main" id="{A11A62D0-E89A-40B3-90B5-EC5EC76B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674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驗證命令：python -m unittest tests.test_image_word_pipeline</a:t>
            </a:r>
          </a:p>
        </p:txBody>
      </p:sp>
    </p:spTree>
    <p:extLst>
      <p:ext uri="{BB962C8B-B14F-4D97-AF65-F5344CB8AC3E}">
        <p14:creationId xmlns:p14="http://schemas.microsoft.com/office/powerpoint/2010/main" val="1941874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9" name="Rectangle 5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Rectangle 5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7" name="Rectangle 5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6" name="Rectangle 5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op-rule-13">
            <a:extLst xmlns:a="http://schemas.openxmlformats.org/drawingml/2006/main">
              <a:ext uri="{FF2B5EF4-FFF2-40B4-BE49-F238E27FC236}">
                <a16:creationId xmlns:a16="http://schemas.microsoft.com/office/drawing/2014/main" id="{00A6D3BF-E781-4CD4-9CEF-928A487B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3">
            <a:extLst xmlns:a="http://schemas.openxmlformats.org/drawingml/2006/main">
              <a:ext uri="{FF2B5EF4-FFF2-40B4-BE49-F238E27FC236}">
                <a16:creationId xmlns:a16="http://schemas.microsoft.com/office/drawing/2014/main" id="{66D23832-003B-4368-8E41-F0A2864C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C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56AB9BE5-9028-4718-85AE-6E761301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五項工程決策支撐系統持續運作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E61E4392-CB38-425E-927C-C93071E9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我依照使用情境選擇技術，讓功能、資料與維運彼此配合。</a:t>
            </a:r>
          </a:p>
        </p:txBody>
      </p:sp>
      <p:sp>
        <p:nvSpPr>
          <p:cNvPr id="5" name="footer-brand-13">
            <a:extLst xmlns:a="http://schemas.openxmlformats.org/drawingml/2006/main">
              <a:ext uri="{FF2B5EF4-FFF2-40B4-BE49-F238E27FC236}">
                <a16:creationId xmlns:a16="http://schemas.microsoft.com/office/drawing/2014/main" id="{E64648CF-5979-4D92-827B-61B90FA4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A939C022-A553-4E13-B443-127CEE80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7" name="ledger-head-bg-0">
            <a:extLst xmlns:a="http://schemas.openxmlformats.org/drawingml/2006/main">
              <a:ext uri="{FF2B5EF4-FFF2-40B4-BE49-F238E27FC236}">
                <a16:creationId xmlns:a16="http://schemas.microsoft.com/office/drawing/2014/main" id="{BC3FA1AD-6896-4635-8727-0C7FFDEE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051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dger-head-0">
            <a:extLst xmlns:a="http://schemas.openxmlformats.org/drawingml/2006/main">
              <a:ext uri="{FF2B5EF4-FFF2-40B4-BE49-F238E27FC236}">
                <a16:creationId xmlns:a16="http://schemas.microsoft.com/office/drawing/2014/main" id="{E11FDA88-24D2-4F87-8436-0B922F45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面向</a:t>
            </a:r>
          </a:p>
        </p:txBody>
      </p:sp>
      <p:sp>
        <p:nvSpPr>
          <p:cNvPr id="9" name="ledger-head-bg-1">
            <a:extLst xmlns:a="http://schemas.openxmlformats.org/drawingml/2006/main">
              <a:ext uri="{FF2B5EF4-FFF2-40B4-BE49-F238E27FC236}">
                <a16:creationId xmlns:a16="http://schemas.microsoft.com/office/drawing/2014/main" id="{E384660F-A60F-4DC2-A861-AB75CF20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05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dger-head-1">
            <a:extLst xmlns:a="http://schemas.openxmlformats.org/drawingml/2006/main">
              <a:ext uri="{FF2B5EF4-FFF2-40B4-BE49-F238E27FC236}">
                <a16:creationId xmlns:a16="http://schemas.microsoft.com/office/drawing/2014/main" id="{ED98F255-2728-4364-ACFC-224A74FC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28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我的選擇</a:t>
            </a:r>
          </a:p>
        </p:txBody>
      </p:sp>
      <p:sp>
        <p:nvSpPr>
          <p:cNvPr id="11" name="ledger-head-bg-2">
            <a:extLst xmlns:a="http://schemas.openxmlformats.org/drawingml/2006/main">
              <a:ext uri="{FF2B5EF4-FFF2-40B4-BE49-F238E27FC236}">
                <a16:creationId xmlns:a16="http://schemas.microsoft.com/office/drawing/2014/main" id="{428090A5-BEE2-499A-9578-83EDFC3A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dger-head-2">
            <a:extLst xmlns:a="http://schemas.openxmlformats.org/drawingml/2006/main">
              <a:ext uri="{FF2B5EF4-FFF2-40B4-BE49-F238E27FC236}">
                <a16:creationId xmlns:a16="http://schemas.microsoft.com/office/drawing/2014/main" id="{16C7052B-A420-4A79-BF96-3279FAC6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289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技術組合</a:t>
            </a:r>
          </a:p>
        </p:txBody>
      </p:sp>
      <p:sp>
        <p:nvSpPr>
          <p:cNvPr id="13" name="ledger-head-bg-3">
            <a:extLst xmlns:a="http://schemas.openxmlformats.org/drawingml/2006/main">
              <a:ext uri="{FF2B5EF4-FFF2-40B4-BE49-F238E27FC236}">
                <a16:creationId xmlns:a16="http://schemas.microsoft.com/office/drawing/2014/main" id="{EA09699B-26F5-488A-BF4C-9321E76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051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dger-head-3">
            <a:extLst xmlns:a="http://schemas.openxmlformats.org/drawingml/2006/main">
              <a:ext uri="{FF2B5EF4-FFF2-40B4-BE49-F238E27FC236}">
                <a16:creationId xmlns:a16="http://schemas.microsoft.com/office/drawing/2014/main" id="{BB9CE601-7145-4289-9F97-F24AD29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目的</a:t>
            </a:r>
          </a:p>
        </p:txBody>
      </p:sp>
      <p:sp>
        <p:nvSpPr>
          <p:cNvPr id="15" name="ledger-0-0-bg">
            <a:extLst xmlns:a="http://schemas.openxmlformats.org/drawingml/2006/main">
              <a:ext uri="{FF2B5EF4-FFF2-40B4-BE49-F238E27FC236}">
                <a16:creationId xmlns:a16="http://schemas.microsoft.com/office/drawing/2014/main" id="{66DF8AA6-C671-4C19-A16E-02C2C6F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6" name="ledger-0-0">
            <a:extLst xmlns:a="http://schemas.openxmlformats.org/drawingml/2006/main">
              <a:ext uri="{FF2B5EF4-FFF2-40B4-BE49-F238E27FC236}">
                <a16:creationId xmlns:a16="http://schemas.microsoft.com/office/drawing/2014/main" id="{E40FD6E4-4AD4-4B97-B447-5FA205C9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帳號與權限</a:t>
            </a:r>
          </a:p>
        </p:txBody>
      </p:sp>
      <p:sp>
        <p:nvSpPr>
          <p:cNvPr id="17" name="ledger-0-1-bg">
            <a:extLst xmlns:a="http://schemas.openxmlformats.org/drawingml/2006/main">
              <a:ext uri="{FF2B5EF4-FFF2-40B4-BE49-F238E27FC236}">
                <a16:creationId xmlns:a16="http://schemas.microsoft.com/office/drawing/2014/main" id="{EF0674E6-422E-47FC-A189-4C2968D0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8" name="ledger-0-1">
            <a:extLst xmlns:a="http://schemas.openxmlformats.org/drawingml/2006/main">
              <a:ext uri="{FF2B5EF4-FFF2-40B4-BE49-F238E27FC236}">
                <a16:creationId xmlns:a16="http://schemas.microsoft.com/office/drawing/2014/main" id="{E8594B49-0CED-4718-9C88-7FD943EE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依角色控管功能</a:t>
            </a:r>
          </a:p>
        </p:txBody>
      </p:sp>
      <p:sp>
        <p:nvSpPr>
          <p:cNvPr id="19" name="ledger-0-2-bg">
            <a:extLst xmlns:a="http://schemas.openxmlformats.org/drawingml/2006/main">
              <a:ext uri="{FF2B5EF4-FFF2-40B4-BE49-F238E27FC236}">
                <a16:creationId xmlns:a16="http://schemas.microsoft.com/office/drawing/2014/main" id="{834EE104-7572-4E0F-9138-30EE761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62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0" name="ledger-0-2">
            <a:extLst xmlns:a="http://schemas.openxmlformats.org/drawingml/2006/main">
              <a:ext uri="{FF2B5EF4-FFF2-40B4-BE49-F238E27FC236}">
                <a16:creationId xmlns:a16="http://schemas.microsoft.com/office/drawing/2014/main" id="{4FCCDD9A-CD49-4773-961A-9D3CA93A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147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JWT／中介層</a:t>
            </a:r>
          </a:p>
        </p:txBody>
      </p:sp>
      <p:sp>
        <p:nvSpPr>
          <p:cNvPr id="21" name="ledger-0-3-bg">
            <a:extLst xmlns:a="http://schemas.openxmlformats.org/drawingml/2006/main">
              <a:ext uri="{FF2B5EF4-FFF2-40B4-BE49-F238E27FC236}">
                <a16:creationId xmlns:a16="http://schemas.microsoft.com/office/drawing/2014/main" id="{FE682207-88C9-4DAE-AD71-A0242DBF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2" name="ledger-0-3">
            <a:extLst xmlns:a="http://schemas.openxmlformats.org/drawingml/2006/main">
              <a:ext uri="{FF2B5EF4-FFF2-40B4-BE49-F238E27FC236}">
                <a16:creationId xmlns:a16="http://schemas.microsoft.com/office/drawing/2014/main" id="{F79915E1-4149-4FC7-89D0-1C6E13C9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區分學生與管理功能</a:t>
            </a:r>
          </a:p>
        </p:txBody>
      </p:sp>
      <p:sp>
        <p:nvSpPr>
          <p:cNvPr id="23" name="ledger-1-0-bg">
            <a:extLst xmlns:a="http://schemas.openxmlformats.org/drawingml/2006/main">
              <a:ext uri="{FF2B5EF4-FFF2-40B4-BE49-F238E27FC236}">
                <a16:creationId xmlns:a16="http://schemas.microsoft.com/office/drawing/2014/main" id="{B3F5DAA0-6CE1-4D32-94FF-DDFC2098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100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4" name="ledger-1-0">
            <a:extLst xmlns:a="http://schemas.openxmlformats.org/drawingml/2006/main">
              <a:ext uri="{FF2B5EF4-FFF2-40B4-BE49-F238E27FC236}">
                <a16:creationId xmlns:a16="http://schemas.microsoft.com/office/drawing/2014/main" id="{0C701E4B-C1EB-4F26-9458-69091700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624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學習資料</a:t>
            </a:r>
          </a:p>
        </p:txBody>
      </p:sp>
      <p:sp>
        <p:nvSpPr>
          <p:cNvPr id="25" name="ledger-1-1-bg">
            <a:extLst xmlns:a="http://schemas.openxmlformats.org/drawingml/2006/main">
              <a:ext uri="{FF2B5EF4-FFF2-40B4-BE49-F238E27FC236}">
                <a16:creationId xmlns:a16="http://schemas.microsoft.com/office/drawing/2014/main" id="{942B3D70-2151-4DA0-A98D-9F8A3FB6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100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6" name="ledger-1-1">
            <a:extLst xmlns:a="http://schemas.openxmlformats.org/drawingml/2006/main">
              <a:ext uri="{FF2B5EF4-FFF2-40B4-BE49-F238E27FC236}">
                <a16:creationId xmlns:a16="http://schemas.microsoft.com/office/drawing/2014/main" id="{5583730A-BBF7-4B1C-8FEE-422ACC5B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三個資料庫分工</a:t>
            </a:r>
          </a:p>
        </p:txBody>
      </p:sp>
      <p:sp>
        <p:nvSpPr>
          <p:cNvPr id="27" name="ledger-1-2-bg">
            <a:extLst xmlns:a="http://schemas.openxmlformats.org/drawingml/2006/main">
              <a:ext uri="{FF2B5EF4-FFF2-40B4-BE49-F238E27FC236}">
                <a16:creationId xmlns:a16="http://schemas.microsoft.com/office/drawing/2014/main" id="{C076A1FE-3CE4-4267-88DE-7A2851D8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100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28" name="ledger-1-2">
            <a:extLst xmlns:a="http://schemas.openxmlformats.org/drawingml/2006/main">
              <a:ext uri="{FF2B5EF4-FFF2-40B4-BE49-F238E27FC236}">
                <a16:creationId xmlns:a16="http://schemas.microsoft.com/office/drawing/2014/main" id="{D96A32D6-2886-49B3-8FB4-BDB2390B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624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SQLite 三庫</a:t>
            </a:r>
          </a:p>
        </p:txBody>
      </p:sp>
      <p:sp>
        <p:nvSpPr>
          <p:cNvPr id="29" name="ledger-1-3-bg">
            <a:extLst xmlns:a="http://schemas.openxmlformats.org/drawingml/2006/main">
              <a:ext uri="{FF2B5EF4-FFF2-40B4-BE49-F238E27FC236}">
                <a16:creationId xmlns:a16="http://schemas.microsoft.com/office/drawing/2014/main" id="{62425619-2140-4B3E-AD8A-37E16762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0" name="ledger-1-3">
            <a:extLst xmlns:a="http://schemas.openxmlformats.org/drawingml/2006/main">
              <a:ext uri="{FF2B5EF4-FFF2-40B4-BE49-F238E27FC236}">
                <a16:creationId xmlns:a16="http://schemas.microsoft.com/office/drawing/2014/main" id="{48297FF3-B050-497F-A0FD-BD4A2E7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降低耦合並保留作答紀錄</a:t>
            </a:r>
          </a:p>
        </p:txBody>
      </p:sp>
      <p:sp>
        <p:nvSpPr>
          <p:cNvPr id="31" name="ledger-2-0-bg">
            <a:extLst xmlns:a="http://schemas.openxmlformats.org/drawingml/2006/main">
              <a:ext uri="{FF2B5EF4-FFF2-40B4-BE49-F238E27FC236}">
                <a16:creationId xmlns:a16="http://schemas.microsoft.com/office/drawing/2014/main" id="{AF92493E-9508-41F3-A395-FA4A080B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577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2" name="ledger-2-0">
            <a:extLst xmlns:a="http://schemas.openxmlformats.org/drawingml/2006/main">
              <a:ext uri="{FF2B5EF4-FFF2-40B4-BE49-F238E27FC236}">
                <a16:creationId xmlns:a16="http://schemas.microsoft.com/office/drawing/2014/main" id="{F89A6ED0-FCA1-4608-9D90-DA96F6F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內容匯入</a:t>
            </a:r>
          </a:p>
        </p:txBody>
      </p:sp>
      <p:sp>
        <p:nvSpPr>
          <p:cNvPr id="33" name="ledger-2-1-bg">
            <a:extLst xmlns:a="http://schemas.openxmlformats.org/drawingml/2006/main">
              <a:ext uri="{FF2B5EF4-FFF2-40B4-BE49-F238E27FC236}">
                <a16:creationId xmlns:a16="http://schemas.microsoft.com/office/drawing/2014/main" id="{B4158228-1D74-4903-B337-F2018F43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4" name="ledger-2-1">
            <a:extLst xmlns:a="http://schemas.openxmlformats.org/drawingml/2006/main">
              <a:ext uri="{FF2B5EF4-FFF2-40B4-BE49-F238E27FC236}">
                <a16:creationId xmlns:a16="http://schemas.microsoft.com/office/drawing/2014/main" id="{CFC4B306-9E4D-4474-9BDA-671B2B89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辨識後進入三階段審查</a:t>
            </a:r>
          </a:p>
        </p:txBody>
      </p:sp>
      <p:sp>
        <p:nvSpPr>
          <p:cNvPr id="35" name="ledger-2-2-bg">
            <a:extLst xmlns:a="http://schemas.openxmlformats.org/drawingml/2006/main">
              <a:ext uri="{FF2B5EF4-FFF2-40B4-BE49-F238E27FC236}">
                <a16:creationId xmlns:a16="http://schemas.microsoft.com/office/drawing/2014/main" id="{D0ABE1FD-EB7C-41FB-A800-8135D890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77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6" name="ledger-2-2">
            <a:extLst xmlns:a="http://schemas.openxmlformats.org/drawingml/2006/main">
              <a:ext uri="{FF2B5EF4-FFF2-40B4-BE49-F238E27FC236}">
                <a16:creationId xmlns:a16="http://schemas.microsoft.com/office/drawing/2014/main" id="{8D95FFD1-9EA8-42BB-9EC8-717D57DB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OCR／Gemini</a:t>
            </a:r>
          </a:p>
        </p:txBody>
      </p:sp>
      <p:sp>
        <p:nvSpPr>
          <p:cNvPr id="37" name="ledger-2-3-bg">
            <a:extLst xmlns:a="http://schemas.openxmlformats.org/drawingml/2006/main">
              <a:ext uri="{FF2B5EF4-FFF2-40B4-BE49-F238E27FC236}">
                <a16:creationId xmlns:a16="http://schemas.microsoft.com/office/drawing/2014/main" id="{B5717AE0-AB5E-4D0C-AE6A-1EEAAEC6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577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38" name="ledger-2-3">
            <a:extLst xmlns:a="http://schemas.openxmlformats.org/drawingml/2006/main">
              <a:ext uri="{FF2B5EF4-FFF2-40B4-BE49-F238E27FC236}">
                <a16:creationId xmlns:a16="http://schemas.microsoft.com/office/drawing/2014/main" id="{DF6DB040-BE27-44EE-921B-F1C9644B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提高建庫效率並阻擋錯誤</a:t>
            </a:r>
          </a:p>
        </p:txBody>
      </p:sp>
      <p:sp>
        <p:nvSpPr>
          <p:cNvPr id="39" name="ledger-3-0-bg">
            <a:extLst xmlns:a="http://schemas.openxmlformats.org/drawingml/2006/main">
              <a:ext uri="{FF2B5EF4-FFF2-40B4-BE49-F238E27FC236}">
                <a16:creationId xmlns:a16="http://schemas.microsoft.com/office/drawing/2014/main" id="{D486C2A7-2F43-4EAD-8E6C-7AC29D64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0" name="ledger-3-0">
            <a:extLst xmlns:a="http://schemas.openxmlformats.org/drawingml/2006/main">
              <a:ext uri="{FF2B5EF4-FFF2-40B4-BE49-F238E27FC236}">
                <a16:creationId xmlns:a16="http://schemas.microsoft.com/office/drawing/2014/main" id="{696DD5FC-70C7-4A0E-BF7F-33C42397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發音服務</a:t>
            </a:r>
          </a:p>
        </p:txBody>
      </p:sp>
      <p:sp>
        <p:nvSpPr>
          <p:cNvPr id="41" name="ledger-3-1-bg">
            <a:extLst xmlns:a="http://schemas.openxmlformats.org/drawingml/2006/main">
              <a:ext uri="{FF2B5EF4-FFF2-40B4-BE49-F238E27FC236}">
                <a16:creationId xmlns:a16="http://schemas.microsoft.com/office/drawing/2014/main" id="{BB018862-B37C-473E-B94F-6936484E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2" name="ledger-3-1">
            <a:extLst xmlns:a="http://schemas.openxmlformats.org/drawingml/2006/main">
              <a:ext uri="{FF2B5EF4-FFF2-40B4-BE49-F238E27FC236}">
                <a16:creationId xmlns:a16="http://schemas.microsoft.com/office/drawing/2014/main" id="{83E6BFEE-68D9-4CA1-82C2-7B2DB49E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578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字典音源優先，TTS 備援</a:t>
            </a:r>
          </a:p>
        </p:txBody>
      </p:sp>
      <p:sp>
        <p:nvSpPr>
          <p:cNvPr id="43" name="ledger-3-2-bg">
            <a:extLst xmlns:a="http://schemas.openxmlformats.org/drawingml/2006/main">
              <a:ext uri="{FF2B5EF4-FFF2-40B4-BE49-F238E27FC236}">
                <a16:creationId xmlns:a16="http://schemas.microsoft.com/office/drawing/2014/main" id="{B4AC8171-5063-4BE5-8FA7-EB79AD80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054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4" name="ledger-3-2">
            <a:extLst xmlns:a="http://schemas.openxmlformats.org/drawingml/2006/main">
              <a:ext uri="{FF2B5EF4-FFF2-40B4-BE49-F238E27FC236}">
                <a16:creationId xmlns:a16="http://schemas.microsoft.com/office/drawing/2014/main" id="{8BD55BF9-2652-4790-BC88-0739DE6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快取／fallback</a:t>
            </a:r>
          </a:p>
        </p:txBody>
      </p:sp>
      <p:sp>
        <p:nvSpPr>
          <p:cNvPr id="45" name="ledger-3-3-bg">
            <a:extLst xmlns:a="http://schemas.openxmlformats.org/drawingml/2006/main">
              <a:ext uri="{FF2B5EF4-FFF2-40B4-BE49-F238E27FC236}">
                <a16:creationId xmlns:a16="http://schemas.microsoft.com/office/drawing/2014/main" id="{B8BB0C9F-88AE-4B9A-AB16-132B0051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054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6" name="ledger-3-3">
            <a:extLst xmlns:a="http://schemas.openxmlformats.org/drawingml/2006/main">
              <a:ext uri="{FF2B5EF4-FFF2-40B4-BE49-F238E27FC236}">
                <a16:creationId xmlns:a16="http://schemas.microsoft.com/office/drawing/2014/main" id="{DB497396-DFFD-4A07-9977-6B06FBBB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兼顧正確性與可用性</a:t>
            </a:r>
          </a:p>
        </p:txBody>
      </p:sp>
      <p:sp>
        <p:nvSpPr>
          <p:cNvPr id="47" name="ledger-4-0-bg">
            <a:extLst xmlns:a="http://schemas.openxmlformats.org/drawingml/2006/main">
              <a:ext uri="{FF2B5EF4-FFF2-40B4-BE49-F238E27FC236}">
                <a16:creationId xmlns:a16="http://schemas.microsoft.com/office/drawing/2014/main" id="{86CE3DA3-749C-4E32-9D32-011F7825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531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48" name="ledger-4-0">
            <a:extLst xmlns:a="http://schemas.openxmlformats.org/drawingml/2006/main">
              <a:ext uri="{FF2B5EF4-FFF2-40B4-BE49-F238E27FC236}">
                <a16:creationId xmlns:a16="http://schemas.microsoft.com/office/drawing/2014/main" id="{1D789882-EDC2-48A8-A60B-64573BF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公開部署</a:t>
            </a:r>
          </a:p>
        </p:txBody>
      </p:sp>
      <p:sp>
        <p:nvSpPr>
          <p:cNvPr id="49" name="ledger-4-1-bg">
            <a:extLst xmlns:a="http://schemas.openxmlformats.org/drawingml/2006/main">
              <a:ext uri="{FF2B5EF4-FFF2-40B4-BE49-F238E27FC236}">
                <a16:creationId xmlns:a16="http://schemas.microsoft.com/office/drawing/2014/main" id="{CCE8BB23-F75F-43E3-9F5F-5F5DEA3E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531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0" name="ledger-4-1">
            <a:extLst xmlns:a="http://schemas.openxmlformats.org/drawingml/2006/main">
              <a:ext uri="{FF2B5EF4-FFF2-40B4-BE49-F238E27FC236}">
                <a16:creationId xmlns:a16="http://schemas.microsoft.com/office/drawing/2014/main" id="{13271A14-DA6E-4A52-A408-43E5342D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05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將服務連上公開網域</a:t>
            </a:r>
          </a:p>
        </p:txBody>
      </p:sp>
      <p:sp>
        <p:nvSpPr>
          <p:cNvPr id="51" name="ledger-4-2-bg">
            <a:extLst xmlns:a="http://schemas.openxmlformats.org/drawingml/2006/main">
              <a:ext uri="{FF2B5EF4-FFF2-40B4-BE49-F238E27FC236}">
                <a16:creationId xmlns:a16="http://schemas.microsoft.com/office/drawing/2014/main" id="{ABBCD9A6-9665-4C03-9D78-D02EB994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531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2" name="ledger-4-2">
            <a:extLst xmlns:a="http://schemas.openxmlformats.org/drawingml/2006/main">
              <a:ext uri="{FF2B5EF4-FFF2-40B4-BE49-F238E27FC236}">
                <a16:creationId xmlns:a16="http://schemas.microsoft.com/office/drawing/2014/main" id="{C55D15C2-4F45-46B2-8E55-FB31163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055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HTTPS／DuckDNS</a:t>
            </a:r>
          </a:p>
        </p:txBody>
      </p:sp>
      <p:sp>
        <p:nvSpPr>
          <p:cNvPr id="53" name="ledger-4-3-bg">
            <a:extLst xmlns:a="http://schemas.openxmlformats.org/drawingml/2006/main">
              <a:ext uri="{FF2B5EF4-FFF2-40B4-BE49-F238E27FC236}">
                <a16:creationId xmlns:a16="http://schemas.microsoft.com/office/drawing/2014/main" id="{37196CD3-1225-4DD8-B802-62A57FAD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531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54" name="ledger-4-3">
            <a:extLst xmlns:a="http://schemas.openxmlformats.org/drawingml/2006/main">
              <a:ext uri="{FF2B5EF4-FFF2-40B4-BE49-F238E27FC236}">
                <a16:creationId xmlns:a16="http://schemas.microsoft.com/office/drawing/2014/main" id="{C70BE778-95A4-4A67-92F8-297E1F11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讓同學能直接使用與回饋</a:t>
            </a:r>
          </a:p>
        </p:txBody>
      </p:sp>
    </p:spTree>
    <p:extLst>
      <p:ext uri="{BB962C8B-B14F-4D97-AF65-F5344CB8AC3E}">
        <p14:creationId xmlns:p14="http://schemas.microsoft.com/office/powerpoint/2010/main" val="5866543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op-rule-14">
            <a:extLst xmlns:a="http://schemas.openxmlformats.org/drawingml/2006/main">
              <a:ext uri="{FF2B5EF4-FFF2-40B4-BE49-F238E27FC236}">
                <a16:creationId xmlns:a16="http://schemas.microsoft.com/office/drawing/2014/main" id="{B0D8EC90-B4BE-4165-89C4-BAE84D65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4">
            <a:extLst xmlns:a="http://schemas.openxmlformats.org/drawingml/2006/main">
              <a:ext uri="{FF2B5EF4-FFF2-40B4-BE49-F238E27FC236}">
                <a16:creationId xmlns:a16="http://schemas.microsoft.com/office/drawing/2014/main" id="{EBC678BF-0E18-488A-891D-FEC23A00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D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D9A96FA3-76C6-420E-B74A-159BD7A8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我在專案中負責的核心工作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D280291E-7F2C-4741-A29B-F03AE8F9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我從問題定義開始，持續做出系統規格、品質與迭代決策。</a:t>
            </a:r>
          </a:p>
        </p:txBody>
      </p:sp>
      <p:sp>
        <p:nvSpPr>
          <p:cNvPr id="5" name="footer-brand-14">
            <a:extLst xmlns:a="http://schemas.openxmlformats.org/drawingml/2006/main">
              <a:ext uri="{FF2B5EF4-FFF2-40B4-BE49-F238E27FC236}">
                <a16:creationId xmlns:a16="http://schemas.microsoft.com/office/drawing/2014/main" id="{B08EDC30-E96C-4F7F-A396-68FF09CB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B0C6883C-CB3A-4C20-ADA1-A36C6C05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human-panel">
            <a:extLst xmlns:a="http://schemas.openxmlformats.org/drawingml/2006/main">
              <a:ext uri="{FF2B5EF4-FFF2-40B4-BE49-F238E27FC236}">
                <a16:creationId xmlns:a16="http://schemas.microsoft.com/office/drawing/2014/main" id="{E2AE3B74-7ABA-41F9-8279-DF85995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0350"/>
            <a:ext cx="476250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uman-kicker">
            <a:extLst xmlns:a="http://schemas.openxmlformats.org/drawingml/2006/main">
              <a:ext uri="{FF2B5EF4-FFF2-40B4-BE49-F238E27FC236}">
                <a16:creationId xmlns:a16="http://schemas.microsoft.com/office/drawing/2014/main" id="{37D11D9E-65D7-498C-B4C4-8DBEB71D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產品與需求</a:t>
            </a:r>
          </a:p>
        </p:txBody>
      </p:sp>
      <p:sp>
        <p:nvSpPr>
          <p:cNvPr id="9" name="human-title">
            <a:extLst xmlns:a="http://schemas.openxmlformats.org/drawingml/2006/main">
              <a:ext uri="{FF2B5EF4-FFF2-40B4-BE49-F238E27FC236}">
                <a16:creationId xmlns:a16="http://schemas.microsoft.com/office/drawing/2014/main" id="{D89961E6-7557-4A5A-848A-B6700945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576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把學習痛點轉成系統規格</a:t>
            </a:r>
          </a:p>
        </p:txBody>
      </p:sp>
      <p:sp>
        <p:nvSpPr>
          <p:cNvPr id="10" name="human-items">
            <a:extLst xmlns:a="http://schemas.openxmlformats.org/drawingml/2006/main">
              <a:ext uri="{FF2B5EF4-FFF2-40B4-BE49-F238E27FC236}">
                <a16:creationId xmlns:a16="http://schemas.microsoft.com/office/drawing/2014/main" id="{2B2831DB-1263-4973-8B49-A29C836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00550"/>
            <a:ext cx="3714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觀察單字學習情境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設計理解、練習、追蹤流程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拆解需求並安排優先順序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E5ECF3"/>
                </a:solidFill>
                <a:latin typeface="Microsoft JhengHei"/>
                <a:ea typeface="Microsoft JhengHei"/>
                <a:cs typeface="Microsoft JhengHei"/>
              </a:rPr>
              <a:t>• 根據使用情況持續調整</a:t>
            </a:r>
          </a:p>
        </p:txBody>
      </p:sp>
      <p:sp>
        <p:nvSpPr>
          <p:cNvPr id="11" name="agent-panel">
            <a:extLst xmlns:a="http://schemas.openxmlformats.org/drawingml/2006/main">
              <a:ext uri="{FF2B5EF4-FFF2-40B4-BE49-F238E27FC236}">
                <a16:creationId xmlns:a16="http://schemas.microsoft.com/office/drawing/2014/main" id="{ED591DB7-E265-4C79-BE07-584FA241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00350"/>
            <a:ext cx="523875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C7"/>
            </a:solidFill>
            <a:prstDash val="solid"/>
          </a:ln>
        </p:spPr>
      </p:sp>
      <p:sp>
        <p:nvSpPr>
          <p:cNvPr id="12" name="agent-kicker">
            <a:extLst xmlns:a="http://schemas.openxmlformats.org/drawingml/2006/main">
              <a:ext uri="{FF2B5EF4-FFF2-40B4-BE49-F238E27FC236}">
                <a16:creationId xmlns:a16="http://schemas.microsoft.com/office/drawing/2014/main" id="{2D8F6865-7835-4D3D-838E-D986251F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3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品質與維運</a:t>
            </a:r>
          </a:p>
        </p:txBody>
      </p:sp>
      <p:sp>
        <p:nvSpPr>
          <p:cNvPr id="13" name="agent-title">
            <a:extLst xmlns:a="http://schemas.openxmlformats.org/drawingml/2006/main">
              <a:ext uri="{FF2B5EF4-FFF2-40B4-BE49-F238E27FC236}">
                <a16:creationId xmlns:a16="http://schemas.microsoft.com/office/drawing/2014/main" id="{6300293D-D402-453B-B597-976DF28E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57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讓每次改動都能被測試與驗收</a:t>
            </a:r>
          </a:p>
        </p:txBody>
      </p:sp>
      <p:sp>
        <p:nvSpPr>
          <p:cNvPr id="14" name="agent-items">
            <a:extLst xmlns:a="http://schemas.openxmlformats.org/drawingml/2006/main">
              <a:ext uri="{FF2B5EF4-FFF2-40B4-BE49-F238E27FC236}">
                <a16:creationId xmlns:a16="http://schemas.microsoft.com/office/drawing/2014/main" id="{A5E95103-7F76-4A58-924D-7A93523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00550"/>
            <a:ext cx="4286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設定資料格式與錯誤規則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測試主要功能與異常情境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檢查 AI 內容並要求修正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維護公開服務與學習資料</a:t>
            </a:r>
          </a:p>
        </p:txBody>
      </p:sp>
      <p:sp>
        <p:nvSpPr>
          <p:cNvPr id="15" name="ai-disclosure-close">
            <a:extLst xmlns:a="http://schemas.openxmlformats.org/drawingml/2006/main">
              <a:ext uri="{FF2B5EF4-FFF2-40B4-BE49-F238E27FC236}">
                <a16:creationId xmlns:a16="http://schemas.microsoft.com/office/drawing/2014/main" id="{DA22D5F7-8407-4F9B-B7A3-F33512E0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5341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這個專案讓我從完成功能，進一步學會對整體系統負責。</a:t>
            </a:r>
          </a:p>
        </p:txBody>
      </p:sp>
    </p:spTree>
    <p:extLst>
      <p:ext uri="{BB962C8B-B14F-4D97-AF65-F5344CB8AC3E}">
        <p14:creationId xmlns:p14="http://schemas.microsoft.com/office/powerpoint/2010/main" val="5830005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5" name="Rectangle 2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op-rule-15">
            <a:extLst xmlns:a="http://schemas.openxmlformats.org/drawingml/2006/main">
              <a:ext uri="{FF2B5EF4-FFF2-40B4-BE49-F238E27FC236}">
                <a16:creationId xmlns:a16="http://schemas.microsoft.com/office/drawing/2014/main" id="{A65B2EFC-B696-4E54-B2C0-E8306A69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15">
            <a:extLst xmlns:a="http://schemas.openxmlformats.org/drawingml/2006/main">
              <a:ext uri="{FF2B5EF4-FFF2-40B4-BE49-F238E27FC236}">
                <a16:creationId xmlns:a16="http://schemas.microsoft.com/office/drawing/2014/main" id="{71F82D00-549A-450B-9045-DCED7717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E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AF8D973C-A232-4854-B01A-A9A00E6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公開服務與展示資料的隱私保護</a:t>
            </a:r>
          </a:p>
        </p:txBody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A3F19373-CF17-48A0-AEF9-4E9C9B01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服務可由網路連線；展示時，我只使用去識別化畫面。</a:t>
            </a:r>
          </a:p>
        </p:txBody>
      </p:sp>
      <p:sp>
        <p:nvSpPr>
          <p:cNvPr id="5" name="footer-brand-15">
            <a:extLst xmlns:a="http://schemas.openxmlformats.org/drawingml/2006/main">
              <a:ext uri="{FF2B5EF4-FFF2-40B4-BE49-F238E27FC236}">
                <a16:creationId xmlns:a16="http://schemas.microsoft.com/office/drawing/2014/main" id="{100B9725-8AF3-4948-84C4-63BDD21C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· 詹秉睿</a:t>
            </a:r>
          </a:p>
        </p:txBody>
      </p:sp>
      <p:sp>
        <p:nvSpPr>
          <p:cNvPr id="6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63DEA844-953A-47D2-A57C-5407CEF7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ffb74f5694727"/>
          <a:srcRect xmlns:a="http://schemas.openxmlformats.org/drawingml/2006/main" l="19" t="0" r="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47800" y="2743200"/>
            <a:ext cx="5619750" cy="3162300"/>
          </a:xfrm>
          <a:prstGeom xmlns:a="http://schemas.openxmlformats.org/drawingml/2006/main" prst="roundRect">
            <a:avLst>
              <a:gd name="adj" fmla="val 4819"/>
            </a:avLst>
          </a:prstGeom>
        </p:spPr>
      </p:pic>
      <p:sp>
        <p:nvSpPr>
          <p:cNvPr id="8" name="public-status">
            <a:extLst xmlns:a="http://schemas.openxmlformats.org/drawingml/2006/main">
              <a:ext uri="{FF2B5EF4-FFF2-40B4-BE49-F238E27FC236}">
                <a16:creationId xmlns:a16="http://schemas.microsoft.com/office/drawing/2014/main" id="{5E970ECD-4544-4B70-AA44-7272B07B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公開 HTTPS 入口</a:t>
            </a:r>
          </a:p>
        </p:txBody>
      </p:sp>
      <p:sp>
        <p:nvSpPr>
          <p:cNvPr id="9" name="public-link">
            <a:extLst xmlns:a="http://schemas.openxmlformats.org/drawingml/2006/main">
              <a:ext uri="{FF2B5EF4-FFF2-40B4-BE49-F238E27FC236}">
                <a16:creationId xmlns:a16="http://schemas.microsoft.com/office/drawing/2014/main" id="{03E56530-FFDF-4ED4-8DC8-AA0D2564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a6bd7cb198c242e9"/>
              </a:rPr>
              <a:t>words.ytconch.duckdns.org</a:t>
            </a:r>
          </a:p>
        </p:txBody>
      </p:sp>
      <p:sp>
        <p:nvSpPr>
          <p:cNvPr id="10" name="privacy-title">
            <a:extLst xmlns:a="http://schemas.openxmlformats.org/drawingml/2006/main">
              <a:ext uri="{FF2B5EF4-FFF2-40B4-BE49-F238E27FC236}">
                <a16:creationId xmlns:a16="http://schemas.microsoft.com/office/drawing/2014/main" id="{C0FECF2B-182D-42E6-BEC7-039D8F8D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95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我的展示原則</a:t>
            </a:r>
          </a:p>
        </p:txBody>
      </p:sp>
      <p:sp>
        <p:nvSpPr>
          <p:cNvPr id="11" name="privacy-items">
            <a:extLst xmlns:a="http://schemas.openxmlformats.org/drawingml/2006/main">
              <a:ext uri="{FF2B5EF4-FFF2-40B4-BE49-F238E27FC236}">
                <a16:creationId xmlns:a16="http://schemas.microsoft.com/office/drawing/2014/main" id="{288F0822-7389-4AE5-98BC-1DFDD926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使用獨立的展示資料副本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將帳號與顯示名稱改為示範名稱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不呈現同學帳號、IP 與復原資料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• 不在正式服務上修改資料</a:t>
            </a:r>
          </a:p>
        </p:txBody>
      </p:sp>
      <p:sp>
        <p:nvSpPr>
          <p:cNvPr id="12" name="data-defs">
            <a:extLst xmlns:a="http://schemas.openxmlformats.org/drawingml/2006/main">
              <a:ext uri="{FF2B5EF4-FFF2-40B4-BE49-F238E27FC236}">
                <a16:creationId xmlns:a16="http://schemas.microsoft.com/office/drawing/2014/main" id="{E1A1BF6A-F9D5-40FA-AB7F-FCF42CF9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81750"/>
            <a:ext cx="1002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公開服務已累積 38 位造訪者、13 位作答者與 10,011 筆作答紀錄。</a:t>
            </a:r>
          </a:p>
        </p:txBody>
      </p:sp>
    </p:spTree>
    <p:extLst>
      <p:ext uri="{BB962C8B-B14F-4D97-AF65-F5344CB8AC3E}">
        <p14:creationId xmlns:p14="http://schemas.microsoft.com/office/powerpoint/2010/main" val="90873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2026-08-15T14:41:58.2910000Z</dcterms:created>
  <dcterms:modified xsi:type="dcterms:W3CDTF">2026-08-15T14:41:58.2910000Z</dcterms:modified>
</coreProperties>
</file>