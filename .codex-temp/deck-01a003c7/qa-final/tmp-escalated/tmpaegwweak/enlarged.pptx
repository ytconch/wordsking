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b4a26d030484037" Type="http://schemas.openxmlformats.org/officeDocument/2006/relationships/extended-properties" Target="docProps/app.xml"/><Relationship Id="Rb88b45614bb544d5" Type="http://schemas.openxmlformats.org/package/2006/relationships/metadata/core-properties" Target="docProps/core.xml"/><Relationship Id="Rd5c417b04fa8400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f620d040d0450c"/>
  </p:sldMasterIdLst>
  <p:notesMasterIdLst>
    <p:notesMasterId xmlns:r="http://schemas.openxmlformats.org/officeDocument/2006/relationships" r:id="Rcea37293e1b6458c"/>
  </p:notesMasterIdLst>
  <p:sldIdLst>
    <p:sldId xmlns:r="http://schemas.openxmlformats.org/officeDocument/2006/relationships" id="256" r:id="R64e4a04f2d584fef"/>
    <p:sldId xmlns:r="http://schemas.openxmlformats.org/officeDocument/2006/relationships" id="257" r:id="R150b2ba6bade4285"/>
    <p:sldId xmlns:r="http://schemas.openxmlformats.org/officeDocument/2006/relationships" id="258" r:id="R1e747dc0da6b4442"/>
    <p:sldId xmlns:r="http://schemas.openxmlformats.org/officeDocument/2006/relationships" id="259" r:id="Rb120e2bfba514e68"/>
    <p:sldId xmlns:r="http://schemas.openxmlformats.org/officeDocument/2006/relationships" id="260" r:id="R890366af0bf644bb"/>
    <p:sldId xmlns:r="http://schemas.openxmlformats.org/officeDocument/2006/relationships" id="261" r:id="R54a96531fd914c47"/>
    <p:sldId xmlns:r="http://schemas.openxmlformats.org/officeDocument/2006/relationships" id="262" r:id="R7d24727fc4604772"/>
    <p:sldId xmlns:r="http://schemas.openxmlformats.org/officeDocument/2006/relationships" id="263" r:id="Rf3ee9188c145400f"/>
    <p:sldId xmlns:r="http://schemas.openxmlformats.org/officeDocument/2006/relationships" id="264" r:id="R311fcc578be441c0"/>
    <p:sldId xmlns:r="http://schemas.openxmlformats.org/officeDocument/2006/relationships" id="265" r:id="R7b2e5e873a1c49f7"/>
    <p:sldId xmlns:r="http://schemas.openxmlformats.org/officeDocument/2006/relationships" id="266" r:id="R7d27bbd86fc648bf"/>
    <p:sldId xmlns:r="http://schemas.openxmlformats.org/officeDocument/2006/relationships" id="267" r:id="R95c44031a03d4e38"/>
    <p:sldId xmlns:r="http://schemas.openxmlformats.org/officeDocument/2006/relationships" id="268" r:id="R8fe75c55b41a4e1e"/>
    <p:sldId xmlns:r="http://schemas.openxmlformats.org/officeDocument/2006/relationships" id="269" r:id="Re41659b6e8fd4a2e"/>
    <p:sldId xmlns:r="http://schemas.openxmlformats.org/officeDocument/2006/relationships" id="270" r:id="Ra157c8e2370e4e00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50b2ba6bade4285" Type="http://schemas.openxmlformats.org/officeDocument/2006/relationships/slide" Target="slides/slide2.xml"/><Relationship Id="R18f620d040d0450c" Type="http://schemas.openxmlformats.org/officeDocument/2006/relationships/slideMaster" Target="slideMasters/slideMaster1.xml"/><Relationship Id="R1e747dc0da6b4442" Type="http://schemas.openxmlformats.org/officeDocument/2006/relationships/slide" Target="slides/slide3.xml"/><Relationship Id="R311fcc578be441c0" Type="http://schemas.openxmlformats.org/officeDocument/2006/relationships/slide" Target="slides/slide9.xml"/><Relationship Id="R54a96531fd914c47" Type="http://schemas.openxmlformats.org/officeDocument/2006/relationships/slide" Target="slides/slide6.xml"/><Relationship Id="R61a265d1f2344d1a" Type="http://schemas.openxmlformats.org/officeDocument/2006/relationships/theme" Target="theme/theme1.xml"/><Relationship Id="R64e4a04f2d584fef" Type="http://schemas.openxmlformats.org/officeDocument/2006/relationships/slide" Target="slides/slide1.xml"/><Relationship Id="R7b2e5e873a1c49f7" Type="http://schemas.openxmlformats.org/officeDocument/2006/relationships/slide" Target="slides/slide10.xml"/><Relationship Id="R7d24727fc4604772" Type="http://schemas.openxmlformats.org/officeDocument/2006/relationships/slide" Target="slides/slide7.xml"/><Relationship Id="R7d27bbd86fc648bf" Type="http://schemas.openxmlformats.org/officeDocument/2006/relationships/slide" Target="slides/slide11.xml"/><Relationship Id="R890366af0bf644bb" Type="http://schemas.openxmlformats.org/officeDocument/2006/relationships/slide" Target="slides/slide5.xml"/><Relationship Id="R8fe75c55b41a4e1e" Type="http://schemas.openxmlformats.org/officeDocument/2006/relationships/slide" Target="slides/slide13.xml"/><Relationship Id="R95c44031a03d4e38" Type="http://schemas.openxmlformats.org/officeDocument/2006/relationships/slide" Target="slides/slide12.xml"/><Relationship Id="Ra157c8e2370e4e00" Type="http://schemas.openxmlformats.org/officeDocument/2006/relationships/slide" Target="slides/slide15.xml"/><Relationship Id="Rb120e2bfba514e68" Type="http://schemas.openxmlformats.org/officeDocument/2006/relationships/slide" Target="slides/slide4.xml"/><Relationship Id="Rb93714d9de464f5b" Type="http://schemas.openxmlformats.org/officeDocument/2006/relationships/tableStyles" Target="tableStyles.xml"/><Relationship Id="Rcea37293e1b6458c" Type="http://schemas.openxmlformats.org/officeDocument/2006/relationships/notesMaster" Target="notesMasters/notesMaster1.xml"/><Relationship Id="Re41659b6e8fd4a2e" Type="http://schemas.openxmlformats.org/officeDocument/2006/relationships/slide" Target="slides/slide14.xml"/><Relationship Id="Re69e3f5740c348fa" Type="http://schemas.openxmlformats.org/officeDocument/2006/relationships/presProps" Target="presProps.xml"/><Relationship Id="Rf3ee9188c145400f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99ec97ee9295426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3d4ac4db80e40d3" Type="http://schemas.openxmlformats.org/officeDocument/2006/relationships/slide" Target="../slides/slide1.xml"/><Relationship Id="Rbf1bead4aca44a0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9c19797684547e8" Type="http://schemas.openxmlformats.org/officeDocument/2006/relationships/notesMaster" Target="../notesMasters/notesMaster1.xml"/><Relationship Id="Rd0df6f05b03648d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0279263411240fc" Type="http://schemas.openxmlformats.org/officeDocument/2006/relationships/slide" Target="../slides/slide3.xml"/><Relationship Id="Raed45cd979c94fd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244d49d85944b24" Type="http://schemas.openxmlformats.org/officeDocument/2006/relationships/slide" Target="../slides/slide4.xml"/><Relationship Id="R2b8c12f586e446a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68c3911b6c94931" Type="http://schemas.openxmlformats.org/officeDocument/2006/relationships/notesMaster" Target="../notesMasters/notesMaster1.xml"/><Relationship Id="R97d4cb0128094b7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dbc34ec759d4c7b" Type="http://schemas.openxmlformats.org/officeDocument/2006/relationships/slide" Target="../slides/slide6.xml"/><Relationship Id="Re33275b5548c4c1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1858f91be56404d" Type="http://schemas.openxmlformats.org/officeDocument/2006/relationships/notesMaster" Target="../notesMasters/notesMaster1.xml"/><Relationship Id="Rd0b07fd2b28f44c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e6e76fd0f4447ab" Type="http://schemas.openxmlformats.org/officeDocument/2006/relationships/slide" Target="../slides/slide8.xml"/><Relationship Id="R73cf7c50b5384993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f52f5a89c06749dd" Type="http://schemas.openxmlformats.org/officeDocument/2006/relationships/slide" Target="../slides/slide9.xml"/><Relationship Id="Rfb59d5e70fb54cc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b262e49c1a74114" Type="http://schemas.openxmlformats.org/officeDocument/2006/relationships/slide" Target="../slides/slide10.xml"/><Relationship Id="Rf85d0ef8c2a64f6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f3926ead802499a" Type="http://schemas.openxmlformats.org/officeDocument/2006/relationships/slide" Target="../slides/slide11.xml"/><Relationship Id="R44969a025d0c4eed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82621ffd6aa24fee" Type="http://schemas.openxmlformats.org/officeDocument/2006/relationships/slide" Target="../slides/slide12.xml"/><Relationship Id="Rbc7abeac2f87493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3bd07f8e422c481f" Type="http://schemas.openxmlformats.org/officeDocument/2006/relationships/slide" Target="../slides/slide13.xml"/><Relationship Id="Rf117eb26a325494b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8f706d62c6ef4463" Type="http://schemas.openxmlformats.org/officeDocument/2006/relationships/notesMaster" Target="../notesMasters/notesMaster1.xml"/><Relationship Id="Rcd38e66eda9b432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a7f4965697cf4928" Type="http://schemas.openxmlformats.org/officeDocument/2006/relationships/slide" Target="../slides/slide15.xml"/><Relationship Id="Rf845278f93af4954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icon and applicant-provided identity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Merriam-Webster — https://www.merriam-webster.com/dictionary/distribute</a:t>
            </a:r>
          </a:p>
          <a:p xmlns:a="http://schemas.openxmlformats.org/drawingml/2006/main">
            <a:r>
              <a:t>- Oxford Advanced Learner's Dictionary — https://www.oxfordlearnersdictionaries.com/definition/english/distribute</a:t>
            </a:r>
          </a:p>
          <a:p xmlns:a="http://schemas.openxmlformats.org/drawingml/2006/main">
            <a:r>
              <a:t>- Applicant interview: original learning workflow and observation of classmates.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 and project behavior; no causal learning-effect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 captured from a temporary anonymized local clone; no production credentials or names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CreationTime metadata, anonymized SQLite event timestamps, and anonymized server-log categories checked 2026-08-15.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inspection: server.js, src/routes, src/db, src/middleware, src/utils, public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scripts/image_word_pipeline.py and src/routes/import.js.</a:t>
            </a:r>
          </a:p>
          <a:p xmlns:a="http://schemas.openxmlformats.org/drawingml/2006/main">
            <a:r>
              <a:t>- Anonymized admin screenshot captured from a temporary local clone.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Read-only SQLite snapshot on 2026-08-15: Words.db, Client.db, Server.db.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pronunciation and analysis-error iteration examples.</a:t>
            </a:r>
          </a:p>
          <a:p xmlns:a="http://schemas.openxmlformats.org/drawingml/2006/main">
            <a:r>
              <a:t>- Local source inspection: src/routes/tts.js and AI import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starting skill level, main growth, and intended study direction.</a:t>
            </a:r>
          </a:p>
          <a:p xmlns:a="http://schemas.openxmlformats.org/drawingml/2006/main">
            <a:r>
              <a:t>- Public service: https://words.ytconch.duckdns.org/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public/*.html, public/*.js, src/routes/*.js, server.js.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One-shot test run on 2026-08-15: 26 tests, all passed.</a:t>
            </a:r>
          </a:p>
          <a:p xmlns:a="http://schemas.openxmlformats.org/drawingml/2006/main">
            <a:r>
              <a:t>- Local source: tests/test_image_word_pipeline.py.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filesystem metadata and anonymized SQLite/server-log evidence reviewed 2026-08-15.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Coding Agent participation was substantial; applicant led requirements, decisions, testing, and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 service verified in browser: https://words.ytconch.duckdns.org/</a:t>
            </a:r>
          </a:p>
          <a:p xmlns:a="http://schemas.openxmlformats.org/drawingml/2006/main">
            <a:r>
              <a:t>- Screenshots captured from public entrance and a temporary anonymized local clone.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c73ec0b77d448e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9c89051e6cc418b" Type="http://schemas.openxmlformats.org/officeDocument/2006/relationships/theme" Target="theme/theme2.xml"/><Relationship Id="Rf530ff6f1d0c445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30ff6f1d0c44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7f78bfc73bb467c" Type="http://schemas.openxmlformats.org/officeDocument/2006/relationships/notesSlide" Target="../notesSlides/notesSlide1.xml"/><Relationship Id="Rafb5f9be08894084" Type="http://schemas.openxmlformats.org/officeDocument/2006/relationships/image" Target="../media/image.png"/><Relationship Id="Rd4b9078ef43340c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b0e83de8ba34cac" Type="http://schemas.openxmlformats.org/officeDocument/2006/relationships/notesSlide" Target="../notesSlides/notesSlide2.xml"/><Relationship Id="R6949412bc5074c0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f78ee4b10514d49" Type="http://schemas.openxmlformats.org/officeDocument/2006/relationships/notesSlide" Target="../notesSlides/notesSlide3.xml"/><Relationship Id="R515d1b293ce247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260643956f384777" Type="http://schemas.openxmlformats.org/officeDocument/2006/relationships/image" Target="../media/image2.jpeg"/><Relationship Id="R4255a2e5d487468e" Type="http://schemas.openxmlformats.org/officeDocument/2006/relationships/image" Target="../media/image.jpeg"/><Relationship Id="R531aff1ac8fe4788" Type="http://schemas.openxmlformats.org/officeDocument/2006/relationships/image" Target="../media/image3.jpeg"/><Relationship Id="R63b85209545542b1" Type="http://schemas.openxmlformats.org/officeDocument/2006/relationships/notesSlide" Target="../notesSlides/notesSlide4.xml"/><Relationship Id="R80901ed84c824d3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8dacde16d4034822" Type="http://schemas.openxmlformats.org/officeDocument/2006/relationships/slideLayout" Target="../slideLayouts/slideLayout1.xml"/><Relationship Id="Rbf9a5f51a18f4b5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b2574b9093254ef3" Type="http://schemas.openxmlformats.org/officeDocument/2006/relationships/slideLayout" Target="../slideLayouts/slideLayout1.xml"/><Relationship Id="Rf4952f69d5b74d9c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6411535f57164920" Type="http://schemas.openxmlformats.org/officeDocument/2006/relationships/slideLayout" Target="../slideLayouts/slideLayout1.xml"/><Relationship Id="R929434f42ecb4543" Type="http://schemas.openxmlformats.org/officeDocument/2006/relationships/notesSlide" Target="../notesSlides/notesSlide7.xml"/><Relationship Id="R9fe9ddc53dc84df1" Type="http://schemas.openxmlformats.org/officeDocument/2006/relationships/image" Target="../media/image4.jpeg"/></Relationships>
</file>

<file path=ppt/slides/_rels/slide8.xml.rels><?xml version='1.0' encoding='UTF-8' standalone='yes'?>
<Relationships xmlns="http://schemas.openxmlformats.org/package/2006/relationships"><Relationship Id="Rb91811a702aa4a9d" Type="http://schemas.openxmlformats.org/officeDocument/2006/relationships/slideLayout" Target="../slideLayouts/slideLayout1.xml"/><Relationship Id="Rd0e953cdd6d64ec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96dc12e56694731" Type="http://schemas.openxmlformats.org/officeDocument/2006/relationships/notesSlide" Target="../notesSlides/notesSlide9.xml"/><Relationship Id="Rff81842a47db491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503571b2a9e4d8d" Type="http://schemas.openxmlformats.org/officeDocument/2006/relationships/slideLayout" Target="../slideLayouts/slideLayout1.xml"/><Relationship Id="R3f24af0bf6cf4104" Type="http://schemas.openxmlformats.org/officeDocument/2006/relationships/hyperlink" Target="https://words.ytconch.duckdns.org/" TargetMode="External"/><Relationship Id="Raa9d205c65254e3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a342610d204a4236" Type="http://schemas.openxmlformats.org/officeDocument/2006/relationships/notesSlide" Target="../notesSlides/notesSlide11.xml"/><Relationship Id="Rcc457159f2b94206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5ef09fb6a4c74d20" Type="http://schemas.openxmlformats.org/officeDocument/2006/relationships/notesSlide" Target="../notesSlides/notesSlide12.xml"/><Relationship Id="Re814fc73b32d4405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af490cdfc3434924" Type="http://schemas.openxmlformats.org/officeDocument/2006/relationships/slideLayout" Target="../slideLayouts/slideLayout1.xml"/><Relationship Id="Rc1dc76b023704e3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c2da18814db146f4" Type="http://schemas.openxmlformats.org/officeDocument/2006/relationships/notesSlide" Target="../notesSlides/notesSlide14.xml"/><Relationship Id="Ree1120560d454ba5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7c802faae88349c8" Type="http://schemas.openxmlformats.org/officeDocument/2006/relationships/slideLayout" Target="../slideLayouts/slideLayout1.xml"/><Relationship Id="R960609489f4c4f54" Type="http://schemas.openxmlformats.org/officeDocument/2006/relationships/hyperlink" Target="https://words.ytconch.duckdns.org/" TargetMode="External"/><Relationship Id="R9d271ebc708b4016" Type="http://schemas.openxmlformats.org/officeDocument/2006/relationships/image" Target="../media/image5.jpeg"/><Relationship Id="Rcde44e448d5d4b8c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ver-left-panel">
            <a:extLst xmlns:a="http://schemas.openxmlformats.org/drawingml/2006/main">
              <a:ext uri="{FF2B5EF4-FFF2-40B4-BE49-F238E27FC236}">
                <a16:creationId xmlns:a16="http://schemas.microsoft.com/office/drawing/2014/main" id="{1EF2175E-6F5F-4A3E-8A6F-91ACFA5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DFE185C2-E910-4AEA-9C4B-5D644C73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5f9be08894084"/>
          <a:stretch xmlns:a="http://schemas.openxmlformats.org/drawingml/2006/main"/>
        </p:blipFill>
        <p:spPr>
          <a:xfrm xmlns:a="http://schemas.openxmlformats.org/drawingml/2006/main">
            <a:off x="1600200" y="201930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38F4E10E-B556-40CB-ADC2-1EC42185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24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</a:p>
        </p:txBody>
      </p:sp>
      <p:sp>
        <p:nvSpPr>
          <p:cNvPr id="5" name="cover-tag">
            <a:extLst xmlns:a="http://schemas.openxmlformats.org/drawingml/2006/main">
              <a:ext uri="{FF2B5EF4-FFF2-40B4-BE49-F238E27FC236}">
                <a16:creationId xmlns:a16="http://schemas.microsoft.com/office/drawing/2014/main" id="{8D4AF8EC-20FD-4BAE-9AA9-E4AE780C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38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特殊選才 · 專案作品報告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9630BEA-16E0-4444-BB06-C92E657A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81200"/>
            <a:ext cx="6572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把詞源理解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轉化為可驗證的學習系統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BC71FAB-C6A5-4184-8748-057C67D8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814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從個人學習痛點出發，建立可公開使用、可記錄、可持續修正的單字學習服務。</a:t>
            </a:r>
          </a:p>
        </p:txBody>
      </p:sp>
      <p:sp>
        <p:nvSpPr>
          <p:cNvPr id="8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597A64AC-A439-40D1-8DEE-A03858B7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578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39A48FE7-835E-489A-A405-61D166CE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72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詹秉睿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清水高中 · 高三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3E93A3B2-C5B3-4294-8E83-7F91FF9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673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PROJECT SNAPSHOT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2026.08.15</a:t>
            </a:r>
          </a:p>
        </p:txBody>
      </p:sp>
    </p:spTree>
    <p:extLst>
      <p:ext uri="{BB962C8B-B14F-4D97-AF65-F5344CB8AC3E}">
        <p14:creationId xmlns:p14="http://schemas.microsoft.com/office/powerpoint/2010/main" val="1025263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op-rule-2">
            <a:extLst xmlns:a="http://schemas.openxmlformats.org/drawingml/2006/main">
              <a:ext uri="{FF2B5EF4-FFF2-40B4-BE49-F238E27FC236}">
                <a16:creationId xmlns:a16="http://schemas.microsoft.com/office/drawing/2014/main" id="{08AE1A78-EA0B-4039-8297-6FD1D863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4372304E-FCD5-4573-931B-1E2E6CFC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ORIGIN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6F91DAF-02AF-4090-A41F-CA1DD5EF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我不想再逐字詢問 AI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F67999C5-57AE-4304-B795-C0047109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真正的起點不是功能，而是一個反覆出現的學習摩擦。</a:t>
            </a:r>
          </a:p>
        </p:txBody>
      </p:sp>
      <p:sp>
        <p:nvSpPr>
          <p:cNvPr id="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2E3E1BB-9C68-4B2A-8018-3E59216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B0FBCFCC-0B14-46FD-A87B-7D65108C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origin-quote">
            <a:extLst xmlns:a="http://schemas.openxmlformats.org/drawingml/2006/main">
              <a:ext uri="{FF2B5EF4-FFF2-40B4-BE49-F238E27FC236}">
                <a16:creationId xmlns:a16="http://schemas.microsoft.com/office/drawing/2014/main" id="{02BC07E1-04E2-4B95-AE3D-485B6B58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以前，我會把每個單字逐一問 AI：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它的拉丁字根是什麼？詞源如何演變？</a:t>
            </a:r>
          </a:p>
        </p:txBody>
      </p:sp>
      <p:sp>
        <p:nvSpPr>
          <p:cNvPr id="8" name="origin-body">
            <a:extLst xmlns:a="http://schemas.openxmlformats.org/drawingml/2006/main">
              <a:ext uri="{FF2B5EF4-FFF2-40B4-BE49-F238E27FC236}">
                <a16:creationId xmlns:a16="http://schemas.microsoft.com/office/drawing/2014/main" id="{401DE8FD-0BFB-424B-9E78-38180BC5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這種方法能讓我理解單字，卻無法規模化；我也觀察到，同學多半仍靠重複背誦。於是我把個人的查詢流程，改造成可以整理、練習與追蹤的系統。</a:t>
            </a:r>
          </a:p>
        </p:txBody>
      </p:sp>
      <p:sp>
        <p:nvSpPr>
          <p:cNvPr id="9" name="word-study-bg">
            <a:extLst xmlns:a="http://schemas.openxmlformats.org/drawingml/2006/main">
              <a:ext uri="{FF2B5EF4-FFF2-40B4-BE49-F238E27FC236}">
                <a16:creationId xmlns:a16="http://schemas.microsoft.com/office/drawing/2014/main" id="{6D7DD59A-917C-48FB-9CBB-66FA5E01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4667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word-study-label-bg">
            <a:extLst xmlns:a="http://schemas.openxmlformats.org/drawingml/2006/main">
              <a:ext uri="{FF2B5EF4-FFF2-40B4-BE49-F238E27FC236}">
                <a16:creationId xmlns:a16="http://schemas.microsoft.com/office/drawing/2014/main" id="{04EB4176-7F05-46EE-BA85-112102B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-study-label">
            <a:extLst xmlns:a="http://schemas.openxmlformats.org/drawingml/2006/main">
              <a:ext uri="{FF2B5EF4-FFF2-40B4-BE49-F238E27FC236}">
                <a16:creationId xmlns:a16="http://schemas.microsoft.com/office/drawing/2014/main" id="{0503551F-9664-4F0C-AB8B-11CC285E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ONE WORD, ONE MEMORY HOOK</a:t>
            </a:r>
          </a:p>
        </p:txBody>
      </p:sp>
      <p:sp>
        <p:nvSpPr>
          <p:cNvPr id="12" name="word">
            <a:extLst xmlns:a="http://schemas.openxmlformats.org/drawingml/2006/main">
              <a:ext uri="{FF2B5EF4-FFF2-40B4-BE49-F238E27FC236}">
                <a16:creationId xmlns:a16="http://schemas.microsoft.com/office/drawing/2014/main" id="{6FE56672-64B2-445E-85C4-597A946C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distribute</a:t>
            </a:r>
          </a:p>
        </p:txBody>
      </p:sp>
      <p:sp>
        <p:nvSpPr>
          <p:cNvPr id="13" name="prefix">
            <a:extLst xmlns:a="http://schemas.openxmlformats.org/drawingml/2006/main">
              <a:ext uri="{FF2B5EF4-FFF2-40B4-BE49-F238E27FC236}">
                <a16:creationId xmlns:a16="http://schemas.microsoft.com/office/drawing/2014/main" id="{99F0F30A-851B-43FA-A98A-1CF5AE90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dis-</a:t>
            </a:r>
          </a:p>
        </p:txBody>
      </p:sp>
      <p:sp>
        <p:nvSpPr>
          <p:cNvPr id="14" name="plus">
            <a:extLst xmlns:a="http://schemas.openxmlformats.org/drawingml/2006/main">
              <a:ext uri="{FF2B5EF4-FFF2-40B4-BE49-F238E27FC236}">
                <a16:creationId xmlns:a16="http://schemas.microsoft.com/office/drawing/2014/main" id="{7873C3D7-C13C-4B04-87E7-1292EEDF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10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15" name="root">
            <a:extLst xmlns:a="http://schemas.openxmlformats.org/drawingml/2006/main">
              <a:ext uri="{FF2B5EF4-FFF2-40B4-BE49-F238E27FC236}">
                <a16:creationId xmlns:a16="http://schemas.microsoft.com/office/drawing/2014/main" id="{5AF8B0C8-0E16-4532-A9E9-46DFEF27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0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tribuere</a:t>
            </a:r>
          </a:p>
        </p:txBody>
      </p:sp>
      <p:sp>
        <p:nvSpPr>
          <p:cNvPr id="16" name="prefix-meaning">
            <a:extLst xmlns:a="http://schemas.openxmlformats.org/drawingml/2006/main">
              <a:ext uri="{FF2B5EF4-FFF2-40B4-BE49-F238E27FC236}">
                <a16:creationId xmlns:a16="http://schemas.microsoft.com/office/drawing/2014/main" id="{0CECC351-8351-46B2-A333-5D8518AD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apart／分開</a:t>
            </a:r>
          </a:p>
        </p:txBody>
      </p:sp>
      <p:sp>
        <p:nvSpPr>
          <p:cNvPr id="17" name="root-meaning">
            <a:extLst xmlns:a="http://schemas.openxmlformats.org/drawingml/2006/main">
              <a:ext uri="{FF2B5EF4-FFF2-40B4-BE49-F238E27FC236}">
                <a16:creationId xmlns:a16="http://schemas.microsoft.com/office/drawing/2014/main" id="{EB040E76-6832-4973-ADF9-A5D14B0D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43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assign／分配</a:t>
            </a:r>
          </a:p>
        </p:txBody>
      </p:sp>
      <p:sp>
        <p:nvSpPr>
          <p:cNvPr id="18" name="word-takeaway">
            <a:extLst xmlns:a="http://schemas.openxmlformats.org/drawingml/2006/main">
              <a:ext uri="{FF2B5EF4-FFF2-40B4-BE49-F238E27FC236}">
                <a16:creationId xmlns:a16="http://schemas.microsoft.com/office/drawing/2014/main" id="{60F021CD-ED91-483D-A57D-006E6EC0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91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理解「分開分配」的意象，比只背中文翻譯更容易建立連結。</a:t>
            </a:r>
          </a:p>
        </p:txBody>
      </p:sp>
    </p:spTree>
    <p:extLst>
      <p:ext uri="{BB962C8B-B14F-4D97-AF65-F5344CB8AC3E}">
        <p14:creationId xmlns:p14="http://schemas.microsoft.com/office/powerpoint/2010/main" val="2133830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-rule-3">
            <a:extLst xmlns:a="http://schemas.openxmlformats.org/drawingml/2006/main">
              <a:ext uri="{FF2B5EF4-FFF2-40B4-BE49-F238E27FC236}">
                <a16:creationId xmlns:a16="http://schemas.microsoft.com/office/drawing/2014/main" id="{1044CBD4-8C46-4BFC-955B-1C385403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989CE78C-7E95-4E3F-B472-54820DAC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PROBLEM FRAMING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C5F40FE-ED1C-4ABB-B622-D4723536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把『會背』改成『看得見掌握程度』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E6AA2B8A-8C77-4035-8A44-5D633598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我沒有先堆功能，而是先定義一個可以反覆驗證的學習循環。</a:t>
            </a:r>
          </a:p>
        </p:txBody>
      </p:sp>
      <p:sp>
        <p:nvSpPr>
          <p:cNvPr id="5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DAEB7158-CFF1-4F88-9F6B-E4AC508D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756065EC-FA10-4CE8-A00A-F59D0AF1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hypothesis-flow-1">
            <a:extLst xmlns:a="http://schemas.openxmlformats.org/drawingml/2006/main">
              <a:ext uri="{FF2B5EF4-FFF2-40B4-BE49-F238E27FC236}">
                <a16:creationId xmlns:a16="http://schemas.microsoft.com/office/drawing/2014/main" id="{F6376B0C-ACF2-41D3-8D5C-D3DB1CDF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71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hypothesis-flow-2">
            <a:extLst xmlns:a="http://schemas.openxmlformats.org/drawingml/2006/main">
              <a:ext uri="{FF2B5EF4-FFF2-40B4-BE49-F238E27FC236}">
                <a16:creationId xmlns:a16="http://schemas.microsoft.com/office/drawing/2014/main" id="{DE498EAF-CD7D-4506-814E-3CFAD03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71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hyp-01-bg">
            <a:extLst xmlns:a="http://schemas.openxmlformats.org/drawingml/2006/main">
              <a:ext uri="{FF2B5EF4-FFF2-40B4-BE49-F238E27FC236}">
                <a16:creationId xmlns:a16="http://schemas.microsoft.com/office/drawing/2014/main" id="{F6EFA319-7B3E-4F84-8125-EB2D69C1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76550"/>
            <a:ext cx="26670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hyp-01-badge">
            <a:extLst xmlns:a="http://schemas.openxmlformats.org/drawingml/2006/main">
              <a:ext uri="{FF2B5EF4-FFF2-40B4-BE49-F238E27FC236}">
                <a16:creationId xmlns:a16="http://schemas.microsoft.com/office/drawing/2014/main" id="{29B570B5-F935-4BCC-ACEF-D04CADB5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yp-01-num">
            <a:extLst xmlns:a="http://schemas.openxmlformats.org/drawingml/2006/main">
              <a:ext uri="{FF2B5EF4-FFF2-40B4-BE49-F238E27FC236}">
                <a16:creationId xmlns:a16="http://schemas.microsoft.com/office/drawing/2014/main" id="{83F8F7F4-C14B-4C84-9081-310E633F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hyp-01-title">
            <a:extLst xmlns:a="http://schemas.openxmlformats.org/drawingml/2006/main">
              <a:ext uri="{FF2B5EF4-FFF2-40B4-BE49-F238E27FC236}">
                <a16:creationId xmlns:a16="http://schemas.microsoft.com/office/drawing/2014/main" id="{3DA2EA64-FED3-48C2-9D50-152319F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</p:txBody>
      </p:sp>
      <p:sp>
        <p:nvSpPr>
          <p:cNvPr id="13" name="hyp-01-body">
            <a:extLst xmlns:a="http://schemas.openxmlformats.org/drawingml/2006/main">
              <a:ext uri="{FF2B5EF4-FFF2-40B4-BE49-F238E27FC236}">
                <a16:creationId xmlns:a16="http://schemas.microsoft.com/office/drawing/2014/main" id="{43E95654-4D0A-42FC-BDE2-DC078D19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以字根、詞源、詞義與例句建立記憶線索。</a:t>
            </a:r>
          </a:p>
        </p:txBody>
      </p:sp>
      <p:sp>
        <p:nvSpPr>
          <p:cNvPr id="14" name="hyp-02-bg">
            <a:extLst xmlns:a="http://schemas.openxmlformats.org/drawingml/2006/main">
              <a:ext uri="{FF2B5EF4-FFF2-40B4-BE49-F238E27FC236}">
                <a16:creationId xmlns:a16="http://schemas.microsoft.com/office/drawing/2014/main" id="{399F585E-81A9-4F03-93C4-6C8B7332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76550"/>
            <a:ext cx="29527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hyp-02-badge">
            <a:extLst xmlns:a="http://schemas.openxmlformats.org/drawingml/2006/main">
              <a:ext uri="{FF2B5EF4-FFF2-40B4-BE49-F238E27FC236}">
                <a16:creationId xmlns:a16="http://schemas.microsoft.com/office/drawing/2014/main" id="{D898EBEC-4657-4FD5-9B9D-C146C220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yp-02-num">
            <a:extLst xmlns:a="http://schemas.openxmlformats.org/drawingml/2006/main">
              <a:ext uri="{FF2B5EF4-FFF2-40B4-BE49-F238E27FC236}">
                <a16:creationId xmlns:a16="http://schemas.microsoft.com/office/drawing/2014/main" id="{BC885C4A-2A3D-4664-BD41-84B25B27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19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7" name="hyp-02-title">
            <a:extLst xmlns:a="http://schemas.openxmlformats.org/drawingml/2006/main">
              <a:ext uri="{FF2B5EF4-FFF2-40B4-BE49-F238E27FC236}">
                <a16:creationId xmlns:a16="http://schemas.microsoft.com/office/drawing/2014/main" id="{556B0688-BDC2-417D-AB76-C0F854DC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67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8" name="hyp-02-body">
            <a:extLst xmlns:a="http://schemas.openxmlformats.org/drawingml/2006/main">
              <a:ext uri="{FF2B5EF4-FFF2-40B4-BE49-F238E27FC236}">
                <a16:creationId xmlns:a16="http://schemas.microsoft.com/office/drawing/2014/main" id="{B8CEC625-427A-4D2D-B685-80A7C9D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38650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用中選英、看中打英、克漏字等模式反覆提取。</a:t>
            </a:r>
          </a:p>
        </p:txBody>
      </p:sp>
      <p:sp>
        <p:nvSpPr>
          <p:cNvPr id="19" name="hyp-03-bg">
            <a:extLst xmlns:a="http://schemas.openxmlformats.org/drawingml/2006/main">
              <a:ext uri="{FF2B5EF4-FFF2-40B4-BE49-F238E27FC236}">
                <a16:creationId xmlns:a16="http://schemas.microsoft.com/office/drawing/2014/main" id="{19FBDBCB-6E63-4BB0-916D-98181696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36004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hyp-03-badge">
            <a:extLst xmlns:a="http://schemas.openxmlformats.org/drawingml/2006/main">
              <a:ext uri="{FF2B5EF4-FFF2-40B4-BE49-F238E27FC236}">
                <a16:creationId xmlns:a16="http://schemas.microsoft.com/office/drawing/2014/main" id="{B38247B0-DCF0-4E2D-B7B6-8AC499EF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yp-03-num">
            <a:extLst xmlns:a="http://schemas.openxmlformats.org/drawingml/2006/main">
              <a:ext uri="{FF2B5EF4-FFF2-40B4-BE49-F238E27FC236}">
                <a16:creationId xmlns:a16="http://schemas.microsoft.com/office/drawing/2014/main" id="{75A78A77-9993-4824-944B-693032B2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2" name="hyp-03-title">
            <a:extLst xmlns:a="http://schemas.openxmlformats.org/drawingml/2006/main">
              <a:ext uri="{FF2B5EF4-FFF2-40B4-BE49-F238E27FC236}">
                <a16:creationId xmlns:a16="http://schemas.microsoft.com/office/drawing/2014/main" id="{91C9A87F-E2DE-42C2-9BE3-FCD2D11F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追蹤</a:t>
            </a:r>
          </a:p>
        </p:txBody>
      </p:sp>
      <p:sp>
        <p:nvSpPr>
          <p:cNvPr id="23" name="hyp-03-body">
            <a:extLst xmlns:a="http://schemas.openxmlformats.org/drawingml/2006/main">
              <a:ext uri="{FF2B5EF4-FFF2-40B4-BE49-F238E27FC236}">
                <a16:creationId xmlns:a16="http://schemas.microsoft.com/office/drawing/2014/main" id="{C07AF300-BB8F-40E7-8D78-B7B441F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保留作答、錯題與熟練度，讓下一次複習有依據。</a:t>
            </a:r>
          </a:p>
        </p:txBody>
      </p:sp>
      <p:sp>
        <p:nvSpPr>
          <p:cNvPr id="24" name="hypothesis-guardrail">
            <a:extLst xmlns:a="http://schemas.openxmlformats.org/drawingml/2006/main">
              <a:ext uri="{FF2B5EF4-FFF2-40B4-BE49-F238E27FC236}">
                <a16:creationId xmlns:a16="http://schemas.microsoft.com/office/drawing/2014/main" id="{D75090A8-6200-4CCF-8512-2465F41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43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目前能證明的是『有人使用與持續產生學習紀錄』，尚不能直接推論成績因系統而提升。</a:t>
            </a:r>
          </a:p>
        </p:txBody>
      </p:sp>
    </p:spTree>
    <p:extLst>
      <p:ext uri="{BB962C8B-B14F-4D97-AF65-F5344CB8AC3E}">
        <p14:creationId xmlns:p14="http://schemas.microsoft.com/office/powerpoint/2010/main" val="128567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op-rule-4">
            <a:extLst xmlns:a="http://schemas.openxmlformats.org/drawingml/2006/main">
              <a:ext uri="{FF2B5EF4-FFF2-40B4-BE49-F238E27FC236}">
                <a16:creationId xmlns:a16="http://schemas.microsoft.com/office/drawing/2014/main" id="{63FAE985-10E9-4483-8A65-D7C30EC4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8681E323-0445-4EDF-AEB1-2B75F6A8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B7556CE7-4A79-4BBE-BC17-EDC45629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已形成完整學習循環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12628767-D121-4F5C-AA72-D1F33AEC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三個核心畫面對應理解、練習與追蹤，而不是孤立功能清單。</a:t>
            </a:r>
          </a:p>
        </p:txBody>
      </p:sp>
      <p:sp>
        <p:nvSpPr>
          <p:cNvPr id="5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225C8619-C099-4D9D-AB20-C917994C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5668A10A-55CC-4115-A634-53DD3938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5a2e5d487468e"/>
          <a:stretch xmlns:a="http://schemas.openxmlformats.org/drawingml/2006/main"/>
        </p:blipFill>
        <p:spPr>
          <a:xfrm xmlns:a="http://schemas.openxmlformats.org/drawingml/2006/main">
            <a:off x="1450957" y="2895600"/>
            <a:ext cx="3384586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643956f384777"/>
          <a:stretch xmlns:a="http://schemas.openxmlformats.org/drawingml/2006/main"/>
        </p:blipFill>
        <p:spPr>
          <a:xfrm xmlns:a="http://schemas.openxmlformats.org/drawingml/2006/main">
            <a:off x="5165707" y="2895600"/>
            <a:ext cx="3384586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aff1ac8fe4788"/>
          <a:stretch xmlns:a="http://schemas.openxmlformats.org/drawingml/2006/main"/>
        </p:blipFill>
        <p:spPr>
          <a:xfrm xmlns:a="http://schemas.openxmlformats.org/drawingml/2006/main">
            <a:off x="8879417" y="2895600"/>
            <a:ext cx="3386667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0" name="words-cap-bg">
            <a:extLst xmlns:a="http://schemas.openxmlformats.org/drawingml/2006/main">
              <a:ext uri="{FF2B5EF4-FFF2-40B4-BE49-F238E27FC236}">
                <a16:creationId xmlns:a16="http://schemas.microsoft.com/office/drawing/2014/main" id="{BF50BB51-C690-4BAA-9C14-8F86ABB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863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s-cap">
            <a:extLst xmlns:a="http://schemas.openxmlformats.org/drawingml/2006/main">
              <a:ext uri="{FF2B5EF4-FFF2-40B4-BE49-F238E27FC236}">
                <a16:creationId xmlns:a16="http://schemas.microsoft.com/office/drawing/2014/main" id="{D9949AC4-D7BC-4EED-9B64-03B99D07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理解：單字庫</a:t>
            </a:r>
          </a:p>
        </p:txBody>
      </p:sp>
      <p:sp>
        <p:nvSpPr>
          <p:cNvPr id="12" name="practice-cap-bg">
            <a:extLst xmlns:a="http://schemas.openxmlformats.org/drawingml/2006/main">
              <a:ext uri="{FF2B5EF4-FFF2-40B4-BE49-F238E27FC236}">
                <a16:creationId xmlns:a16="http://schemas.microsoft.com/office/drawing/2014/main" id="{FF412BEC-C341-4726-A9D7-1716EC30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8635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actice-cap">
            <a:extLst xmlns:a="http://schemas.openxmlformats.org/drawingml/2006/main">
              <a:ext uri="{FF2B5EF4-FFF2-40B4-BE49-F238E27FC236}">
                <a16:creationId xmlns:a16="http://schemas.microsoft.com/office/drawing/2014/main" id="{2BD249CE-0911-4478-AAB8-5FA15BC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24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提取：多模式練習</a:t>
            </a:r>
          </a:p>
        </p:txBody>
      </p:sp>
      <p:sp>
        <p:nvSpPr>
          <p:cNvPr id="14" name="analytics-cap-bg">
            <a:extLst xmlns:a="http://schemas.openxmlformats.org/drawingml/2006/main">
              <a:ext uri="{FF2B5EF4-FFF2-40B4-BE49-F238E27FC236}">
                <a16:creationId xmlns:a16="http://schemas.microsoft.com/office/drawing/2014/main" id="{124EFB5E-5748-43D0-9F26-CB16EBA3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863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alytics-cap">
            <a:extLst xmlns:a="http://schemas.openxmlformats.org/drawingml/2006/main">
              <a:ext uri="{FF2B5EF4-FFF2-40B4-BE49-F238E27FC236}">
                <a16:creationId xmlns:a16="http://schemas.microsoft.com/office/drawing/2014/main" id="{B01A491E-2F5D-4F7F-97B2-4CB9DD78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追蹤：學習趨勢</a:t>
            </a:r>
          </a:p>
        </p:txBody>
      </p:sp>
      <p:sp>
        <p:nvSpPr>
          <p:cNvPr id="16" name="product-loop-caption">
            <a:extLst xmlns:a="http://schemas.openxmlformats.org/drawingml/2006/main">
              <a:ext uri="{FF2B5EF4-FFF2-40B4-BE49-F238E27FC236}">
                <a16:creationId xmlns:a16="http://schemas.microsoft.com/office/drawing/2014/main" id="{0CE019FA-91DF-4B08-A790-B694A405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076950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單字內容不是終點；每一次作答都會回到下一次複習與資料修正。</a:t>
            </a:r>
          </a:p>
        </p:txBody>
      </p:sp>
    </p:spTree>
    <p:extLst>
      <p:ext uri="{BB962C8B-B14F-4D97-AF65-F5344CB8AC3E}">
        <p14:creationId xmlns:p14="http://schemas.microsoft.com/office/powerpoint/2010/main" val="387910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op-rule-5">
            <a:extLst xmlns:a="http://schemas.openxmlformats.org/drawingml/2006/main">
              <a:ext uri="{FF2B5EF4-FFF2-40B4-BE49-F238E27FC236}">
                <a16:creationId xmlns:a16="http://schemas.microsoft.com/office/drawing/2014/main" id="{74907EC8-6F71-45AE-B1A7-9F1F1A29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2D9DB14A-3499-49D4-A397-1D0E9D07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EVOLUTION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41556BE7-B1B1-41B8-974A-C9B2AA4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四個月內，原型走向可公開使用的服務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947172CE-3C70-4756-9D10-2F349DE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時間點採證據分級；資料能證明什麼，就只寫到什麼程度。</a:t>
            </a:r>
          </a:p>
        </p:txBody>
      </p:sp>
      <p:sp>
        <p:nvSpPr>
          <p:cNvPr id="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9B969EC3-EE25-4166-AD1C-F4AD694D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FEE280B9-9390-49E1-96B2-2F422D34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B9C74224-5BCB-48E7-BBB5-8597A1A2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195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8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C61D5BFD-7B84-441C-ACBD-3FA5C9B0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ate-0">
            <a:extLst xmlns:a="http://schemas.openxmlformats.org/drawingml/2006/main">
              <a:ext uri="{FF2B5EF4-FFF2-40B4-BE49-F238E27FC236}">
                <a16:creationId xmlns:a16="http://schemas.microsoft.com/office/drawing/2014/main" id="{54F5944F-73D0-4C5E-A457-7A9005B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04/24</a:t>
            </a:r>
          </a:p>
        </p:txBody>
      </p:sp>
      <p:sp>
        <p:nvSpPr>
          <p:cNvPr id="10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AABD4810-A53F-4957-9E3D-35A0A8B4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專案啟動</a:t>
            </a:r>
          </a:p>
        </p:txBody>
      </p:sp>
      <p:sp>
        <p:nvSpPr>
          <p:cNvPr id="11" name="timeline-desc-0">
            <a:extLst xmlns:a="http://schemas.openxmlformats.org/drawingml/2006/main">
              <a:ext uri="{FF2B5EF4-FFF2-40B4-BE49-F238E27FC236}">
                <a16:creationId xmlns:a16="http://schemas.microsoft.com/office/drawing/2014/main" id="{549E2F73-62E6-486E-BE57-1B5E965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src／public 建立時間</a:t>
            </a:r>
          </a:p>
        </p:txBody>
      </p:sp>
      <p:sp>
        <p:nvSpPr>
          <p:cNvPr id="12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21C5C150-0506-4D29-A759-A41AFC81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ate-1">
            <a:extLst xmlns:a="http://schemas.openxmlformats.org/drawingml/2006/main">
              <a:ext uri="{FF2B5EF4-FFF2-40B4-BE49-F238E27FC236}">
                <a16:creationId xmlns:a16="http://schemas.microsoft.com/office/drawing/2014/main" id="{CD437191-89A6-458D-AC24-99DAE150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04/25</a:t>
            </a:r>
          </a:p>
        </p:txBody>
      </p:sp>
      <p:sp>
        <p:nvSpPr>
          <p:cNvPr id="14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F0FFF21E-FD44-4703-98E7-B610D18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最早練習紀錄</a:t>
            </a:r>
          </a:p>
        </p:txBody>
      </p:sp>
      <p:sp>
        <p:nvSpPr>
          <p:cNvPr id="15" name="timeline-desc-1">
            <a:extLst xmlns:a="http://schemas.openxmlformats.org/drawingml/2006/main">
              <a:ext uri="{FF2B5EF4-FFF2-40B4-BE49-F238E27FC236}">
                <a16:creationId xmlns:a16="http://schemas.microsoft.com/office/drawing/2014/main" id="{701E4D0C-83BC-48DA-91AE-E50AC711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 題，答對 15 題</a:t>
            </a:r>
          </a:p>
        </p:txBody>
      </p:sp>
      <p:sp>
        <p:nvSpPr>
          <p:cNvPr id="16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1424C302-2DA4-4A9C-B68C-A917698C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ate-2">
            <a:extLst xmlns:a="http://schemas.openxmlformats.org/drawingml/2006/main">
              <a:ext uri="{FF2B5EF4-FFF2-40B4-BE49-F238E27FC236}">
                <a16:creationId xmlns:a16="http://schemas.microsoft.com/office/drawing/2014/main" id="{7A4356BB-7685-4246-A0F7-CADA596F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04/29</a:t>
            </a:r>
          </a:p>
        </p:txBody>
      </p:sp>
      <p:sp>
        <p:nvSpPr>
          <p:cNvPr id="18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279E0129-92BA-4D63-94DF-08217DC9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匯入管線</a:t>
            </a:r>
          </a:p>
        </p:txBody>
      </p:sp>
      <p:sp>
        <p:nvSpPr>
          <p:cNvPr id="19" name="timeline-desc-2">
            <a:extLst xmlns:a="http://schemas.openxmlformats.org/drawingml/2006/main">
              <a:ext uri="{FF2B5EF4-FFF2-40B4-BE49-F238E27FC236}">
                <a16:creationId xmlns:a16="http://schemas.microsoft.com/office/drawing/2014/main" id="{0EEB14E0-69FE-429B-99B7-F5349E2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核心 pipeline 建立</a:t>
            </a:r>
          </a:p>
        </p:txBody>
      </p:sp>
      <p:sp>
        <p:nvSpPr>
          <p:cNvPr id="20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33C84578-1CD2-4A21-9CCB-BA63F08A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date-3">
            <a:extLst xmlns:a="http://schemas.openxmlformats.org/drawingml/2006/main">
              <a:ext uri="{FF2B5EF4-FFF2-40B4-BE49-F238E27FC236}">
                <a16:creationId xmlns:a16="http://schemas.microsoft.com/office/drawing/2014/main" id="{3F40FE12-D11D-41E5-8C37-0116C2B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05/25</a:t>
            </a:r>
          </a:p>
        </p:txBody>
      </p:sp>
      <p:sp>
        <p:nvSpPr>
          <p:cNvPr id="22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4D72DE01-7EE7-4C66-950F-E785AA73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公網連入證據</a:t>
            </a:r>
          </a:p>
        </p:txBody>
      </p:sp>
      <p:sp>
        <p:nvSpPr>
          <p:cNvPr id="23" name="timeline-desc-3">
            <a:extLst xmlns:a="http://schemas.openxmlformats.org/drawingml/2006/main">
              <a:ext uri="{FF2B5EF4-FFF2-40B4-BE49-F238E27FC236}">
                <a16:creationId xmlns:a16="http://schemas.microsoft.com/office/drawing/2014/main" id="{6D1BB977-F9BF-4203-9BE9-4C28B993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非本機來源 HTTP 請求</a:t>
            </a:r>
          </a:p>
        </p:txBody>
      </p:sp>
      <p:sp>
        <p:nvSpPr>
          <p:cNvPr id="24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11F58E1A-BDBD-4E74-8808-5ECC1D7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line-date-4">
            <a:extLst xmlns:a="http://schemas.openxmlformats.org/drawingml/2006/main">
              <a:ext uri="{FF2B5EF4-FFF2-40B4-BE49-F238E27FC236}">
                <a16:creationId xmlns:a16="http://schemas.microsoft.com/office/drawing/2014/main" id="{B6F5FA5F-77C0-4A65-8FFE-F86B65B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08/15</a:t>
            </a:r>
          </a:p>
        </p:txBody>
      </p:sp>
      <p:sp>
        <p:nvSpPr>
          <p:cNvPr id="26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684F2864-F4BB-43DC-B0F0-4FD9F67C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持續運作</a:t>
            </a:r>
          </a:p>
        </p:txBody>
      </p:sp>
      <p:sp>
        <p:nvSpPr>
          <p:cNvPr id="27" name="timeline-desc-4">
            <a:extLst xmlns:a="http://schemas.openxmlformats.org/drawingml/2006/main">
              <a:ext uri="{FF2B5EF4-FFF2-40B4-BE49-F238E27FC236}">
                <a16:creationId xmlns:a16="http://schemas.microsoft.com/office/drawing/2014/main" id="{74A75475-57D1-4CCC-93FB-6DBBCD10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資料與使用紀錄仍更新</a:t>
            </a:r>
          </a:p>
        </p:txBody>
      </p:sp>
      <p:sp>
        <p:nvSpPr>
          <p:cNvPr id="28" name="timeline-evidence-bg">
            <a:extLst xmlns:a="http://schemas.openxmlformats.org/drawingml/2006/main">
              <a:ext uri="{FF2B5EF4-FFF2-40B4-BE49-F238E27FC236}">
                <a16:creationId xmlns:a16="http://schemas.microsoft.com/office/drawing/2014/main" id="{3784128C-E47C-4054-BC90-5AC779E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960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imeline-evidence">
            <a:extLst xmlns:a="http://schemas.openxmlformats.org/drawingml/2006/main">
              <a:ext uri="{FF2B5EF4-FFF2-40B4-BE49-F238E27FC236}">
                <a16:creationId xmlns:a16="http://schemas.microsoft.com/office/drawing/2014/main" id="{A521EF73-D9E3-4528-972D-715B99BB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34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● 直接證據</a:t>
            </a:r>
          </a:p>
        </p:txBody>
      </p:sp>
      <p:sp>
        <p:nvSpPr>
          <p:cNvPr id="30" name="timeline-inference-bg">
            <a:extLst xmlns:a="http://schemas.openxmlformats.org/drawingml/2006/main">
              <a:ext uri="{FF2B5EF4-FFF2-40B4-BE49-F238E27FC236}">
                <a16:creationId xmlns:a16="http://schemas.microsoft.com/office/drawing/2014/main" id="{8EDD29D5-8786-4CD4-AD18-C69D9BC7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09600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imeline-inference">
            <a:extLst xmlns:a="http://schemas.openxmlformats.org/drawingml/2006/main">
              <a:ext uri="{FF2B5EF4-FFF2-40B4-BE49-F238E27FC236}">
                <a16:creationId xmlns:a16="http://schemas.microsoft.com/office/drawing/2014/main" id="{57D8DB7A-975B-455D-A295-740EDDD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3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● 強合理推定</a:t>
            </a:r>
          </a:p>
        </p:txBody>
      </p:sp>
      <p:sp>
        <p:nvSpPr>
          <p:cNvPr id="32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47696630-8AAB-4374-8AF2-B751F002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817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目前沒有 Git commit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因此檔案時間只作證據，不當成版本史。</a:t>
            </a:r>
          </a:p>
        </p:txBody>
      </p:sp>
    </p:spTree>
    <p:extLst>
      <p:ext uri="{BB962C8B-B14F-4D97-AF65-F5344CB8AC3E}">
        <p14:creationId xmlns:p14="http://schemas.microsoft.com/office/powerpoint/2010/main" val="1485486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2" name="Rectangle 3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op-rule-6">
            <a:extLst xmlns:a="http://schemas.openxmlformats.org/drawingml/2006/main">
              <a:ext uri="{FF2B5EF4-FFF2-40B4-BE49-F238E27FC236}">
                <a16:creationId xmlns:a16="http://schemas.microsoft.com/office/drawing/2014/main" id="{889FB2AF-6F4F-4075-842E-EB11B71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A87343CF-388F-4884-88FD-82FFC1B2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ENGINEERING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42903C8D-1FEE-44A8-902D-96B178E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這是一個完整系統，而不是單頁展示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5E7FB0D1-CE60-4216-B84E-0F0D7B7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從使用者操作到資料留存、內容匯入與維運，我必須同時處理多個責任邊界。</a:t>
            </a:r>
          </a:p>
        </p:txBody>
      </p:sp>
      <p:sp>
        <p:nvSpPr>
          <p:cNvPr id="5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D7BF36CB-EA38-44FC-B98B-63977624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4F3A821A-E441-42E1-970A-61527F5E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arch-link-1">
            <a:extLst xmlns:a="http://schemas.openxmlformats.org/drawingml/2006/main">
              <a:ext uri="{FF2B5EF4-FFF2-40B4-BE49-F238E27FC236}">
                <a16:creationId xmlns:a16="http://schemas.microsoft.com/office/drawing/2014/main" id="{336209A4-391A-4191-8B14-9FFBC0E2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05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arch-link-2">
            <a:extLst xmlns:a="http://schemas.openxmlformats.org/drawingml/2006/main">
              <a:ext uri="{FF2B5EF4-FFF2-40B4-BE49-F238E27FC236}">
                <a16:creationId xmlns:a16="http://schemas.microsoft.com/office/drawing/2014/main" id="{E47CE5E5-0657-4F74-800B-4E617FF5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arch-0-bg">
            <a:extLst xmlns:a="http://schemas.openxmlformats.org/drawingml/2006/main">
              <a:ext uri="{FF2B5EF4-FFF2-40B4-BE49-F238E27FC236}">
                <a16:creationId xmlns:a16="http://schemas.microsoft.com/office/drawing/2014/main" id="{E4552FBA-33F8-4E9F-A5D0-618983B0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2495550" cy="31051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arch-0-top">
            <a:extLst xmlns:a="http://schemas.openxmlformats.org/drawingml/2006/main">
              <a:ext uri="{FF2B5EF4-FFF2-40B4-BE49-F238E27FC236}">
                <a16:creationId xmlns:a16="http://schemas.microsoft.com/office/drawing/2014/main" id="{A1B8B570-3025-4DA7-BBDE-A5B97947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2495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0-icon">
            <a:extLst xmlns:a="http://schemas.openxmlformats.org/drawingml/2006/main">
              <a:ext uri="{FF2B5EF4-FFF2-40B4-BE49-F238E27FC236}">
                <a16:creationId xmlns:a16="http://schemas.microsoft.com/office/drawing/2014/main" id="{315170B3-D6FA-44A6-A36B-B54FE198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0-num">
            <a:extLst xmlns:a="http://schemas.openxmlformats.org/drawingml/2006/main">
              <a:ext uri="{FF2B5EF4-FFF2-40B4-BE49-F238E27FC236}">
                <a16:creationId xmlns:a16="http://schemas.microsoft.com/office/drawing/2014/main" id="{EC202D83-3F70-42A6-B038-8681134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-0-title">
            <a:extLst xmlns:a="http://schemas.openxmlformats.org/drawingml/2006/main">
              <a:ext uri="{FF2B5EF4-FFF2-40B4-BE49-F238E27FC236}">
                <a16:creationId xmlns:a16="http://schemas.microsoft.com/office/drawing/2014/main" id="{76378AE0-837D-4B80-BE56-48F2E8CE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624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使用者體驗</a:t>
            </a:r>
          </a:p>
        </p:txBody>
      </p:sp>
      <p:sp>
        <p:nvSpPr>
          <p:cNvPr id="14" name="arch-0-items">
            <a:extLst xmlns:a="http://schemas.openxmlformats.org/drawingml/2006/main">
              <a:ext uri="{FF2B5EF4-FFF2-40B4-BE49-F238E27FC236}">
                <a16:creationId xmlns:a16="http://schemas.microsoft.com/office/drawing/2014/main" id="{5AAA8F68-EE52-42AD-AF8E-FEFA5E90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多模式練習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趨勢與排行榜</a:t>
            </a:r>
          </a:p>
        </p:txBody>
      </p:sp>
      <p:sp>
        <p:nvSpPr>
          <p:cNvPr id="15" name="arch-1-bg">
            <a:extLst xmlns:a="http://schemas.openxmlformats.org/drawingml/2006/main">
              <a:ext uri="{FF2B5EF4-FFF2-40B4-BE49-F238E27FC236}">
                <a16:creationId xmlns:a16="http://schemas.microsoft.com/office/drawing/2014/main" id="{F21FC99F-2550-4593-A326-1F7379D9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34290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arch-1-top">
            <a:extLst xmlns:a="http://schemas.openxmlformats.org/drawingml/2006/main">
              <a:ext uri="{FF2B5EF4-FFF2-40B4-BE49-F238E27FC236}">
                <a16:creationId xmlns:a16="http://schemas.microsoft.com/office/drawing/2014/main" id="{62E4504B-7F42-405D-9847-DF8724E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3429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icon">
            <a:extLst xmlns:a="http://schemas.openxmlformats.org/drawingml/2006/main">
              <a:ext uri="{FF2B5EF4-FFF2-40B4-BE49-F238E27FC236}">
                <a16:creationId xmlns:a16="http://schemas.microsoft.com/office/drawing/2014/main" id="{E8A506FA-40A2-4182-854D-3A9BCEC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1-num">
            <a:extLst xmlns:a="http://schemas.openxmlformats.org/drawingml/2006/main">
              <a:ext uri="{FF2B5EF4-FFF2-40B4-BE49-F238E27FC236}">
                <a16:creationId xmlns:a16="http://schemas.microsoft.com/office/drawing/2014/main" id="{2D179D86-0696-4CC6-82B9-2D66CDD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9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AF1EF1A9-AE4E-4523-B713-3DACA00D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62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服務與資料</a:t>
            </a:r>
          </a:p>
        </p:txBody>
      </p:sp>
      <p:sp>
        <p:nvSpPr>
          <p:cNvPr id="20" name="arch-1-items">
            <a:extLst xmlns:a="http://schemas.openxmlformats.org/drawingml/2006/main">
              <a:ext uri="{FF2B5EF4-FFF2-40B4-BE49-F238E27FC236}">
                <a16:creationId xmlns:a16="http://schemas.microsoft.com/office/drawing/2014/main" id="{23AD5E35-63A8-449E-B578-44F46BDE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1010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Express API／JWT 權限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SQLite 三庫分工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學習同步、通知、日誌</a:t>
            </a:r>
          </a:p>
        </p:txBody>
      </p:sp>
      <p:sp>
        <p:nvSpPr>
          <p:cNvPr id="21" name="arch-2-bg">
            <a:extLst xmlns:a="http://schemas.openxmlformats.org/drawingml/2006/main">
              <a:ext uri="{FF2B5EF4-FFF2-40B4-BE49-F238E27FC236}">
                <a16:creationId xmlns:a16="http://schemas.microsoft.com/office/drawing/2014/main" id="{4ADC4A37-F140-49BD-868C-AC4E6A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31051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rch-2-top">
            <a:extLst xmlns:a="http://schemas.openxmlformats.org/drawingml/2006/main">
              <a:ext uri="{FF2B5EF4-FFF2-40B4-BE49-F238E27FC236}">
                <a16:creationId xmlns:a16="http://schemas.microsoft.com/office/drawing/2014/main" id="{90F4D958-0D3C-43CD-846F-216108BA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3105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2-icon">
            <a:extLst xmlns:a="http://schemas.openxmlformats.org/drawingml/2006/main">
              <a:ext uri="{FF2B5EF4-FFF2-40B4-BE49-F238E27FC236}">
                <a16:creationId xmlns:a16="http://schemas.microsoft.com/office/drawing/2014/main" id="{C85DD597-7E16-4C43-93F9-43A962E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-2-num">
            <a:extLst xmlns:a="http://schemas.openxmlformats.org/drawingml/2006/main">
              <a:ext uri="{FF2B5EF4-FFF2-40B4-BE49-F238E27FC236}">
                <a16:creationId xmlns:a16="http://schemas.microsoft.com/office/drawing/2014/main" id="{F4617B7E-5673-4E83-8776-6F905852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5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57F75A49-65A9-4F04-80FC-21A5366C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內容與維運</a:t>
            </a:r>
          </a:p>
        </p:txBody>
      </p:sp>
      <p:sp>
        <p:nvSpPr>
          <p:cNvPr id="26" name="arch-2-items">
            <a:extLst xmlns:a="http://schemas.openxmlformats.org/drawingml/2006/main">
              <a:ext uri="{FF2B5EF4-FFF2-40B4-BE49-F238E27FC236}">
                <a16:creationId xmlns:a16="http://schemas.microsoft.com/office/drawing/2014/main" id="{FE46124A-535D-43E9-BB30-8295D657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101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OCR／Gemini 匯入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管理後台與人工審核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發音快取與 fallback</a:t>
            </a:r>
          </a:p>
        </p:txBody>
      </p:sp>
      <p:sp>
        <p:nvSpPr>
          <p:cNvPr id="27" name="architecture-conclusion">
            <a:extLst xmlns:a="http://schemas.openxmlformats.org/drawingml/2006/main">
              <a:ext uri="{FF2B5EF4-FFF2-40B4-BE49-F238E27FC236}">
                <a16:creationId xmlns:a16="http://schemas.microsoft.com/office/drawing/2014/main" id="{992DEDFB-DD8C-48BB-87B7-49509C7D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484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真正的挑戰不是『會不會寫一頁』，而是讓資料、權限、錯誤與使用流程能一起運作。</a:t>
            </a:r>
          </a:p>
        </p:txBody>
      </p:sp>
    </p:spTree>
    <p:extLst>
      <p:ext uri="{BB962C8B-B14F-4D97-AF65-F5344CB8AC3E}">
        <p14:creationId xmlns:p14="http://schemas.microsoft.com/office/powerpoint/2010/main" val="727885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p-rule-7">
            <a:extLst xmlns:a="http://schemas.openxmlformats.org/drawingml/2006/main">
              <a:ext uri="{FF2B5EF4-FFF2-40B4-BE49-F238E27FC236}">
                <a16:creationId xmlns:a16="http://schemas.microsoft.com/office/drawing/2014/main" id="{89ACB7F1-AA13-4340-8CD9-C5B3EE4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70E649CB-BCCE-4082-94B1-A0C3379F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AI RELIABILITY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78296FC9-BAA1-431E-93DC-F03FC82D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生成不是答案；品質控制才是系統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EA6BB445-C32A-4B06-8100-10E7E6C1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一次生成曾出現錯誤，因此我把流程改成分工明確的三階段審查。</a:t>
            </a:r>
          </a:p>
        </p:txBody>
      </p:sp>
      <p:sp>
        <p:nvSpPr>
          <p:cNvPr id="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0F3C8AAE-B1C4-40CA-ABA0-A3935DCF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69F77CF3-B87E-455E-9A8E-466BEC71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9ddc53dc84df1"/>
          <a:srcRect xmlns:a="http://schemas.openxmlformats.org/drawingml/2006/main" l="7360" t="0" r="73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268605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8" name="ai-flow-line">
            <a:extLst xmlns:a="http://schemas.openxmlformats.org/drawingml/2006/main">
              <a:ext uri="{FF2B5EF4-FFF2-40B4-BE49-F238E27FC236}">
                <a16:creationId xmlns:a16="http://schemas.microsoft.com/office/drawing/2014/main" id="{973BB05C-69B9-46E0-9DB7-74C80FE8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86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9" name="ai-step-1">
            <a:extLst xmlns:a="http://schemas.openxmlformats.org/drawingml/2006/main">
              <a:ext uri="{FF2B5EF4-FFF2-40B4-BE49-F238E27FC236}">
                <a16:creationId xmlns:a16="http://schemas.microsoft.com/office/drawing/2014/main" id="{0C82D101-D62C-4CBD-888B-7BE740A2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step-n-1">
            <a:extLst xmlns:a="http://schemas.openxmlformats.org/drawingml/2006/main">
              <a:ext uri="{FF2B5EF4-FFF2-40B4-BE49-F238E27FC236}">
                <a16:creationId xmlns:a16="http://schemas.microsoft.com/office/drawing/2014/main" id="{91138809-A854-4150-B66E-04D0B9A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ai-step-title-1">
            <a:extLst xmlns:a="http://schemas.openxmlformats.org/drawingml/2006/main">
              <a:ext uri="{FF2B5EF4-FFF2-40B4-BE49-F238E27FC236}">
                <a16:creationId xmlns:a16="http://schemas.microsoft.com/office/drawing/2014/main" id="{2395073D-4EF3-4DE2-AA0A-F5B2C1B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12" name="ai-step-sub-1">
            <a:extLst xmlns:a="http://schemas.openxmlformats.org/drawingml/2006/main">
              <a:ext uri="{FF2B5EF4-FFF2-40B4-BE49-F238E27FC236}">
                <a16:creationId xmlns:a16="http://schemas.microsoft.com/office/drawing/2014/main" id="{B6F0727E-B103-4D01-8FF9-2A011C6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建立初稿</a:t>
            </a:r>
          </a:p>
        </p:txBody>
      </p:sp>
      <p:sp>
        <p:nvSpPr>
          <p:cNvPr id="13" name="ai-step-2">
            <a:extLst xmlns:a="http://schemas.openxmlformats.org/drawingml/2006/main">
              <a:ext uri="{FF2B5EF4-FFF2-40B4-BE49-F238E27FC236}">
                <a16:creationId xmlns:a16="http://schemas.microsoft.com/office/drawing/2014/main" id="{0AC0A953-1B54-4C08-B787-7C6FB557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step-n-2">
            <a:extLst xmlns:a="http://schemas.openxmlformats.org/drawingml/2006/main">
              <a:ext uri="{FF2B5EF4-FFF2-40B4-BE49-F238E27FC236}">
                <a16:creationId xmlns:a16="http://schemas.microsoft.com/office/drawing/2014/main" id="{C9819D68-E3A4-4E8F-A83A-6780A0E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ai-step-title-2">
            <a:extLst xmlns:a="http://schemas.openxmlformats.org/drawingml/2006/main">
              <a:ext uri="{FF2B5EF4-FFF2-40B4-BE49-F238E27FC236}">
                <a16:creationId xmlns:a16="http://schemas.microsoft.com/office/drawing/2014/main" id="{5789B48C-4077-4814-89EC-B1DCB284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複核</a:t>
            </a:r>
          </a:p>
        </p:txBody>
      </p:sp>
      <p:sp>
        <p:nvSpPr>
          <p:cNvPr id="16" name="ai-step-sub-2">
            <a:extLst xmlns:a="http://schemas.openxmlformats.org/drawingml/2006/main">
              <a:ext uri="{FF2B5EF4-FFF2-40B4-BE49-F238E27FC236}">
                <a16:creationId xmlns:a16="http://schemas.microsoft.com/office/drawing/2014/main" id="{071C1472-1977-46BF-81C5-66256C1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檢查缺漏</a:t>
            </a:r>
          </a:p>
        </p:txBody>
      </p:sp>
      <p:sp>
        <p:nvSpPr>
          <p:cNvPr id="17" name="ai-step-3">
            <a:extLst xmlns:a="http://schemas.openxmlformats.org/drawingml/2006/main">
              <a:ext uri="{FF2B5EF4-FFF2-40B4-BE49-F238E27FC236}">
                <a16:creationId xmlns:a16="http://schemas.microsoft.com/office/drawing/2014/main" id="{EBC89567-881A-4E4E-84A8-A45B0AE5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step-n-3">
            <a:extLst xmlns:a="http://schemas.openxmlformats.org/drawingml/2006/main">
              <a:ext uri="{FF2B5EF4-FFF2-40B4-BE49-F238E27FC236}">
                <a16:creationId xmlns:a16="http://schemas.microsoft.com/office/drawing/2014/main" id="{FA9F1578-4FD0-48B3-9E42-45C262AF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ai-step-title-3">
            <a:extLst xmlns:a="http://schemas.openxmlformats.org/drawingml/2006/main">
              <a:ext uri="{FF2B5EF4-FFF2-40B4-BE49-F238E27FC236}">
                <a16:creationId xmlns:a16="http://schemas.microsoft.com/office/drawing/2014/main" id="{CDF06344-9F89-4D4B-932D-6ECDC5E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仲裁</a:t>
            </a:r>
          </a:p>
        </p:txBody>
      </p:sp>
      <p:sp>
        <p:nvSpPr>
          <p:cNvPr id="20" name="ai-step-sub-3">
            <a:extLst xmlns:a="http://schemas.openxmlformats.org/drawingml/2006/main">
              <a:ext uri="{FF2B5EF4-FFF2-40B4-BE49-F238E27FC236}">
                <a16:creationId xmlns:a16="http://schemas.microsoft.com/office/drawing/2014/main" id="{A6D84F39-49F7-43CD-A4D2-BDDDC5E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決定最終稿</a:t>
            </a:r>
          </a:p>
        </p:txBody>
      </p:sp>
      <p:sp>
        <p:nvSpPr>
          <p:cNvPr id="21" name="ai-guardrail">
            <a:extLst xmlns:a="http://schemas.openxmlformats.org/drawingml/2006/main">
              <a:ext uri="{FF2B5EF4-FFF2-40B4-BE49-F238E27FC236}">
                <a16:creationId xmlns:a16="http://schemas.microsoft.com/office/drawing/2014/main" id="{357EBF3C-9204-4325-AC1D-8591B56C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19750"/>
            <a:ext cx="4762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i-guardrail-text">
            <a:extLst xmlns:a="http://schemas.openxmlformats.org/drawingml/2006/main">
              <a:ext uri="{FF2B5EF4-FFF2-40B4-BE49-F238E27FC236}">
                <a16:creationId xmlns:a16="http://schemas.microsoft.com/office/drawing/2014/main" id="{5B497DF8-4D49-4F5E-96C1-BBB14013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4835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最後仍要通過：格式驗證 · 詞性規則 · 漏字／重複檢查 · 失敗回退</a:t>
            </a:r>
          </a:p>
        </p:txBody>
      </p:sp>
    </p:spTree>
    <p:extLst>
      <p:ext uri="{BB962C8B-B14F-4D97-AF65-F5344CB8AC3E}">
        <p14:creationId xmlns:p14="http://schemas.microsoft.com/office/powerpoint/2010/main" val="1460631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Rectangle 2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p-rule-8">
            <a:extLst xmlns:a="http://schemas.openxmlformats.org/drawingml/2006/main">
              <a:ext uri="{FF2B5EF4-FFF2-40B4-BE49-F238E27FC236}">
                <a16:creationId xmlns:a16="http://schemas.microsoft.com/office/drawing/2014/main" id="{2444400E-83F9-48ED-8B3B-78E65B82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B75D362B-4792-431D-81BA-B11B7D9E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C31E288-FE09-4978-886C-8C988B06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專案已離開『只有我自己用』的階段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E6FD4FC6-0BDC-4FC3-8679-DD42E9D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數字代表內容規模與真實行為；不把註冊數或正確率誇大成學習成效。</a:t>
            </a:r>
          </a:p>
        </p:txBody>
      </p:sp>
      <p:sp>
        <p:nvSpPr>
          <p:cNvPr id="5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E835D5C6-1FDD-42C9-90D3-D7A83F79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A7EA53D-081C-4F29-96B8-70EE4F33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metric-words-value">
            <a:extLst xmlns:a="http://schemas.openxmlformats.org/drawingml/2006/main">
              <a:ext uri="{FF2B5EF4-FFF2-40B4-BE49-F238E27FC236}">
                <a16:creationId xmlns:a16="http://schemas.microsoft.com/office/drawing/2014/main" id="{CDEED410-0DA5-4649-8103-38FC4E31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52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3,684</a:t>
            </a:r>
          </a:p>
        </p:txBody>
      </p:sp>
      <p:sp>
        <p:nvSpPr>
          <p:cNvPr id="8" name="metric-words-line">
            <a:extLst xmlns:a="http://schemas.openxmlformats.org/drawingml/2006/main">
              <a:ext uri="{FF2B5EF4-FFF2-40B4-BE49-F238E27FC236}">
                <a16:creationId xmlns:a16="http://schemas.microsoft.com/office/drawing/2014/main" id="{E19E0562-D752-4FF2-9492-69BDB68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81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metric-words-caption">
            <a:extLst xmlns:a="http://schemas.openxmlformats.org/drawingml/2006/main">
              <a:ext uri="{FF2B5EF4-FFF2-40B4-BE49-F238E27FC236}">
                <a16:creationId xmlns:a16="http://schemas.microsoft.com/office/drawing/2014/main" id="{207EA0F2-94AB-47E9-81B8-64948D8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個單字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分布於 71 個單元</a:t>
            </a:r>
          </a:p>
        </p:txBody>
      </p:sp>
      <p:sp>
        <p:nvSpPr>
          <p:cNvPr id="10" name="metric-visitors-value">
            <a:extLst xmlns:a="http://schemas.openxmlformats.org/drawingml/2006/main">
              <a:ext uri="{FF2B5EF4-FFF2-40B4-BE49-F238E27FC236}">
                <a16:creationId xmlns:a16="http://schemas.microsoft.com/office/drawing/2014/main" id="{2911B1E3-BD56-470A-B30F-722650FA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11" name="metric-visitors-line">
            <a:extLst xmlns:a="http://schemas.openxmlformats.org/drawingml/2006/main">
              <a:ext uri="{FF2B5EF4-FFF2-40B4-BE49-F238E27FC236}">
                <a16:creationId xmlns:a16="http://schemas.microsoft.com/office/drawing/2014/main" id="{0F35BDBC-3FE6-4FB8-A6F8-11E09E55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81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metric-visitors-caption">
            <a:extLst xmlns:a="http://schemas.openxmlformats.org/drawingml/2006/main">
              <a:ext uri="{FF2B5EF4-FFF2-40B4-BE49-F238E27FC236}">
                <a16:creationId xmlns:a16="http://schemas.microsoft.com/office/drawing/2014/main" id="{14316E86-57A9-492E-860C-5E0F7DB9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位去重造訪者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公開服務使用紀錄</a:t>
            </a:r>
          </a:p>
        </p:txBody>
      </p:sp>
      <p:sp>
        <p:nvSpPr>
          <p:cNvPr id="13" name="metric-learners-value">
            <a:extLst xmlns:a="http://schemas.openxmlformats.org/drawingml/2006/main">
              <a:ext uri="{FF2B5EF4-FFF2-40B4-BE49-F238E27FC236}">
                <a16:creationId xmlns:a16="http://schemas.microsoft.com/office/drawing/2014/main" id="{BD6D7174-1959-46E7-82B2-36D8860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4" name="metric-learners-line">
            <a:extLst xmlns:a="http://schemas.openxmlformats.org/drawingml/2006/main">
              <a:ext uri="{FF2B5EF4-FFF2-40B4-BE49-F238E27FC236}">
                <a16:creationId xmlns:a16="http://schemas.microsoft.com/office/drawing/2014/main" id="{0DD153D7-A18D-4384-B2E6-836BB7B2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metric-learners-caption">
            <a:extLst xmlns:a="http://schemas.openxmlformats.org/drawingml/2006/main">
              <a:ext uri="{FF2B5EF4-FFF2-40B4-BE49-F238E27FC236}">
                <a16:creationId xmlns:a16="http://schemas.microsoft.com/office/drawing/2014/main" id="{77999FDD-CA14-46FE-A799-E6065B85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位產生作答紀錄者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不是測試帳號總數</a:t>
            </a:r>
          </a:p>
        </p:txBody>
      </p:sp>
      <p:sp>
        <p:nvSpPr>
          <p:cNvPr id="16" name="metric-attempts-value">
            <a:extLst xmlns:a="http://schemas.openxmlformats.org/drawingml/2006/main">
              <a:ext uri="{FF2B5EF4-FFF2-40B4-BE49-F238E27FC236}">
                <a16:creationId xmlns:a16="http://schemas.microsoft.com/office/drawing/2014/main" id="{586719A6-AB6A-491A-8282-94945152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rPr>
              <a:t>10,011</a:t>
            </a:r>
          </a:p>
        </p:txBody>
      </p:sp>
      <p:sp>
        <p:nvSpPr>
          <p:cNvPr id="17" name="metric-attempts-line">
            <a:extLst xmlns:a="http://schemas.openxmlformats.org/drawingml/2006/main">
              <a:ext uri="{FF2B5EF4-FFF2-40B4-BE49-F238E27FC236}">
                <a16:creationId xmlns:a16="http://schemas.microsoft.com/office/drawing/2014/main" id="{702336EB-A0AB-498A-BEE0-34E3FE29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8140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metric-attempts-caption">
            <a:extLst xmlns:a="http://schemas.openxmlformats.org/drawingml/2006/main">
              <a:ext uri="{FF2B5EF4-FFF2-40B4-BE49-F238E27FC236}">
                <a16:creationId xmlns:a16="http://schemas.microsoft.com/office/drawing/2014/main" id="{85068135-2494-41C4-B642-DA4B44D3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筆作答紀錄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可追蹤錯題與熟練度</a:t>
            </a:r>
          </a:p>
        </p:txBody>
      </p:sp>
      <p:sp>
        <p:nvSpPr>
          <p:cNvPr id="19" name="evidence-strip">
            <a:extLst xmlns:a="http://schemas.openxmlformats.org/drawingml/2006/main">
              <a:ext uri="{FF2B5EF4-FFF2-40B4-BE49-F238E27FC236}">
                <a16:creationId xmlns:a16="http://schemas.microsoft.com/office/drawing/2014/main" id="{2A5B9778-6095-4687-96D4-5E2F4A1C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57800"/>
            <a:ext cx="106870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evidence-strip-main">
            <a:extLst xmlns:a="http://schemas.openxmlformats.org/drawingml/2006/main">
              <a:ext uri="{FF2B5EF4-FFF2-40B4-BE49-F238E27FC236}">
                <a16:creationId xmlns:a16="http://schemas.microsoft.com/office/drawing/2014/main" id="{1E2BD1F4-5ED0-4E9C-A8AF-EB336B7F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05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142 批匯入 · 277 場練習 · 2,122 筆熟練度資料</a:t>
            </a:r>
          </a:p>
        </p:txBody>
      </p:sp>
      <p:sp>
        <p:nvSpPr>
          <p:cNvPr id="21" name="evidence-strip-note">
            <a:extLst xmlns:a="http://schemas.openxmlformats.org/drawingml/2006/main">
              <a:ext uri="{FF2B5EF4-FFF2-40B4-BE49-F238E27FC236}">
                <a16:creationId xmlns:a16="http://schemas.microsoft.com/office/drawing/2014/main" id="{DEB174CC-F55E-4899-81A2-ED4A7E27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81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資料快照：2026/08/15</a:t>
            </a:r>
          </a:p>
        </p:txBody>
      </p:sp>
      <p:sp>
        <p:nvSpPr>
          <p:cNvPr id="22" name="evidence-guardrail">
            <a:extLst xmlns:a="http://schemas.openxmlformats.org/drawingml/2006/main">
              <a:ext uri="{FF2B5EF4-FFF2-40B4-BE49-F238E27FC236}">
                <a16:creationId xmlns:a16="http://schemas.microsoft.com/office/drawing/2014/main" id="{6E433F72-AFD0-4A99-AD93-A013508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5532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證據能支持『真實使用』；目前沒有前後測，因此不主張系統造成成績提升。</a:t>
            </a:r>
          </a:p>
        </p:txBody>
      </p:sp>
    </p:spTree>
    <p:extLst>
      <p:ext uri="{BB962C8B-B14F-4D97-AF65-F5344CB8AC3E}">
        <p14:creationId xmlns:p14="http://schemas.microsoft.com/office/powerpoint/2010/main" val="292416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ectangle 2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op-rule-9">
            <a:extLst xmlns:a="http://schemas.openxmlformats.org/drawingml/2006/main">
              <a:ext uri="{FF2B5EF4-FFF2-40B4-BE49-F238E27FC236}">
                <a16:creationId xmlns:a16="http://schemas.microsoft.com/office/drawing/2014/main" id="{641315D8-1486-4BFE-9AFD-29E46803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F9F99602-93D0-4269-B695-B8ACD38A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ITERATION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D46D2BF0-F9E9-43D4-9CBB-B2E74823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錯誤不是被藏起來，而是變成下一版設計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80CCAB3B-43BA-49DD-B82F-DB685966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同學回報與自行測試共同暴露問題；我只呈現已能說明的改變。</a:t>
            </a:r>
          </a:p>
        </p:txBody>
      </p:sp>
      <p:sp>
        <p:nvSpPr>
          <p:cNvPr id="5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CC9EC945-D433-419F-B804-390D37D6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B9ABC76-2F25-417E-AAB3-AF9D871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iter-one">
            <a:extLst xmlns:a="http://schemas.openxmlformats.org/drawingml/2006/main">
              <a:ext uri="{FF2B5EF4-FFF2-40B4-BE49-F238E27FC236}">
                <a16:creationId xmlns:a16="http://schemas.microsoft.com/office/drawing/2014/main" id="{75A3BC9E-3781-4148-BBAD-74A12229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8" name="iter-one-label-bg">
            <a:extLst xmlns:a="http://schemas.openxmlformats.org/drawingml/2006/main">
              <a:ext uri="{FF2B5EF4-FFF2-40B4-BE49-F238E27FC236}">
                <a16:creationId xmlns:a16="http://schemas.microsoft.com/office/drawing/2014/main" id="{A506B980-017C-4D3F-99D3-F38A614C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ter-one-label">
            <a:extLst xmlns:a="http://schemas.openxmlformats.org/drawingml/2006/main">
              <a:ext uri="{FF2B5EF4-FFF2-40B4-BE49-F238E27FC236}">
                <a16:creationId xmlns:a16="http://schemas.microsoft.com/office/drawing/2014/main" id="{B1702996-E036-446D-A936-6BEF20FF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PRONUNCIATION</a:t>
            </a:r>
          </a:p>
        </p:txBody>
      </p:sp>
      <p:sp>
        <p:nvSpPr>
          <p:cNvPr id="10" name="iter-one-title">
            <a:extLst xmlns:a="http://schemas.openxmlformats.org/drawingml/2006/main">
              <a:ext uri="{FF2B5EF4-FFF2-40B4-BE49-F238E27FC236}">
                <a16:creationId xmlns:a16="http://schemas.microsoft.com/office/drawing/2014/main" id="{606DE7DB-305D-4E05-A552-7FBB614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語音模型發音不正確</a:t>
            </a:r>
          </a:p>
        </p:txBody>
      </p:sp>
      <p:sp>
        <p:nvSpPr>
          <p:cNvPr id="11" name="iter-one-arrow">
            <a:extLst xmlns:a="http://schemas.openxmlformats.org/drawingml/2006/main">
              <a:ext uri="{FF2B5EF4-FFF2-40B4-BE49-F238E27FC236}">
                <a16:creationId xmlns:a16="http://schemas.microsoft.com/office/drawing/2014/main" id="{6D46EDF7-12F2-48F4-B666-5A3D1911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2" name="iter-one-fix">
            <a:extLst xmlns:a="http://schemas.openxmlformats.org/drawingml/2006/main">
              <a:ext uri="{FF2B5EF4-FFF2-40B4-BE49-F238E27FC236}">
                <a16:creationId xmlns:a16="http://schemas.microsoft.com/office/drawing/2014/main" id="{6A58B808-A7E6-431C-9C22-EE44FFED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優先抓取字典真人發音；無合適來源時，再以 TTS 作為 fallback。</a:t>
            </a:r>
          </a:p>
        </p:txBody>
      </p:sp>
      <p:sp>
        <p:nvSpPr>
          <p:cNvPr id="13" name="iter-two">
            <a:extLst xmlns:a="http://schemas.openxmlformats.org/drawingml/2006/main">
              <a:ext uri="{FF2B5EF4-FFF2-40B4-BE49-F238E27FC236}">
                <a16:creationId xmlns:a16="http://schemas.microsoft.com/office/drawing/2014/main" id="{B60D2B79-04DD-405B-A81C-8293299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iter-two-label-bg">
            <a:extLst xmlns:a="http://schemas.openxmlformats.org/drawingml/2006/main">
              <a:ext uri="{FF2B5EF4-FFF2-40B4-BE49-F238E27FC236}">
                <a16:creationId xmlns:a16="http://schemas.microsoft.com/office/drawing/2014/main" id="{166D42FE-F6C4-4D40-B498-59F373B7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r-two-label">
            <a:extLst xmlns:a="http://schemas.openxmlformats.org/drawingml/2006/main">
              <a:ext uri="{FF2B5EF4-FFF2-40B4-BE49-F238E27FC236}">
                <a16:creationId xmlns:a16="http://schemas.microsoft.com/office/drawing/2014/main" id="{7CAFCB98-C5A5-4DD9-A7E2-FD8351C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CONTENT QUALITY</a:t>
            </a:r>
          </a:p>
        </p:txBody>
      </p:sp>
      <p:sp>
        <p:nvSpPr>
          <p:cNvPr id="16" name="iter-two-title">
            <a:extLst xmlns:a="http://schemas.openxmlformats.org/drawingml/2006/main">
              <a:ext uri="{FF2B5EF4-FFF2-40B4-BE49-F238E27FC236}">
                <a16:creationId xmlns:a16="http://schemas.microsoft.com/office/drawing/2014/main" id="{E927DB5C-28AC-45E1-8295-B5C6301A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單次生成會留下分析錯誤</a:t>
            </a:r>
          </a:p>
        </p:txBody>
      </p:sp>
      <p:sp>
        <p:nvSpPr>
          <p:cNvPr id="17" name="iter-two-arrow">
            <a:extLst xmlns:a="http://schemas.openxmlformats.org/drawingml/2006/main">
              <a:ext uri="{FF2B5EF4-FFF2-40B4-BE49-F238E27FC236}">
                <a16:creationId xmlns:a16="http://schemas.microsoft.com/office/drawing/2014/main" id="{0B43C8BB-8791-43E4-A74B-18E0F8A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8" name="iter-two-fix">
            <a:extLst xmlns:a="http://schemas.openxmlformats.org/drawingml/2006/main">
              <a:ext uri="{FF2B5EF4-FFF2-40B4-BE49-F238E27FC236}">
                <a16:creationId xmlns:a16="http://schemas.microsoft.com/office/drawing/2014/main" id="{6244D522-3204-40CB-82C3-6E37D74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86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拆成生成、複核、仲裁，並用規則驗證與回退避免錯誤直接進入單字庫。</a:t>
            </a:r>
          </a:p>
        </p:txBody>
      </p:sp>
      <p:sp>
        <p:nvSpPr>
          <p:cNvPr id="19" name="iteration-conclusion">
            <a:extLst xmlns:a="http://schemas.openxmlformats.org/drawingml/2006/main">
              <a:ext uri="{FF2B5EF4-FFF2-40B4-BE49-F238E27FC236}">
                <a16:creationId xmlns:a16="http://schemas.microsoft.com/office/drawing/2014/main" id="{437A8008-0BA3-4F6A-94D8-DB2F6AED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324600"/>
            <a:ext cx="979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迭代的核心不是『加更多 AI』，而是讓錯誤有被發現、被阻擋、被修正的路徑。</a:t>
            </a:r>
          </a:p>
        </p:txBody>
      </p:sp>
    </p:spTree>
    <p:extLst>
      <p:ext uri="{BB962C8B-B14F-4D97-AF65-F5344CB8AC3E}">
        <p14:creationId xmlns:p14="http://schemas.microsoft.com/office/powerpoint/2010/main" val="9870018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op-rule-10">
            <a:extLst xmlns:a="http://schemas.openxmlformats.org/drawingml/2006/main">
              <a:ext uri="{FF2B5EF4-FFF2-40B4-BE49-F238E27FC236}">
                <a16:creationId xmlns:a16="http://schemas.microsoft.com/office/drawing/2014/main" id="{D9F96F69-A10A-4BC6-AF98-33277DD8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C01AD759-1E87-4157-8C1D-231448DF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REFLECTION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1BEB8448-6C4C-4272-8A77-40C51AF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我學到的不是『叫 AI 寫程式』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4573BC5D-D9A7-4252-9A10-686FB38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最大的成長，是把模糊需求轉成可被驗收的系統決策。</a:t>
            </a:r>
          </a:p>
        </p:txBody>
      </p:sp>
      <p:sp>
        <p:nvSpPr>
          <p:cNvPr id="5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AF6A27DB-9170-4CA0-AAF9-EC449562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3F740696-E4E1-47C5-8159-2C068F88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growth-before-label">
            <a:extLst xmlns:a="http://schemas.openxmlformats.org/drawingml/2006/main">
              <a:ext uri="{FF2B5EF4-FFF2-40B4-BE49-F238E27FC236}">
                <a16:creationId xmlns:a16="http://schemas.microsoft.com/office/drawing/2014/main" id="{01692938-8E1D-435A-A116-F0E1DDDF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95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</a:p>
        </p:txBody>
      </p:sp>
      <p:sp>
        <p:nvSpPr>
          <p:cNvPr id="8" name="growth-before">
            <a:extLst xmlns:a="http://schemas.openxmlformats.org/drawingml/2006/main">
              <a:ext uri="{FF2B5EF4-FFF2-40B4-BE49-F238E27FC236}">
                <a16:creationId xmlns:a16="http://schemas.microsoft.com/office/drawing/2014/main" id="{4889C2FE-DF0C-4A47-88DE-995841CD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具備程式基礎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做過小型專案</a:t>
            </a:r>
          </a:p>
        </p:txBody>
      </p:sp>
      <p:sp>
        <p:nvSpPr>
          <p:cNvPr id="9" name="growth-arrow">
            <a:extLst xmlns:a="http://schemas.openxmlformats.org/drawingml/2006/main">
              <a:ext uri="{FF2B5EF4-FFF2-40B4-BE49-F238E27FC236}">
                <a16:creationId xmlns:a16="http://schemas.microsoft.com/office/drawing/2014/main" id="{ED395F01-BE19-4964-B9B0-47B5F4A5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671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growth-after-label">
            <a:extLst xmlns:a="http://schemas.openxmlformats.org/drawingml/2006/main">
              <a:ext uri="{FF2B5EF4-FFF2-40B4-BE49-F238E27FC236}">
                <a16:creationId xmlns:a16="http://schemas.microsoft.com/office/drawing/2014/main" id="{3E1485FE-6046-409F-931A-0F0F640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95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NOW</a:t>
            </a:r>
          </a:p>
        </p:txBody>
      </p:sp>
      <p:sp>
        <p:nvSpPr>
          <p:cNvPr id="11" name="growth-after">
            <a:extLst xmlns:a="http://schemas.openxmlformats.org/drawingml/2006/main">
              <a:ext uri="{FF2B5EF4-FFF2-40B4-BE49-F238E27FC236}">
                <a16:creationId xmlns:a16="http://schemas.microsoft.com/office/drawing/2014/main" id="{EDBE6B47-B123-4C5B-9C77-DB5F786E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533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定義問題 · 拆解需求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制定規則 · 測試驗收</a:t>
            </a:r>
          </a:p>
        </p:txBody>
      </p:sp>
      <p:sp>
        <p:nvSpPr>
          <p:cNvPr id="12" name="future-box">
            <a:extLst xmlns:a="http://schemas.openxmlformats.org/drawingml/2006/main">
              <a:ext uri="{FF2B5EF4-FFF2-40B4-BE49-F238E27FC236}">
                <a16:creationId xmlns:a16="http://schemas.microsoft.com/office/drawing/2014/main" id="{FEC2B4AA-65BC-40F3-840E-3ED16BE7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998220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3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DBBA25EB-1313-4862-9985-D52ED0E3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00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下一步：軟體系統 × AI 可靠性</a:t>
            </a:r>
          </a:p>
        </p:txBody>
      </p:sp>
      <p:sp>
        <p:nvSpPr>
          <p:cNvPr id="14" name="future-body">
            <a:extLst xmlns:a="http://schemas.openxmlformats.org/drawingml/2006/main">
              <a:ext uri="{FF2B5EF4-FFF2-40B4-BE49-F238E27FC236}">
                <a16:creationId xmlns:a16="http://schemas.microsoft.com/office/drawing/2014/main" id="{BD1786A3-D2B2-4737-B2F3-0E9220A6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769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繼續研究如何讓 AI 產出可驗證、可回退、能在真實服務中被信任。</a:t>
            </a:r>
          </a:p>
        </p:txBody>
      </p:sp>
      <p:sp>
        <p:nvSpPr>
          <p:cNvPr id="15" name="public-url">
            <a:extLst xmlns:a="http://schemas.openxmlformats.org/drawingml/2006/main">
              <a:ext uri="{FF2B5EF4-FFF2-40B4-BE49-F238E27FC236}">
                <a16:creationId xmlns:a16="http://schemas.microsoft.com/office/drawing/2014/main" id="{2052320F-F94C-41ED-9569-BA706583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149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3f24af0bf6cf4104"/>
              </a:rPr>
              <a:t>words.ytconch.duckdns.org</a:t>
            </a:r>
          </a:p>
        </p:txBody>
      </p:sp>
      <p:sp>
        <p:nvSpPr>
          <p:cNvPr id="16" name="public-url-note">
            <a:extLst xmlns:a="http://schemas.openxmlformats.org/drawingml/2006/main">
              <a:ext uri="{FF2B5EF4-FFF2-40B4-BE49-F238E27FC236}">
                <a16:creationId xmlns:a16="http://schemas.microsoft.com/office/drawing/2014/main" id="{BA297D89-2284-4C74-AD1F-9F5B3D1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959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公開服務入口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4ECB08B4-A4C1-4D7B-A308-9C199ADF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960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一個從自身需求開始，透過使用、錯誤與驗證持續成長的系統。</a:t>
            </a:r>
          </a:p>
        </p:txBody>
      </p:sp>
    </p:spTree>
    <p:extLst>
      <p:ext uri="{BB962C8B-B14F-4D97-AF65-F5344CB8AC3E}">
        <p14:creationId xmlns:p14="http://schemas.microsoft.com/office/powerpoint/2010/main" val="1547130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1" name="Rectangle 4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op-rule-11">
            <a:extLst xmlns:a="http://schemas.openxmlformats.org/drawingml/2006/main">
              <a:ext uri="{FF2B5EF4-FFF2-40B4-BE49-F238E27FC236}">
                <a16:creationId xmlns:a16="http://schemas.microsoft.com/office/drawing/2014/main" id="{19F89626-F075-451E-B97E-0B9893E8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1E1AA8F0-4229-45B4-97F9-765B7A5A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A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27FAD5FD-281F-4C8C-B375-5A4C20B8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系統範圍：八個使用介面，六類後端責任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68EC56AE-D467-4C26-94B6-EE38E04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附錄提供技術完整度；正文不要求評審逐項閱讀。</a:t>
            </a:r>
          </a:p>
        </p:txBody>
      </p:sp>
      <p:sp>
        <p:nvSpPr>
          <p:cNvPr id="5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6B42CB2B-A25B-400D-AF0F-2E21C1D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E8BC5D9E-1967-475E-A12A-67550D7A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scope-pages-title">
            <a:extLst xmlns:a="http://schemas.openxmlformats.org/drawingml/2006/main">
              <a:ext uri="{FF2B5EF4-FFF2-40B4-BE49-F238E27FC236}">
                <a16:creationId xmlns:a16="http://schemas.microsoft.com/office/drawing/2014/main" id="{B1A1EA8A-60C1-467D-BDB3-3948256D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43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使用介面</a:t>
            </a:r>
          </a:p>
        </p:txBody>
      </p:sp>
      <p:sp>
        <p:nvSpPr>
          <p:cNvPr id="8" name="scope-services-title">
            <a:extLst xmlns:a="http://schemas.openxmlformats.org/drawingml/2006/main">
              <a:ext uri="{FF2B5EF4-FFF2-40B4-BE49-F238E27FC236}">
                <a16:creationId xmlns:a16="http://schemas.microsoft.com/office/drawing/2014/main" id="{57233400-A8AD-4471-A0A6-B7A12126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43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後端責任</a:t>
            </a:r>
          </a:p>
        </p:txBody>
      </p:sp>
      <p:sp>
        <p:nvSpPr>
          <p:cNvPr id="9" name="page-item-bg-0">
            <a:extLst xmlns:a="http://schemas.openxmlformats.org/drawingml/2006/main">
              <a:ext uri="{FF2B5EF4-FFF2-40B4-BE49-F238E27FC236}">
                <a16:creationId xmlns:a16="http://schemas.microsoft.com/office/drawing/2014/main" id="{A79A5C43-3705-43D8-9F50-BB5BCEDF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page-item-0">
            <a:extLst xmlns:a="http://schemas.openxmlformats.org/drawingml/2006/main">
              <a:ext uri="{FF2B5EF4-FFF2-40B4-BE49-F238E27FC236}">
                <a16:creationId xmlns:a16="http://schemas.microsoft.com/office/drawing/2014/main" id="{68F31661-65E3-439D-8D75-BD158B22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14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首頁／登入</a:t>
            </a:r>
          </a:p>
        </p:txBody>
      </p:sp>
      <p:sp>
        <p:nvSpPr>
          <p:cNvPr id="11" name="page-item-bg-1">
            <a:extLst xmlns:a="http://schemas.openxmlformats.org/drawingml/2006/main">
              <a:ext uri="{FF2B5EF4-FFF2-40B4-BE49-F238E27FC236}">
                <a16:creationId xmlns:a16="http://schemas.microsoft.com/office/drawing/2014/main" id="{3F0C97D7-4307-49E8-8650-C74431BA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90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page-item-1">
            <a:extLst xmlns:a="http://schemas.openxmlformats.org/drawingml/2006/main">
              <a:ext uri="{FF2B5EF4-FFF2-40B4-BE49-F238E27FC236}">
                <a16:creationId xmlns:a16="http://schemas.microsoft.com/office/drawing/2014/main" id="{3CDA588E-090E-4F3C-A811-A107BE27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14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</p:txBody>
      </p:sp>
      <p:sp>
        <p:nvSpPr>
          <p:cNvPr id="13" name="page-item-bg-2">
            <a:extLst xmlns:a="http://schemas.openxmlformats.org/drawingml/2006/main">
              <a:ext uri="{FF2B5EF4-FFF2-40B4-BE49-F238E27FC236}">
                <a16:creationId xmlns:a16="http://schemas.microsoft.com/office/drawing/2014/main" id="{8647EA15-09BA-433B-BEF7-10FDA08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19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page-item-2">
            <a:extLst xmlns:a="http://schemas.openxmlformats.org/drawingml/2006/main">
              <a:ext uri="{FF2B5EF4-FFF2-40B4-BE49-F238E27FC236}">
                <a16:creationId xmlns:a16="http://schemas.microsoft.com/office/drawing/2014/main" id="{A7B41A50-2197-4FA6-91D1-94ED836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43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5" name="page-item-bg-3">
            <a:extLst xmlns:a="http://schemas.openxmlformats.org/drawingml/2006/main">
              <a:ext uri="{FF2B5EF4-FFF2-40B4-BE49-F238E27FC236}">
                <a16:creationId xmlns:a16="http://schemas.microsoft.com/office/drawing/2014/main" id="{BE140AA3-FB88-4ABB-BA09-C338A47D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19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page-item-3">
            <a:extLst xmlns:a="http://schemas.openxmlformats.org/drawingml/2006/main">
              <a:ext uri="{FF2B5EF4-FFF2-40B4-BE49-F238E27FC236}">
                <a16:creationId xmlns:a16="http://schemas.microsoft.com/office/drawing/2014/main" id="{6827F356-6A1A-4F71-BC12-7136AF9F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43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排行榜</a:t>
            </a:r>
          </a:p>
        </p:txBody>
      </p:sp>
      <p:sp>
        <p:nvSpPr>
          <p:cNvPr id="17" name="page-item-bg-4">
            <a:extLst xmlns:a="http://schemas.openxmlformats.org/drawingml/2006/main">
              <a:ext uri="{FF2B5EF4-FFF2-40B4-BE49-F238E27FC236}">
                <a16:creationId xmlns:a16="http://schemas.microsoft.com/office/drawing/2014/main" id="{1EC635B7-297D-4794-9951-3B4E96B7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48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page-item-4">
            <a:extLst xmlns:a="http://schemas.openxmlformats.org/drawingml/2006/main">
              <a:ext uri="{FF2B5EF4-FFF2-40B4-BE49-F238E27FC236}">
                <a16:creationId xmlns:a16="http://schemas.microsoft.com/office/drawing/2014/main" id="{6E9C0960-6445-41F1-A280-9F6F1482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72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學習趨勢</a:t>
            </a:r>
          </a:p>
        </p:txBody>
      </p:sp>
      <p:sp>
        <p:nvSpPr>
          <p:cNvPr id="19" name="page-item-bg-5">
            <a:extLst xmlns:a="http://schemas.openxmlformats.org/drawingml/2006/main">
              <a:ext uri="{FF2B5EF4-FFF2-40B4-BE49-F238E27FC236}">
                <a16:creationId xmlns:a16="http://schemas.microsoft.com/office/drawing/2014/main" id="{2C9F614D-C9D3-4A80-A43F-BC2DF8BC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48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page-item-5">
            <a:extLst xmlns:a="http://schemas.openxmlformats.org/drawingml/2006/main">
              <a:ext uri="{FF2B5EF4-FFF2-40B4-BE49-F238E27FC236}">
                <a16:creationId xmlns:a16="http://schemas.microsoft.com/office/drawing/2014/main" id="{473C9D74-F86D-4781-9912-9AA29A22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72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</a:p>
        </p:txBody>
      </p:sp>
      <p:sp>
        <p:nvSpPr>
          <p:cNvPr id="21" name="page-item-bg-6">
            <a:extLst xmlns:a="http://schemas.openxmlformats.org/drawingml/2006/main">
              <a:ext uri="{FF2B5EF4-FFF2-40B4-BE49-F238E27FC236}">
                <a16:creationId xmlns:a16="http://schemas.microsoft.com/office/drawing/2014/main" id="{1E81DC2A-4262-467B-800F-43D6A11F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page-item-6">
            <a:extLst xmlns:a="http://schemas.openxmlformats.org/drawingml/2006/main">
              <a:ext uri="{FF2B5EF4-FFF2-40B4-BE49-F238E27FC236}">
                <a16:creationId xmlns:a16="http://schemas.microsoft.com/office/drawing/2014/main" id="{CB1A9882-ACAD-4C1A-97A4-8603F8AD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00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通知</a:t>
            </a:r>
          </a:p>
        </p:txBody>
      </p:sp>
      <p:sp>
        <p:nvSpPr>
          <p:cNvPr id="23" name="page-item-bg-7">
            <a:extLst xmlns:a="http://schemas.openxmlformats.org/drawingml/2006/main">
              <a:ext uri="{FF2B5EF4-FFF2-40B4-BE49-F238E27FC236}">
                <a16:creationId xmlns:a16="http://schemas.microsoft.com/office/drawing/2014/main" id="{ED0A5DC6-D88D-4EBC-B906-E17FF81E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76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page-item-7">
            <a:extLst xmlns:a="http://schemas.openxmlformats.org/drawingml/2006/main">
              <a:ext uri="{FF2B5EF4-FFF2-40B4-BE49-F238E27FC236}">
                <a16:creationId xmlns:a16="http://schemas.microsoft.com/office/drawing/2014/main" id="{EFD97384-F016-4BE4-A35A-4D1512FC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400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管理後台</a:t>
            </a:r>
          </a:p>
        </p:txBody>
      </p:sp>
      <p:sp>
        <p:nvSpPr>
          <p:cNvPr id="25" name="svc-item-bg-0">
            <a:extLst xmlns:a="http://schemas.openxmlformats.org/drawingml/2006/main">
              <a:ext uri="{FF2B5EF4-FFF2-40B4-BE49-F238E27FC236}">
                <a16:creationId xmlns:a16="http://schemas.microsoft.com/office/drawing/2014/main" id="{3A119099-657B-43F8-AE2F-75721AD1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909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svc-item-0">
            <a:extLst xmlns:a="http://schemas.openxmlformats.org/drawingml/2006/main">
              <a:ext uri="{FF2B5EF4-FFF2-40B4-BE49-F238E27FC236}">
                <a16:creationId xmlns:a16="http://schemas.microsoft.com/office/drawing/2014/main" id="{0CE9635A-AB3B-4D5C-A2E2-0B87865F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86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驗證與權限</a:t>
            </a:r>
          </a:p>
        </p:txBody>
      </p:sp>
      <p:sp>
        <p:nvSpPr>
          <p:cNvPr id="27" name="svc-item-bg-1">
            <a:extLst xmlns:a="http://schemas.openxmlformats.org/drawingml/2006/main">
              <a:ext uri="{FF2B5EF4-FFF2-40B4-BE49-F238E27FC236}">
                <a16:creationId xmlns:a16="http://schemas.microsoft.com/office/drawing/2014/main" id="{7452D316-4D47-4104-89C6-337C2367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052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svc-item-1">
            <a:extLst xmlns:a="http://schemas.openxmlformats.org/drawingml/2006/main">
              <a:ext uri="{FF2B5EF4-FFF2-40B4-BE49-F238E27FC236}">
                <a16:creationId xmlns:a16="http://schemas.microsoft.com/office/drawing/2014/main" id="{695C9EBA-5AC8-43A2-886D-99F6CBB4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005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單字查詢</a:t>
            </a:r>
          </a:p>
        </p:txBody>
      </p:sp>
      <p:sp>
        <p:nvSpPr>
          <p:cNvPr id="29" name="svc-item-bg-2">
            <a:extLst xmlns:a="http://schemas.openxmlformats.org/drawingml/2006/main">
              <a:ext uri="{FF2B5EF4-FFF2-40B4-BE49-F238E27FC236}">
                <a16:creationId xmlns:a16="http://schemas.microsoft.com/office/drawing/2014/main" id="{ADFF0E90-2F0D-42E5-92F0-2396CE6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196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svc-item-2">
            <a:extLst xmlns:a="http://schemas.openxmlformats.org/drawingml/2006/main">
              <a:ext uri="{FF2B5EF4-FFF2-40B4-BE49-F238E27FC236}">
                <a16:creationId xmlns:a16="http://schemas.microsoft.com/office/drawing/2014/main" id="{A60C23F8-9CEA-452C-9667-A0DC38B5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14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練習與熟練度</a:t>
            </a:r>
          </a:p>
        </p:txBody>
      </p:sp>
      <p:sp>
        <p:nvSpPr>
          <p:cNvPr id="31" name="svc-item-bg-3">
            <a:extLst xmlns:a="http://schemas.openxmlformats.org/drawingml/2006/main">
              <a:ext uri="{FF2B5EF4-FFF2-40B4-BE49-F238E27FC236}">
                <a16:creationId xmlns:a16="http://schemas.microsoft.com/office/drawing/2014/main" id="{E4AEFE9F-ECCB-4CE2-91AD-FAAF3B7D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339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svc-item-3">
            <a:extLst xmlns:a="http://schemas.openxmlformats.org/drawingml/2006/main">
              <a:ext uri="{FF2B5EF4-FFF2-40B4-BE49-F238E27FC236}">
                <a16:creationId xmlns:a16="http://schemas.microsoft.com/office/drawing/2014/main" id="{8D3BBD01-B3B2-4750-8BD4-F8299BE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29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分析與排行榜</a:t>
            </a:r>
          </a:p>
        </p:txBody>
      </p:sp>
      <p:sp>
        <p:nvSpPr>
          <p:cNvPr id="33" name="svc-item-bg-4">
            <a:extLst xmlns:a="http://schemas.openxmlformats.org/drawingml/2006/main">
              <a:ext uri="{FF2B5EF4-FFF2-40B4-BE49-F238E27FC236}">
                <a16:creationId xmlns:a16="http://schemas.microsoft.com/office/drawing/2014/main" id="{C3E16FB8-8F36-4D51-8523-C7C48B41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483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svc-item-4">
            <a:extLst xmlns:a="http://schemas.openxmlformats.org/drawingml/2006/main">
              <a:ext uri="{FF2B5EF4-FFF2-40B4-BE49-F238E27FC236}">
                <a16:creationId xmlns:a16="http://schemas.microsoft.com/office/drawing/2014/main" id="{69E2FF1C-9112-4BA3-AD95-AC685A4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5435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匯入與審核</a:t>
            </a:r>
          </a:p>
        </p:txBody>
      </p:sp>
      <p:sp>
        <p:nvSpPr>
          <p:cNvPr id="35" name="svc-item-bg-5">
            <a:extLst xmlns:a="http://schemas.openxmlformats.org/drawingml/2006/main">
              <a:ext uri="{FF2B5EF4-FFF2-40B4-BE49-F238E27FC236}">
                <a16:creationId xmlns:a16="http://schemas.microsoft.com/office/drawing/2014/main" id="{D2BC26FB-D99B-4756-BCB7-52040EBD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9626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svc-item-5">
            <a:extLst xmlns:a="http://schemas.openxmlformats.org/drawingml/2006/main">
              <a:ext uri="{FF2B5EF4-FFF2-40B4-BE49-F238E27FC236}">
                <a16:creationId xmlns:a16="http://schemas.microsoft.com/office/drawing/2014/main" id="{138F0F38-4859-4FEE-BAF6-7FEEF866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0579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TTS／發音快取</a:t>
            </a:r>
          </a:p>
        </p:txBody>
      </p:sp>
    </p:spTree>
    <p:extLst>
      <p:ext uri="{BB962C8B-B14F-4D97-AF65-F5344CB8AC3E}">
        <p14:creationId xmlns:p14="http://schemas.microsoft.com/office/powerpoint/2010/main" val="241432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op-rule-12">
            <a:extLst xmlns:a="http://schemas.openxmlformats.org/drawingml/2006/main">
              <a:ext uri="{FF2B5EF4-FFF2-40B4-BE49-F238E27FC236}">
                <a16:creationId xmlns:a16="http://schemas.microsoft.com/office/drawing/2014/main" id="{3A126E12-6577-440A-AF4D-D50E6CF4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8EA315E7-B0A2-4B78-BF55-0CBEA77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B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7CCAB557-17D3-4285-98C2-C89694B4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26 項測試守住 AI 匯入的關鍵邊界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BEFCFCB0-01A9-448F-9D5F-0B171E82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測試聚焦在模型最常出現、又最容易污染資料庫的輸出差異。</a:t>
            </a:r>
          </a:p>
        </p:txBody>
      </p:sp>
      <p:sp>
        <p:nvSpPr>
          <p:cNvPr id="5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3776F789-07D1-41B5-BE15-B468731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40DAFAD8-B145-4472-A4C0-4BC6722D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test-count-value">
            <a:extLst xmlns:a="http://schemas.openxmlformats.org/drawingml/2006/main">
              <a:ext uri="{FF2B5EF4-FFF2-40B4-BE49-F238E27FC236}">
                <a16:creationId xmlns:a16="http://schemas.microsoft.com/office/drawing/2014/main" id="{3D70E18B-1E45-4134-B668-96D7B4CA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26 / 26</a:t>
            </a:r>
          </a:p>
        </p:txBody>
      </p:sp>
      <p:sp>
        <p:nvSpPr>
          <p:cNvPr id="8" name="test-count-line">
            <a:extLst xmlns:a="http://schemas.openxmlformats.org/drawingml/2006/main">
              <a:ext uri="{FF2B5EF4-FFF2-40B4-BE49-F238E27FC236}">
                <a16:creationId xmlns:a16="http://schemas.microsoft.com/office/drawing/2014/main" id="{580B9236-4BD3-4FCB-8540-002DF76B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6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test-count-caption">
            <a:extLst xmlns:a="http://schemas.openxmlformats.org/drawingml/2006/main">
              <a:ext uri="{FF2B5EF4-FFF2-40B4-BE49-F238E27FC236}">
                <a16:creationId xmlns:a16="http://schemas.microsoft.com/office/drawing/2014/main" id="{89D4019E-FA94-44D9-AC90-0A01D5DD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2026/08/15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一次性測試全部通過</a:t>
            </a:r>
          </a:p>
        </p:txBody>
      </p:sp>
      <p:sp>
        <p:nvSpPr>
          <p:cNvPr id="10" name="check-0-bg">
            <a:extLst xmlns:a="http://schemas.openxmlformats.org/drawingml/2006/main">
              <a:ext uri="{FF2B5EF4-FFF2-40B4-BE49-F238E27FC236}">
                <a16:creationId xmlns:a16="http://schemas.microsoft.com/office/drawing/2014/main" id="{CDFBC17B-A1FF-42E8-955A-3FBA54F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1" name="check-0-title">
            <a:extLst xmlns:a="http://schemas.openxmlformats.org/drawingml/2006/main">
              <a:ext uri="{FF2B5EF4-FFF2-40B4-BE49-F238E27FC236}">
                <a16:creationId xmlns:a16="http://schemas.microsoft.com/office/drawing/2014/main" id="{1ECE4F6D-B73B-4D8E-9BB0-7E3AA50B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71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格式契約</a:t>
            </a:r>
          </a:p>
        </p:txBody>
      </p:sp>
      <p:sp>
        <p:nvSpPr>
          <p:cNvPr id="12" name="check-0-desc">
            <a:extLst xmlns:a="http://schemas.openxmlformats.org/drawingml/2006/main">
              <a:ext uri="{FF2B5EF4-FFF2-40B4-BE49-F238E27FC236}">
                <a16:creationId xmlns:a16="http://schemas.microsoft.com/office/drawing/2014/main" id="{2A561F6C-E301-4845-88B8-3FF93A81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輸出欄位、順序與提示契約</a:t>
            </a:r>
          </a:p>
        </p:txBody>
      </p:sp>
      <p:sp>
        <p:nvSpPr>
          <p:cNvPr id="13" name="check-1-bg">
            <a:extLst xmlns:a="http://schemas.openxmlformats.org/drawingml/2006/main">
              <a:ext uri="{FF2B5EF4-FFF2-40B4-BE49-F238E27FC236}">
                <a16:creationId xmlns:a16="http://schemas.microsoft.com/office/drawing/2014/main" id="{67D3180D-DD27-4285-B00A-18778D7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check-1-title">
            <a:extLst xmlns:a="http://schemas.openxmlformats.org/drawingml/2006/main">
              <a:ext uri="{FF2B5EF4-FFF2-40B4-BE49-F238E27FC236}">
                <a16:creationId xmlns:a16="http://schemas.microsoft.com/office/drawing/2014/main" id="{8D17C82D-6369-44E9-B75F-C9FADF1C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詞性合法</a:t>
            </a:r>
          </a:p>
        </p:txBody>
      </p:sp>
      <p:sp>
        <p:nvSpPr>
          <p:cNvPr id="15" name="check-1-desc">
            <a:extLst xmlns:a="http://schemas.openxmlformats.org/drawingml/2006/main">
              <a:ext uri="{FF2B5EF4-FFF2-40B4-BE49-F238E27FC236}">
                <a16:creationId xmlns:a16="http://schemas.microsoft.com/office/drawing/2014/main" id="{89971F5D-8052-4610-8AD1-F98CE7A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拒絕非法 tense，允許安全正規化</a:t>
            </a:r>
          </a:p>
        </p:txBody>
      </p:sp>
      <p:sp>
        <p:nvSpPr>
          <p:cNvPr id="16" name="check-2-bg">
            <a:extLst xmlns:a="http://schemas.openxmlformats.org/drawingml/2006/main">
              <a:ext uri="{FF2B5EF4-FFF2-40B4-BE49-F238E27FC236}">
                <a16:creationId xmlns:a16="http://schemas.microsoft.com/office/drawing/2014/main" id="{B99C783B-EAC1-4954-81AC-6530B783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7" name="check-2-title">
            <a:extLst xmlns:a="http://schemas.openxmlformats.org/drawingml/2006/main">
              <a:ext uri="{FF2B5EF4-FFF2-40B4-BE49-F238E27FC236}">
                <a16:creationId xmlns:a16="http://schemas.microsoft.com/office/drawing/2014/main" id="{77E242FE-4D26-4048-8140-2A39032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71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內容完整</a:t>
            </a:r>
          </a:p>
        </p:txBody>
      </p:sp>
      <p:sp>
        <p:nvSpPr>
          <p:cNvPr id="18" name="check-2-desc">
            <a:extLst xmlns:a="http://schemas.openxmlformats.org/drawingml/2006/main">
              <a:ext uri="{FF2B5EF4-FFF2-40B4-BE49-F238E27FC236}">
                <a16:creationId xmlns:a16="http://schemas.microsoft.com/office/drawing/2014/main" id="{15354CC0-912D-443B-BE11-25A9B81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95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補回漏字、維持輸入順序</a:t>
            </a:r>
          </a:p>
        </p:txBody>
      </p:sp>
      <p:sp>
        <p:nvSpPr>
          <p:cNvPr id="19" name="check-3-bg">
            <a:extLst xmlns:a="http://schemas.openxmlformats.org/drawingml/2006/main">
              <a:ext uri="{FF2B5EF4-FFF2-40B4-BE49-F238E27FC236}">
                <a16:creationId xmlns:a16="http://schemas.microsoft.com/office/drawing/2014/main" id="{AEE5049F-3D17-4786-BE64-37B294A4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check-3-title">
            <a:extLst xmlns:a="http://schemas.openxmlformats.org/drawingml/2006/main">
              <a:ext uri="{FF2B5EF4-FFF2-40B4-BE49-F238E27FC236}">
                <a16:creationId xmlns:a16="http://schemas.microsoft.com/office/drawing/2014/main" id="{D1C440AD-6A60-4230-80EB-FF55314C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去除重複</a:t>
            </a:r>
          </a:p>
        </p:txBody>
      </p:sp>
      <p:sp>
        <p:nvSpPr>
          <p:cNvPr id="21" name="check-3-desc">
            <a:extLst xmlns:a="http://schemas.openxmlformats.org/drawingml/2006/main">
              <a:ext uri="{FF2B5EF4-FFF2-40B4-BE49-F238E27FC236}">
                <a16:creationId xmlns:a16="http://schemas.microsoft.com/office/drawing/2014/main" id="{BC328F18-3FA1-44C6-9575-60291B6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95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合併重複 row 與重複字義</a:t>
            </a:r>
          </a:p>
        </p:txBody>
      </p:sp>
      <p:sp>
        <p:nvSpPr>
          <p:cNvPr id="22" name="check-4-bg">
            <a:extLst xmlns:a="http://schemas.openxmlformats.org/drawingml/2006/main">
              <a:ext uri="{FF2B5EF4-FFF2-40B4-BE49-F238E27FC236}">
                <a16:creationId xmlns:a16="http://schemas.microsoft.com/office/drawing/2014/main" id="{2286B04A-0BAA-4A63-8CAE-CEE82274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00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3" name="check-4-title">
            <a:extLst xmlns:a="http://schemas.openxmlformats.org/drawingml/2006/main">
              <a:ext uri="{FF2B5EF4-FFF2-40B4-BE49-F238E27FC236}">
                <a16:creationId xmlns:a16="http://schemas.microsoft.com/office/drawing/2014/main" id="{ACA0554C-F9D7-4DAE-B3CA-F04FBA9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72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降級回退</a:t>
            </a:r>
          </a:p>
        </p:txBody>
      </p:sp>
      <p:sp>
        <p:nvSpPr>
          <p:cNvPr id="24" name="check-4-desc">
            <a:extLst xmlns:a="http://schemas.openxmlformats.org/drawingml/2006/main">
              <a:ext uri="{FF2B5EF4-FFF2-40B4-BE49-F238E27FC236}">
                <a16:creationId xmlns:a16="http://schemas.microsoft.com/office/drawing/2014/main" id="{E4239043-22BB-4E8F-B405-B83D3CB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95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後續審查失敗時沿用可靠版本</a:t>
            </a:r>
          </a:p>
        </p:txBody>
      </p:sp>
      <p:sp>
        <p:nvSpPr>
          <p:cNvPr id="25" name="check-5-bg">
            <a:extLst xmlns:a="http://schemas.openxmlformats.org/drawingml/2006/main">
              <a:ext uri="{FF2B5EF4-FFF2-40B4-BE49-F238E27FC236}">
                <a16:creationId xmlns:a16="http://schemas.microsoft.com/office/drawing/2014/main" id="{318E3179-B036-4043-9F19-57AD70AA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00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check-5-title">
            <a:extLst xmlns:a="http://schemas.openxmlformats.org/drawingml/2006/main">
              <a:ext uri="{FF2B5EF4-FFF2-40B4-BE49-F238E27FC236}">
                <a16:creationId xmlns:a16="http://schemas.microsoft.com/office/drawing/2014/main" id="{887A3494-C8CB-4A50-8AE1-04732889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72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API 限流</a:t>
            </a:r>
          </a:p>
        </p:txBody>
      </p:sp>
      <p:sp>
        <p:nvSpPr>
          <p:cNvPr id="27" name="check-5-desc">
            <a:extLst xmlns:a="http://schemas.openxmlformats.org/drawingml/2006/main">
              <a:ext uri="{FF2B5EF4-FFF2-40B4-BE49-F238E27FC236}">
                <a16:creationId xmlns:a16="http://schemas.microsoft.com/office/drawing/2014/main" id="{0578380C-F04A-4D2F-BCB7-D0DCFB7D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95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429 時切換 key 或交回協調器</a:t>
            </a:r>
          </a:p>
        </p:txBody>
      </p:sp>
      <p:sp>
        <p:nvSpPr>
          <p:cNvPr id="28" name="test-command">
            <a:extLst xmlns:a="http://schemas.openxmlformats.org/drawingml/2006/main">
              <a:ext uri="{FF2B5EF4-FFF2-40B4-BE49-F238E27FC236}">
                <a16:creationId xmlns:a16="http://schemas.microsoft.com/office/drawing/2014/main" id="{A11A62D0-E89A-40B3-90B5-EC5EC76B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674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驗證命令：python -m unittest tests.test_image_word_pipeline</a:t>
            </a:r>
          </a:p>
        </p:txBody>
      </p:sp>
    </p:spTree>
    <p:extLst>
      <p:ext uri="{BB962C8B-B14F-4D97-AF65-F5344CB8AC3E}">
        <p14:creationId xmlns:p14="http://schemas.microsoft.com/office/powerpoint/2010/main" val="1941874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9" name="Rectangle 5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Rectangle 5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7" name="Rectangle 5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6" name="Rectangle 5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op-rule-13">
            <a:extLst xmlns:a="http://schemas.openxmlformats.org/drawingml/2006/main">
              <a:ext uri="{FF2B5EF4-FFF2-40B4-BE49-F238E27FC236}">
                <a16:creationId xmlns:a16="http://schemas.microsoft.com/office/drawing/2014/main" id="{00A6D3BF-E781-4CD4-9CEF-928A487B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66D23832-003B-4368-8E41-F0A2864C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C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56AB9BE5-9028-4718-85AE-6E761301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時間線採用證據分級，不把推定寫成事實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E61E4392-CB38-425E-927C-C93071E9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這份報告刻意保留限制，因為可信度比故事完整更重要。</a:t>
            </a:r>
          </a:p>
        </p:txBody>
      </p:sp>
      <p:sp>
        <p:nvSpPr>
          <p:cNvPr id="5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E64648CF-5979-4D92-827B-61B90FA4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A939C022-A553-4E13-B443-127CEE80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7" name="ledger-head-bg-0">
            <a:extLst xmlns:a="http://schemas.openxmlformats.org/drawingml/2006/main">
              <a:ext uri="{FF2B5EF4-FFF2-40B4-BE49-F238E27FC236}">
                <a16:creationId xmlns:a16="http://schemas.microsoft.com/office/drawing/2014/main" id="{BC3FA1AD-6896-4635-8727-0C7FFDEE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051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dger-head-0">
            <a:extLst xmlns:a="http://schemas.openxmlformats.org/drawingml/2006/main">
              <a:ext uri="{FF2B5EF4-FFF2-40B4-BE49-F238E27FC236}">
                <a16:creationId xmlns:a16="http://schemas.microsoft.com/office/drawing/2014/main" id="{E11FDA88-24D2-4F87-8436-0B922F45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日期</a:t>
            </a:r>
          </a:p>
        </p:txBody>
      </p:sp>
      <p:sp>
        <p:nvSpPr>
          <p:cNvPr id="9" name="ledger-head-bg-1">
            <a:extLst xmlns:a="http://schemas.openxmlformats.org/drawingml/2006/main">
              <a:ext uri="{FF2B5EF4-FFF2-40B4-BE49-F238E27FC236}">
                <a16:creationId xmlns:a16="http://schemas.microsoft.com/office/drawing/2014/main" id="{E384660F-A60F-4DC2-A861-AB75CF2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05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dger-head-1">
            <a:extLst xmlns:a="http://schemas.openxmlformats.org/drawingml/2006/main">
              <a:ext uri="{FF2B5EF4-FFF2-40B4-BE49-F238E27FC236}">
                <a16:creationId xmlns:a16="http://schemas.microsoft.com/office/drawing/2014/main" id="{ED98F255-2728-4364-ACFC-224A74FC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28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可觀察事件</a:t>
            </a:r>
          </a:p>
        </p:txBody>
      </p:sp>
      <p:sp>
        <p:nvSpPr>
          <p:cNvPr id="11" name="ledger-head-bg-2">
            <a:extLst xmlns:a="http://schemas.openxmlformats.org/drawingml/2006/main">
              <a:ext uri="{FF2B5EF4-FFF2-40B4-BE49-F238E27FC236}">
                <a16:creationId xmlns:a16="http://schemas.microsoft.com/office/drawing/2014/main" id="{428090A5-BEE2-499A-9578-83EDFC3A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dger-head-2">
            <a:extLst xmlns:a="http://schemas.openxmlformats.org/drawingml/2006/main">
              <a:ext uri="{FF2B5EF4-FFF2-40B4-BE49-F238E27FC236}">
                <a16:creationId xmlns:a16="http://schemas.microsoft.com/office/drawing/2014/main" id="{16C7052B-A420-4A79-BF96-3279FAC6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289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證據強度</a:t>
            </a:r>
          </a:p>
        </p:txBody>
      </p:sp>
      <p:sp>
        <p:nvSpPr>
          <p:cNvPr id="13" name="ledger-head-bg-3">
            <a:extLst xmlns:a="http://schemas.openxmlformats.org/drawingml/2006/main">
              <a:ext uri="{FF2B5EF4-FFF2-40B4-BE49-F238E27FC236}">
                <a16:creationId xmlns:a16="http://schemas.microsoft.com/office/drawing/2014/main" id="{EA09699B-26F5-488A-BF4C-9321E76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051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dger-head-3">
            <a:extLst xmlns:a="http://schemas.openxmlformats.org/drawingml/2006/main">
              <a:ext uri="{FF2B5EF4-FFF2-40B4-BE49-F238E27FC236}">
                <a16:creationId xmlns:a16="http://schemas.microsoft.com/office/drawing/2014/main" id="{BB9CE601-7145-4289-9F97-F24AD29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安全措辭／限制</a:t>
            </a:r>
          </a:p>
        </p:txBody>
      </p:sp>
      <p:sp>
        <p:nvSpPr>
          <p:cNvPr id="15" name="ledger-0-0-bg">
            <a:extLst xmlns:a="http://schemas.openxmlformats.org/drawingml/2006/main">
              <a:ext uri="{FF2B5EF4-FFF2-40B4-BE49-F238E27FC236}">
                <a16:creationId xmlns:a16="http://schemas.microsoft.com/office/drawing/2014/main" id="{66DF8AA6-C671-4C19-A16E-02C2C6F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ledger-0-0">
            <a:extLst xmlns:a="http://schemas.openxmlformats.org/drawingml/2006/main">
              <a:ext uri="{FF2B5EF4-FFF2-40B4-BE49-F238E27FC236}">
                <a16:creationId xmlns:a16="http://schemas.microsoft.com/office/drawing/2014/main" id="{E40FD6E4-4AD4-4B97-B447-5FA205C9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2026/04/24</a:t>
            </a:r>
          </a:p>
        </p:txBody>
      </p:sp>
      <p:sp>
        <p:nvSpPr>
          <p:cNvPr id="17" name="ledger-0-1-bg">
            <a:extLst xmlns:a="http://schemas.openxmlformats.org/drawingml/2006/main">
              <a:ext uri="{FF2B5EF4-FFF2-40B4-BE49-F238E27FC236}">
                <a16:creationId xmlns:a16="http://schemas.microsoft.com/office/drawing/2014/main" id="{EF0674E6-422E-47FC-A189-4C2968D0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ledger-0-1">
            <a:extLst xmlns:a="http://schemas.openxmlformats.org/drawingml/2006/main">
              <a:ext uri="{FF2B5EF4-FFF2-40B4-BE49-F238E27FC236}">
                <a16:creationId xmlns:a16="http://schemas.microsoft.com/office/drawing/2014/main" id="{E8594B49-0CED-4718-9C88-7FD943EE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src／public 建立</a:t>
            </a:r>
          </a:p>
        </p:txBody>
      </p:sp>
      <p:sp>
        <p:nvSpPr>
          <p:cNvPr id="19" name="ledger-0-2-bg">
            <a:extLst xmlns:a="http://schemas.openxmlformats.org/drawingml/2006/main">
              <a:ext uri="{FF2B5EF4-FFF2-40B4-BE49-F238E27FC236}">
                <a16:creationId xmlns:a16="http://schemas.microsoft.com/office/drawing/2014/main" id="{834EE104-7572-4E0F-9138-30EE761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62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ledger-0-2">
            <a:extLst xmlns:a="http://schemas.openxmlformats.org/drawingml/2006/main">
              <a:ext uri="{FF2B5EF4-FFF2-40B4-BE49-F238E27FC236}">
                <a16:creationId xmlns:a16="http://schemas.microsoft.com/office/drawing/2014/main" id="{4FCCDD9A-CD49-4773-961A-9D3CA93A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147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21" name="ledger-0-3-bg">
            <a:extLst xmlns:a="http://schemas.openxmlformats.org/drawingml/2006/main">
              <a:ext uri="{FF2B5EF4-FFF2-40B4-BE49-F238E27FC236}">
                <a16:creationId xmlns:a16="http://schemas.microsoft.com/office/drawing/2014/main" id="{FE682207-88C9-4DAE-AD71-A0242DBF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ledger-0-3">
            <a:extLst xmlns:a="http://schemas.openxmlformats.org/drawingml/2006/main">
              <a:ext uri="{FF2B5EF4-FFF2-40B4-BE49-F238E27FC236}">
                <a16:creationId xmlns:a16="http://schemas.microsoft.com/office/drawing/2014/main" id="{F79915E1-4149-4FC7-89D0-1C6E13C9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作為啟動時間點，不等於 Git commit</a:t>
            </a:r>
          </a:p>
        </p:txBody>
      </p:sp>
      <p:sp>
        <p:nvSpPr>
          <p:cNvPr id="23" name="ledger-1-0-bg">
            <a:extLst xmlns:a="http://schemas.openxmlformats.org/drawingml/2006/main">
              <a:ext uri="{FF2B5EF4-FFF2-40B4-BE49-F238E27FC236}">
                <a16:creationId xmlns:a16="http://schemas.microsoft.com/office/drawing/2014/main" id="{B3F5DAA0-6CE1-4D32-94FF-DDFC2098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100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ledger-1-0">
            <a:extLst xmlns:a="http://schemas.openxmlformats.org/drawingml/2006/main">
              <a:ext uri="{FF2B5EF4-FFF2-40B4-BE49-F238E27FC236}">
                <a16:creationId xmlns:a16="http://schemas.microsoft.com/office/drawing/2014/main" id="{0C701E4B-C1EB-4F26-9458-69091700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624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2026/04/25</a:t>
            </a:r>
          </a:p>
        </p:txBody>
      </p:sp>
      <p:sp>
        <p:nvSpPr>
          <p:cNvPr id="25" name="ledger-1-1-bg">
            <a:extLst xmlns:a="http://schemas.openxmlformats.org/drawingml/2006/main">
              <a:ext uri="{FF2B5EF4-FFF2-40B4-BE49-F238E27FC236}">
                <a16:creationId xmlns:a16="http://schemas.microsoft.com/office/drawing/2014/main" id="{942B3D70-2151-4DA0-A98D-9F8A3FB6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100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ledger-1-1">
            <a:extLst xmlns:a="http://schemas.openxmlformats.org/drawingml/2006/main">
              <a:ext uri="{FF2B5EF4-FFF2-40B4-BE49-F238E27FC236}">
                <a16:creationId xmlns:a16="http://schemas.microsoft.com/office/drawing/2014/main" id="{5583730A-BBF7-4B1C-8FEE-422ACC5B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 題／15 題正確</a:t>
            </a:r>
          </a:p>
        </p:txBody>
      </p:sp>
      <p:sp>
        <p:nvSpPr>
          <p:cNvPr id="27" name="ledger-1-2-bg">
            <a:extLst xmlns:a="http://schemas.openxmlformats.org/drawingml/2006/main">
              <a:ext uri="{FF2B5EF4-FFF2-40B4-BE49-F238E27FC236}">
                <a16:creationId xmlns:a16="http://schemas.microsoft.com/office/drawing/2014/main" id="{C076A1FE-3CE4-4267-88DE-7A2851D8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100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ledger-1-2">
            <a:extLst xmlns:a="http://schemas.openxmlformats.org/drawingml/2006/main">
              <a:ext uri="{FF2B5EF4-FFF2-40B4-BE49-F238E27FC236}">
                <a16:creationId xmlns:a16="http://schemas.microsoft.com/office/drawing/2014/main" id="{D96A32D6-2886-49B3-8FB4-BDB2390B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624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29" name="ledger-1-3-bg">
            <a:extLst xmlns:a="http://schemas.openxmlformats.org/drawingml/2006/main">
              <a:ext uri="{FF2B5EF4-FFF2-40B4-BE49-F238E27FC236}">
                <a16:creationId xmlns:a16="http://schemas.microsoft.com/office/drawing/2014/main" id="{62425619-2140-4B3E-AD8A-37E16762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ledger-1-3">
            <a:extLst xmlns:a="http://schemas.openxmlformats.org/drawingml/2006/main">
              <a:ext uri="{FF2B5EF4-FFF2-40B4-BE49-F238E27FC236}">
                <a16:creationId xmlns:a16="http://schemas.microsoft.com/office/drawing/2014/main" id="{48297FF3-B050-497F-A0FD-BD4A2E7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原帳號已無法回連，不稱第一位同學</a:t>
            </a:r>
          </a:p>
        </p:txBody>
      </p:sp>
      <p:sp>
        <p:nvSpPr>
          <p:cNvPr id="31" name="ledger-2-0-bg">
            <a:extLst xmlns:a="http://schemas.openxmlformats.org/drawingml/2006/main">
              <a:ext uri="{FF2B5EF4-FFF2-40B4-BE49-F238E27FC236}">
                <a16:creationId xmlns:a16="http://schemas.microsoft.com/office/drawing/2014/main" id="{AF92493E-9508-41F3-A395-FA4A080B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577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ledger-2-0">
            <a:extLst xmlns:a="http://schemas.openxmlformats.org/drawingml/2006/main">
              <a:ext uri="{FF2B5EF4-FFF2-40B4-BE49-F238E27FC236}">
                <a16:creationId xmlns:a16="http://schemas.microsoft.com/office/drawing/2014/main" id="{F89A6ED0-FCA1-4608-9D90-DA96F6F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2026/04/29</a:t>
            </a:r>
          </a:p>
        </p:txBody>
      </p:sp>
      <p:sp>
        <p:nvSpPr>
          <p:cNvPr id="33" name="ledger-2-1-bg">
            <a:extLst xmlns:a="http://schemas.openxmlformats.org/drawingml/2006/main">
              <a:ext uri="{FF2B5EF4-FFF2-40B4-BE49-F238E27FC236}">
                <a16:creationId xmlns:a16="http://schemas.microsoft.com/office/drawing/2014/main" id="{B4158228-1D74-4903-B337-F2018F4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ledger-2-1">
            <a:extLst xmlns:a="http://schemas.openxmlformats.org/drawingml/2006/main">
              <a:ext uri="{FF2B5EF4-FFF2-40B4-BE49-F238E27FC236}">
                <a16:creationId xmlns:a16="http://schemas.microsoft.com/office/drawing/2014/main" id="{CFC4B306-9E4D-4474-9BDA-671B2B89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pipeline 建立</a:t>
            </a:r>
          </a:p>
        </p:txBody>
      </p:sp>
      <p:sp>
        <p:nvSpPr>
          <p:cNvPr id="35" name="ledger-2-2-bg">
            <a:extLst xmlns:a="http://schemas.openxmlformats.org/drawingml/2006/main">
              <a:ext uri="{FF2B5EF4-FFF2-40B4-BE49-F238E27FC236}">
                <a16:creationId xmlns:a16="http://schemas.microsoft.com/office/drawing/2014/main" id="{D0ABE1FD-EB7C-41FB-A800-8135D890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77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ledger-2-2">
            <a:extLst xmlns:a="http://schemas.openxmlformats.org/drawingml/2006/main">
              <a:ext uri="{FF2B5EF4-FFF2-40B4-BE49-F238E27FC236}">
                <a16:creationId xmlns:a16="http://schemas.microsoft.com/office/drawing/2014/main" id="{8D95FFD1-9EA8-42BB-9EC8-717D57DB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37" name="ledger-2-3-bg">
            <a:extLst xmlns:a="http://schemas.openxmlformats.org/drawingml/2006/main">
              <a:ext uri="{FF2B5EF4-FFF2-40B4-BE49-F238E27FC236}">
                <a16:creationId xmlns:a16="http://schemas.microsoft.com/office/drawing/2014/main" id="{B5717AE0-AB5E-4D0C-AE6A-1EEAAEC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577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8" name="ledger-2-3">
            <a:extLst xmlns:a="http://schemas.openxmlformats.org/drawingml/2006/main">
              <a:ext uri="{FF2B5EF4-FFF2-40B4-BE49-F238E27FC236}">
                <a16:creationId xmlns:a16="http://schemas.microsoft.com/office/drawing/2014/main" id="{DF6DB040-BE27-44EE-921B-F1C9644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目前工作區檔案時間</a:t>
            </a:r>
          </a:p>
        </p:txBody>
      </p:sp>
      <p:sp>
        <p:nvSpPr>
          <p:cNvPr id="39" name="ledger-3-0-bg">
            <a:extLst xmlns:a="http://schemas.openxmlformats.org/drawingml/2006/main">
              <a:ext uri="{FF2B5EF4-FFF2-40B4-BE49-F238E27FC236}">
                <a16:creationId xmlns:a16="http://schemas.microsoft.com/office/drawing/2014/main" id="{D486C2A7-2F43-4EAD-8E6C-7AC29D64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0" name="ledger-3-0">
            <a:extLst xmlns:a="http://schemas.openxmlformats.org/drawingml/2006/main">
              <a:ext uri="{FF2B5EF4-FFF2-40B4-BE49-F238E27FC236}">
                <a16:creationId xmlns:a16="http://schemas.microsoft.com/office/drawing/2014/main" id="{696DD5FC-70C7-4A0E-BF7F-33C4239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2026/05/25</a:t>
            </a:r>
          </a:p>
        </p:txBody>
      </p:sp>
      <p:sp>
        <p:nvSpPr>
          <p:cNvPr id="41" name="ledger-3-1-bg">
            <a:extLst xmlns:a="http://schemas.openxmlformats.org/drawingml/2006/main">
              <a:ext uri="{FF2B5EF4-FFF2-40B4-BE49-F238E27FC236}">
                <a16:creationId xmlns:a16="http://schemas.microsoft.com/office/drawing/2014/main" id="{BB018862-B37C-473E-B94F-6936484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2" name="ledger-3-1">
            <a:extLst xmlns:a="http://schemas.openxmlformats.org/drawingml/2006/main">
              <a:ext uri="{FF2B5EF4-FFF2-40B4-BE49-F238E27FC236}">
                <a16:creationId xmlns:a16="http://schemas.microsoft.com/office/drawing/2014/main" id="{83E6BFEE-68D9-4CA1-82C2-7B2DB49E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578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非本機來源請求</a:t>
            </a:r>
          </a:p>
        </p:txBody>
      </p:sp>
      <p:sp>
        <p:nvSpPr>
          <p:cNvPr id="43" name="ledger-3-2-bg">
            <a:extLst xmlns:a="http://schemas.openxmlformats.org/drawingml/2006/main">
              <a:ext uri="{FF2B5EF4-FFF2-40B4-BE49-F238E27FC236}">
                <a16:creationId xmlns:a16="http://schemas.microsoft.com/office/drawing/2014/main" id="{B4AC8171-5063-4BE5-8FA7-EB79AD8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054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4" name="ledger-3-2">
            <a:extLst xmlns:a="http://schemas.openxmlformats.org/drawingml/2006/main">
              <a:ext uri="{FF2B5EF4-FFF2-40B4-BE49-F238E27FC236}">
                <a16:creationId xmlns:a16="http://schemas.microsoft.com/office/drawing/2014/main" id="{8BD55BF9-2652-4790-BC88-0739DE6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強合理推定</a:t>
            </a:r>
          </a:p>
        </p:txBody>
      </p:sp>
      <p:sp>
        <p:nvSpPr>
          <p:cNvPr id="45" name="ledger-3-3-bg">
            <a:extLst xmlns:a="http://schemas.openxmlformats.org/drawingml/2006/main">
              <a:ext uri="{FF2B5EF4-FFF2-40B4-BE49-F238E27FC236}">
                <a16:creationId xmlns:a16="http://schemas.microsoft.com/office/drawing/2014/main" id="{B8BB0C9F-88AE-4B9A-AB16-132B0051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054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6" name="ledger-3-3">
            <a:extLst xmlns:a="http://schemas.openxmlformats.org/drawingml/2006/main">
              <a:ext uri="{FF2B5EF4-FFF2-40B4-BE49-F238E27FC236}">
                <a16:creationId xmlns:a16="http://schemas.microsoft.com/office/drawing/2014/main" id="{DB497396-DFFD-4A07-9977-6B06FBB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支持當時具公網連入能力</a:t>
            </a:r>
          </a:p>
        </p:txBody>
      </p:sp>
      <p:sp>
        <p:nvSpPr>
          <p:cNvPr id="47" name="ledger-4-0-bg">
            <a:extLst xmlns:a="http://schemas.openxmlformats.org/drawingml/2006/main">
              <a:ext uri="{FF2B5EF4-FFF2-40B4-BE49-F238E27FC236}">
                <a16:creationId xmlns:a16="http://schemas.microsoft.com/office/drawing/2014/main" id="{86CE3DA3-749C-4E32-9D32-011F7825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531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8" name="ledger-4-0">
            <a:extLst xmlns:a="http://schemas.openxmlformats.org/drawingml/2006/main">
              <a:ext uri="{FF2B5EF4-FFF2-40B4-BE49-F238E27FC236}">
                <a16:creationId xmlns:a16="http://schemas.microsoft.com/office/drawing/2014/main" id="{1D789882-EDC2-48A8-A60B-64573BF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2026/05/28</a:t>
            </a:r>
          </a:p>
        </p:txBody>
      </p:sp>
      <p:sp>
        <p:nvSpPr>
          <p:cNvPr id="49" name="ledger-4-1-bg">
            <a:extLst xmlns:a="http://schemas.openxmlformats.org/drawingml/2006/main">
              <a:ext uri="{FF2B5EF4-FFF2-40B4-BE49-F238E27FC236}">
                <a16:creationId xmlns:a16="http://schemas.microsoft.com/office/drawing/2014/main" id="{CCE8BB23-F75F-43E3-9F5F-5F5DEA3E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531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0" name="ledger-4-1">
            <a:extLst xmlns:a="http://schemas.openxmlformats.org/drawingml/2006/main">
              <a:ext uri="{FF2B5EF4-FFF2-40B4-BE49-F238E27FC236}">
                <a16:creationId xmlns:a16="http://schemas.microsoft.com/office/drawing/2014/main" id="{13271A14-DA6E-4A52-A408-43E5342D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05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一單元重掃成功</a:t>
            </a:r>
          </a:p>
        </p:txBody>
      </p:sp>
      <p:sp>
        <p:nvSpPr>
          <p:cNvPr id="51" name="ledger-4-2-bg">
            <a:extLst xmlns:a="http://schemas.openxmlformats.org/drawingml/2006/main">
              <a:ext uri="{FF2B5EF4-FFF2-40B4-BE49-F238E27FC236}">
                <a16:creationId xmlns:a16="http://schemas.microsoft.com/office/drawing/2014/main" id="{ABBCD9A6-9665-4C03-9D78-D02EB99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531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2" name="ledger-4-2">
            <a:extLst xmlns:a="http://schemas.openxmlformats.org/drawingml/2006/main">
              <a:ext uri="{FF2B5EF4-FFF2-40B4-BE49-F238E27FC236}">
                <a16:creationId xmlns:a16="http://schemas.microsoft.com/office/drawing/2014/main" id="{C55D15C2-4F45-46B2-8E55-FB31163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055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53" name="ledger-4-3-bg">
            <a:extLst xmlns:a="http://schemas.openxmlformats.org/drawingml/2006/main">
              <a:ext uri="{FF2B5EF4-FFF2-40B4-BE49-F238E27FC236}">
                <a16:creationId xmlns:a16="http://schemas.microsoft.com/office/drawing/2014/main" id="{37196CD3-1225-4DD8-B802-62A57FAD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531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4" name="ledger-4-3">
            <a:extLst xmlns:a="http://schemas.openxmlformats.org/drawingml/2006/main">
              <a:ext uri="{FF2B5EF4-FFF2-40B4-BE49-F238E27FC236}">
                <a16:creationId xmlns:a16="http://schemas.microsoft.com/office/drawing/2014/main" id="{C70BE778-95A4-4A67-92F8-297E1F11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仍待人工確認，不稱完成全庫重掃</a:t>
            </a:r>
          </a:p>
        </p:txBody>
      </p:sp>
    </p:spTree>
    <p:extLst>
      <p:ext uri="{BB962C8B-B14F-4D97-AF65-F5344CB8AC3E}">
        <p14:creationId xmlns:p14="http://schemas.microsoft.com/office/powerpoint/2010/main" val="5866543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op-rule-14">
            <a:extLst xmlns:a="http://schemas.openxmlformats.org/drawingml/2006/main">
              <a:ext uri="{FF2B5EF4-FFF2-40B4-BE49-F238E27FC236}">
                <a16:creationId xmlns:a16="http://schemas.microsoft.com/office/drawing/2014/main" id="{B0D8EC90-B4BE-4165-89C4-BAE84D65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EBC678BF-0E18-488A-891D-FEC23A00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D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D9A96FA3-76C6-420E-B74A-159BD7A8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協作透明揭露：主導權放在決策與驗收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D280291E-7F2C-4741-A29B-F03AE8F9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Coding Agent 執行大量程式實作；我的責任是讓系統方向、規則與品質可被解釋。</a:t>
            </a:r>
          </a:p>
        </p:txBody>
      </p:sp>
      <p:sp>
        <p:nvSpPr>
          <p:cNvPr id="5" name="footer-brand-14">
            <a:extLst xmlns:a="http://schemas.openxmlformats.org/drawingml/2006/main">
              <a:ext uri="{FF2B5EF4-FFF2-40B4-BE49-F238E27FC236}">
                <a16:creationId xmlns:a16="http://schemas.microsoft.com/office/drawing/2014/main" id="{B08EDC30-E96C-4F7F-A396-68FF09CB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B0C6883C-CB3A-4C20-ADA1-A36C6C05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human-panel">
            <a:extLst xmlns:a="http://schemas.openxmlformats.org/drawingml/2006/main">
              <a:ext uri="{FF2B5EF4-FFF2-40B4-BE49-F238E27FC236}">
                <a16:creationId xmlns:a16="http://schemas.microsoft.com/office/drawing/2014/main" id="{E2AE3B74-7ABA-41F9-8279-DF85995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0350"/>
            <a:ext cx="476250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man-kicker">
            <a:extLst xmlns:a="http://schemas.openxmlformats.org/drawingml/2006/main">
              <a:ext uri="{FF2B5EF4-FFF2-40B4-BE49-F238E27FC236}">
                <a16:creationId xmlns:a16="http://schemas.microsoft.com/office/drawing/2014/main" id="{37D11D9E-65D7-498C-B4C4-8DBEB71D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我負責</a:t>
            </a:r>
          </a:p>
        </p:txBody>
      </p:sp>
      <p:sp>
        <p:nvSpPr>
          <p:cNvPr id="9" name="human-title">
            <a:extLst xmlns:a="http://schemas.openxmlformats.org/drawingml/2006/main">
              <a:ext uri="{FF2B5EF4-FFF2-40B4-BE49-F238E27FC236}">
                <a16:creationId xmlns:a16="http://schemas.microsoft.com/office/drawing/2014/main" id="{D89961E6-7557-4A5A-848A-B6700945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576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問題定義與工程判斷</a:t>
            </a:r>
          </a:p>
        </p:txBody>
      </p:sp>
      <p:sp>
        <p:nvSpPr>
          <p:cNvPr id="10" name="human-items">
            <a:extLst xmlns:a="http://schemas.openxmlformats.org/drawingml/2006/main">
              <a:ext uri="{FF2B5EF4-FFF2-40B4-BE49-F238E27FC236}">
                <a16:creationId xmlns:a16="http://schemas.microsoft.com/office/drawing/2014/main" id="{2B2831DB-1263-4973-8B49-A29C836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00550"/>
            <a:ext cx="3714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找出學習痛點與使用情境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拆解需求、決定優先順序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設定資料規則與失敗策略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測試、驗收並要求修正</a:t>
            </a:r>
          </a:p>
        </p:txBody>
      </p:sp>
      <p:sp>
        <p:nvSpPr>
          <p:cNvPr id="11" name="agent-panel">
            <a:extLst xmlns:a="http://schemas.openxmlformats.org/drawingml/2006/main">
              <a:ext uri="{FF2B5EF4-FFF2-40B4-BE49-F238E27FC236}">
                <a16:creationId xmlns:a16="http://schemas.microsoft.com/office/drawing/2014/main" id="{ED591DB7-E265-4C79-BE07-584FA241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0350"/>
            <a:ext cx="52387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agent-kicker">
            <a:extLst xmlns:a="http://schemas.openxmlformats.org/drawingml/2006/main">
              <a:ext uri="{FF2B5EF4-FFF2-40B4-BE49-F238E27FC236}">
                <a16:creationId xmlns:a16="http://schemas.microsoft.com/office/drawing/2014/main" id="{2D8F6865-7835-4D3D-838E-D986251F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Coding Agent 負責</a:t>
            </a:r>
          </a:p>
        </p:txBody>
      </p:sp>
      <p:sp>
        <p:nvSpPr>
          <p:cNvPr id="13" name="agent-title">
            <a:extLst xmlns:a="http://schemas.openxmlformats.org/drawingml/2006/main">
              <a:ext uri="{FF2B5EF4-FFF2-40B4-BE49-F238E27FC236}">
                <a16:creationId xmlns:a16="http://schemas.microsoft.com/office/drawing/2014/main" id="{6300293D-D402-453B-B597-976DF28E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57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大量程式實作與修正執行</a:t>
            </a:r>
          </a:p>
        </p:txBody>
      </p:sp>
      <p:sp>
        <p:nvSpPr>
          <p:cNvPr id="14" name="agent-items">
            <a:extLst xmlns:a="http://schemas.openxmlformats.org/drawingml/2006/main">
              <a:ext uri="{FF2B5EF4-FFF2-40B4-BE49-F238E27FC236}">
                <a16:creationId xmlns:a16="http://schemas.microsoft.com/office/drawing/2014/main" id="{A5E95103-7F76-4A58-924D-7A93523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00550"/>
            <a:ext cx="4286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依規格產生與調整程式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協助除錯、重構與補測試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執行重複性高的修改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由我檢查結果是否符合目的</a:t>
            </a:r>
          </a:p>
        </p:txBody>
      </p:sp>
      <p:sp>
        <p:nvSpPr>
          <p:cNvPr id="15" name="ai-disclosure-close">
            <a:extLst xmlns:a="http://schemas.openxmlformats.org/drawingml/2006/main">
              <a:ext uri="{FF2B5EF4-FFF2-40B4-BE49-F238E27FC236}">
                <a16:creationId xmlns:a16="http://schemas.microsoft.com/office/drawing/2014/main" id="{DA22D5F7-8407-4F9B-B7A3-F33512E0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5341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我不把 AI 產出的程式冒充為全數手寫；我呈現的是如何運用工具完成可驗證的工程成果。</a:t>
            </a:r>
          </a:p>
        </p:txBody>
      </p:sp>
    </p:spTree>
    <p:extLst>
      <p:ext uri="{BB962C8B-B14F-4D97-AF65-F5344CB8AC3E}">
        <p14:creationId xmlns:p14="http://schemas.microsoft.com/office/powerpoint/2010/main" val="5830005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op-rule-15">
            <a:extLst xmlns:a="http://schemas.openxmlformats.org/drawingml/2006/main">
              <a:ext uri="{FF2B5EF4-FFF2-40B4-BE49-F238E27FC236}">
                <a16:creationId xmlns:a16="http://schemas.microsoft.com/office/drawing/2014/main" id="{A65B2EFC-B696-4E54-B2C0-E8306A69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71F82D00-549A-450B-9045-DCED7717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E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AF8D973C-A232-4854-B01A-A9A00E6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公開可驗證，但展示資料仍必須保護隱私</a:t>
            </a:r>
          </a:p>
        </p:txBody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A3F19373-CF17-48A0-AEF9-4E9C9B01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網址能證明服務可連線；截圖採去識別化副本，避免把同學資料當成作品素材。</a:t>
            </a:r>
          </a:p>
        </p:txBody>
      </p:sp>
      <p:sp>
        <p:nvSpPr>
          <p:cNvPr id="5" name="footer-brand-15">
            <a:extLst xmlns:a="http://schemas.openxmlformats.org/drawingml/2006/main">
              <a:ext uri="{FF2B5EF4-FFF2-40B4-BE49-F238E27FC236}">
                <a16:creationId xmlns:a16="http://schemas.microsoft.com/office/drawing/2014/main" id="{100B9725-8AF3-4948-84C4-63BDD21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63DEA844-953A-47D2-A57C-5407CEF7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71ebc708b4016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2743200"/>
            <a:ext cx="5619750" cy="3162300"/>
          </a:xfrm>
          <a:prstGeom xmlns:a="http://schemas.openxmlformats.org/drawingml/2006/main" prst="roundRect">
            <a:avLst>
              <a:gd name="adj" fmla="val 4819"/>
            </a:avLst>
          </a:prstGeom>
        </p:spPr>
      </p:pic>
      <p:sp>
        <p:nvSpPr>
          <p:cNvPr id="8" name="public-status">
            <a:extLst xmlns:a="http://schemas.openxmlformats.org/drawingml/2006/main">
              <a:ext uri="{FF2B5EF4-FFF2-40B4-BE49-F238E27FC236}">
                <a16:creationId xmlns:a16="http://schemas.microsoft.com/office/drawing/2014/main" id="{5E970ECD-4544-4B70-AA44-7272B07B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公開 HTTPS 入口</a:t>
            </a:r>
          </a:p>
        </p:txBody>
      </p:sp>
      <p:sp>
        <p:nvSpPr>
          <p:cNvPr id="9" name="public-link">
            <a:extLst xmlns:a="http://schemas.openxmlformats.org/drawingml/2006/main">
              <a:ext uri="{FF2B5EF4-FFF2-40B4-BE49-F238E27FC236}">
                <a16:creationId xmlns:a16="http://schemas.microsoft.com/office/drawing/2014/main" id="{03E56530-FFDF-4ED4-8DC8-AA0D2564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960609489f4c4f54"/>
              </a:rPr>
              <a:t>words.ytconch.duckdns.org</a:t>
            </a:r>
          </a:p>
        </p:txBody>
      </p:sp>
      <p:sp>
        <p:nvSpPr>
          <p:cNvPr id="10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C0FECF2B-182D-42E6-BEC7-039D8F8D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95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截圖保護措施</a:t>
            </a:r>
          </a:p>
        </p:txBody>
      </p:sp>
      <p:sp>
        <p:nvSpPr>
          <p:cNvPr id="11" name="privacy-items">
            <a:extLst xmlns:a="http://schemas.openxmlformats.org/drawingml/2006/main">
              <a:ext uri="{FF2B5EF4-FFF2-40B4-BE49-F238E27FC236}">
                <a16:creationId xmlns:a16="http://schemas.microsoft.com/office/drawing/2014/main" id="{288F0822-7389-4AE5-98BC-1DFDD926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使用暫存資料庫副本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帳號與顯示名稱全部替換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IP、復原申請與日誌內容去識別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不修改正式資料與公開服務</a:t>
            </a:r>
          </a:p>
        </p:txBody>
      </p:sp>
      <p:sp>
        <p:nvSpPr>
          <p:cNvPr id="12" name="data-defs">
            <a:extLst xmlns:a="http://schemas.openxmlformats.org/drawingml/2006/main">
              <a:ext uri="{FF2B5EF4-FFF2-40B4-BE49-F238E27FC236}">
                <a16:creationId xmlns:a16="http://schemas.microsoft.com/office/drawing/2014/main" id="{E1A1BF6A-F9D5-40FA-AB7F-FCF42CF9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81750"/>
            <a:ext cx="1002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數據定義：38＝去重造訪者；13＝至少一筆 study_log 的使用者；10,011＝作答事件。</a:t>
            </a:r>
          </a:p>
        </p:txBody>
      </p:sp>
    </p:spTree>
    <p:extLst>
      <p:ext uri="{BB962C8B-B14F-4D97-AF65-F5344CB8AC3E}">
        <p14:creationId xmlns:p14="http://schemas.microsoft.com/office/powerpoint/2010/main" val="90873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2026-08-15T10:03:10.3720000Z</dcterms:created>
  <dcterms:modified xsi:type="dcterms:W3CDTF">2026-08-15T10:03:10.3720000Z</dcterms:modified>
</coreProperties>
</file>