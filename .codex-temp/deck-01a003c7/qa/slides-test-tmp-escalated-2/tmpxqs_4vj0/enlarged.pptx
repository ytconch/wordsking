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26db4fb43ce437a" Type="http://schemas.openxmlformats.org/officeDocument/2006/relationships/officeDocument" Target="ppt/presentation.xml"/><Relationship Id="R963832118f9c43c4" Type="http://schemas.openxmlformats.org/package/2006/relationships/metadata/core-properties" Target="docProps/core.xml"/><Relationship Id="Rc295936cf032470c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f06b9431884aad"/>
  </p:sldMasterIdLst>
  <p:notesMasterIdLst>
    <p:notesMasterId xmlns:r="http://schemas.openxmlformats.org/officeDocument/2006/relationships" r:id="R98af29de5b9142ca"/>
  </p:notesMasterIdLst>
  <p:sldIdLst>
    <p:sldId xmlns:r="http://schemas.openxmlformats.org/officeDocument/2006/relationships" id="256" r:id="Rbaeba8d5c20e4120"/>
    <p:sldId xmlns:r="http://schemas.openxmlformats.org/officeDocument/2006/relationships" id="257" r:id="R49db240dde344f1f"/>
    <p:sldId xmlns:r="http://schemas.openxmlformats.org/officeDocument/2006/relationships" id="258" r:id="R701ea23460454ef8"/>
    <p:sldId xmlns:r="http://schemas.openxmlformats.org/officeDocument/2006/relationships" id="259" r:id="Rd0bd5a1109484639"/>
    <p:sldId xmlns:r="http://schemas.openxmlformats.org/officeDocument/2006/relationships" id="260" r:id="R304d872e30fa41f0"/>
    <p:sldId xmlns:r="http://schemas.openxmlformats.org/officeDocument/2006/relationships" id="261" r:id="R827e34c8d4e942dd"/>
    <p:sldId xmlns:r="http://schemas.openxmlformats.org/officeDocument/2006/relationships" id="262" r:id="R559ef51daae042b2"/>
    <p:sldId xmlns:r="http://schemas.openxmlformats.org/officeDocument/2006/relationships" id="263" r:id="R6b04923d741c4d91"/>
    <p:sldId xmlns:r="http://schemas.openxmlformats.org/officeDocument/2006/relationships" id="264" r:id="R1c7f494895124a23"/>
    <p:sldId xmlns:r="http://schemas.openxmlformats.org/officeDocument/2006/relationships" id="265" r:id="Rf552cd3e427a4f01"/>
    <p:sldId xmlns:r="http://schemas.openxmlformats.org/officeDocument/2006/relationships" id="266" r:id="R68714b6bdb584f5b"/>
    <p:sldId xmlns:r="http://schemas.openxmlformats.org/officeDocument/2006/relationships" id="267" r:id="R7399e68851ed42e7"/>
    <p:sldId xmlns:r="http://schemas.openxmlformats.org/officeDocument/2006/relationships" id="268" r:id="R4d34dd491c164a39"/>
    <p:sldId xmlns:r="http://schemas.openxmlformats.org/officeDocument/2006/relationships" id="269" r:id="R0dc7d78c690d43c3"/>
    <p:sldId xmlns:r="http://schemas.openxmlformats.org/officeDocument/2006/relationships" id="270" r:id="Rf6a10cfb488e4701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dc7d78c690d43c3" Type="http://schemas.openxmlformats.org/officeDocument/2006/relationships/slide" Target="slides/slide14.xml"/><Relationship Id="R1c7f494895124a23" Type="http://schemas.openxmlformats.org/officeDocument/2006/relationships/slide" Target="slides/slide9.xml"/><Relationship Id="R26f06b9431884aad" Type="http://schemas.openxmlformats.org/officeDocument/2006/relationships/slideMaster" Target="slideMasters/slideMaster1.xml"/><Relationship Id="R304d872e30fa41f0" Type="http://schemas.openxmlformats.org/officeDocument/2006/relationships/slide" Target="slides/slide5.xml"/><Relationship Id="R49db240dde344f1f" Type="http://schemas.openxmlformats.org/officeDocument/2006/relationships/slide" Target="slides/slide2.xml"/><Relationship Id="R4d34dd491c164a39" Type="http://schemas.openxmlformats.org/officeDocument/2006/relationships/slide" Target="slides/slide13.xml"/><Relationship Id="R559ef51daae042b2" Type="http://schemas.openxmlformats.org/officeDocument/2006/relationships/slide" Target="slides/slide7.xml"/><Relationship Id="R67ad2f7c60874ba1" Type="http://schemas.openxmlformats.org/officeDocument/2006/relationships/theme" Target="theme/theme1.xml"/><Relationship Id="R68714b6bdb584f5b" Type="http://schemas.openxmlformats.org/officeDocument/2006/relationships/slide" Target="slides/slide11.xml"/><Relationship Id="R6b04923d741c4d91" Type="http://schemas.openxmlformats.org/officeDocument/2006/relationships/slide" Target="slides/slide8.xml"/><Relationship Id="R701ea23460454ef8" Type="http://schemas.openxmlformats.org/officeDocument/2006/relationships/slide" Target="slides/slide3.xml"/><Relationship Id="R7399e68851ed42e7" Type="http://schemas.openxmlformats.org/officeDocument/2006/relationships/slide" Target="slides/slide12.xml"/><Relationship Id="R827e34c8d4e942dd" Type="http://schemas.openxmlformats.org/officeDocument/2006/relationships/slide" Target="slides/slide6.xml"/><Relationship Id="R98af29de5b9142ca" Type="http://schemas.openxmlformats.org/officeDocument/2006/relationships/notesMaster" Target="notesMasters/notesMaster1.xml"/><Relationship Id="Rbaeba8d5c20e4120" Type="http://schemas.openxmlformats.org/officeDocument/2006/relationships/slide" Target="slides/slide1.xml"/><Relationship Id="Rbd12077acc764752" Type="http://schemas.openxmlformats.org/officeDocument/2006/relationships/presProps" Target="presProps.xml"/><Relationship Id="Rd0bd5a1109484639" Type="http://schemas.openxmlformats.org/officeDocument/2006/relationships/slide" Target="slides/slide4.xml"/><Relationship Id="Rf552cd3e427a4f01" Type="http://schemas.openxmlformats.org/officeDocument/2006/relationships/slide" Target="slides/slide10.xml"/><Relationship Id="Rf6a10cfb488e4701" Type="http://schemas.openxmlformats.org/officeDocument/2006/relationships/slide" Target="slides/slide15.xml"/><Relationship Id="Rfe250d6a75df4f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f75ff36627ae460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4c5617d48d84c79" Type="http://schemas.openxmlformats.org/officeDocument/2006/relationships/slide" Target="../slides/slide1.xml"/><Relationship Id="R34417ad89b2940a5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79f5040bea5346cb" Type="http://schemas.openxmlformats.org/officeDocument/2006/relationships/slide" Target="../slides/slide2.xml"/><Relationship Id="Rcf0d03e5bf174819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84ba0fcfe9bb4f7d" Type="http://schemas.openxmlformats.org/officeDocument/2006/relationships/slide" Target="../slides/slide3.xml"/><Relationship Id="R973e0c216e3c4327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9d05f672c894aca" Type="http://schemas.openxmlformats.org/officeDocument/2006/relationships/slide" Target="../slides/slide4.xml"/><Relationship Id="R3926066945fe498a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7cb983b685174779" Type="http://schemas.openxmlformats.org/officeDocument/2006/relationships/slide" Target="../slides/slide5.xml"/><Relationship Id="Re339fdaeb2a04e2a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68b5fd647a2d4090" Type="http://schemas.openxmlformats.org/officeDocument/2006/relationships/slide" Target="../slides/slide6.xml"/><Relationship Id="R74153cc74d5441c4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1b3838aae42445a" Type="http://schemas.openxmlformats.org/officeDocument/2006/relationships/notesMaster" Target="../notesMasters/notesMaster1.xml"/><Relationship Id="Rff20770c842b4700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b7efdb05c8b247a9" Type="http://schemas.openxmlformats.org/officeDocument/2006/relationships/slide" Target="../slides/slide8.xml"/><Relationship Id="Rb95272ee13ed411c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a351d546ef784c83" Type="http://schemas.openxmlformats.org/officeDocument/2006/relationships/slide" Target="../slides/slide9.xml"/><Relationship Id="Rb940b44f88454c9e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143e58e1f4ab4afc" Type="http://schemas.openxmlformats.org/officeDocument/2006/relationships/notesMaster" Target="../notesMasters/notesMaster1.xml"/><Relationship Id="R72fbbeed79a44e2d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2d0c9affde5f473e" Type="http://schemas.openxmlformats.org/officeDocument/2006/relationships/notesMaster" Target="../notesMasters/notesMaster1.xml"/><Relationship Id="Raec0d9a514b2415f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9a7e882d09994cd1" Type="http://schemas.openxmlformats.org/officeDocument/2006/relationships/slide" Target="../slides/slide12.xml"/><Relationship Id="Rdad64d9740884a79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0dd6357b53fa4002" Type="http://schemas.openxmlformats.org/officeDocument/2006/relationships/slide" Target="../slides/slide13.xml"/><Relationship Id="R3a581682032043a4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5d23bceccec542cf" Type="http://schemas.openxmlformats.org/officeDocument/2006/relationships/notesMaster" Target="../notesMasters/notesMaster1.xml"/><Relationship Id="Rc06e3921d2b54aa9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425c36440de34647" Type="http://schemas.openxmlformats.org/officeDocument/2006/relationships/slide" Target="../slides/slide15.xml"/><Relationship Id="R505c4616289f45a7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icon and applicant-provided identity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Merriam-Webster — https://www.merriam-webster.com/dictionary/distribute</a:t>
            </a:r>
          </a:p>
          <a:p xmlns:a="http://schemas.openxmlformats.org/drawingml/2006/main">
            <a:r>
              <a:t>- Oxford Advanced Learner's Dictionary — https://www.oxfordlearnersdictionaries.com/definition/english/distribute</a:t>
            </a:r>
          </a:p>
          <a:p xmlns:a="http://schemas.openxmlformats.org/drawingml/2006/main">
            <a:r>
              <a:t>- Applicant interview: original learning workflow and observation of classmates.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Applicant interview and project behavior; no causal learning-effect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Screenshots captured from a temporary anonymized local clone; no production credentials or names shown.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 CreationTime metadata, anonymized SQLite event timestamps, and anonymized server-log categories checked 2026-08-15.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 inspection: server.js, src/routes, src/db, src/middleware, src/utils, public 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scripts/image_word_pipeline.py and src/routes/import.js.</a:t>
            </a:r>
          </a:p>
          <a:p xmlns:a="http://schemas.openxmlformats.org/drawingml/2006/main">
            <a:r>
              <a:t>- Anonymized admin screenshot captured from a temporary local clone.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Read-only SQLite snapshot on 2026-08-15: Words.db, Client.db, Server.db.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Applicant interview: pronunciation and analysis-error iteration examples.</a:t>
            </a:r>
          </a:p>
          <a:p xmlns:a="http://schemas.openxmlformats.org/drawingml/2006/main">
            <a:r>
              <a:t>- Local source inspection: src/routes/tts.js and AI import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Applicant interview: starting skill level, main growth, and intended study direction.</a:t>
            </a:r>
          </a:p>
          <a:p xmlns:a="http://schemas.openxmlformats.org/drawingml/2006/main">
            <a:r>
              <a:t>- Public service: https://words.ytconch.duckdns.org/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public/*.html, public/*.js, src/routes/*.js, server.js.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One-shot test run on 2026-08-15: 26 tests, all passed.</a:t>
            </a:r>
          </a:p>
          <a:p xmlns:a="http://schemas.openxmlformats.org/drawingml/2006/main">
            <a:r>
              <a:t>- Local source: tests/test_image_word_pipeline.py.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 filesystem metadata and anonymized SQLite/server-log evidence reviewed 2026-08-15.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Applicant interview: Coding Agent participation was substantial; applicant led requirements, decisions, testing, and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Public service verified in browser: https://words.ytconch.duckdns.org/</a:t>
            </a:r>
          </a:p>
          <a:p xmlns:a="http://schemas.openxmlformats.org/drawingml/2006/main">
            <a:r>
              <a:t>- Screenshots captured from public entrance and a temporary anonymized local clone.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38958c3dad6d414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c36d59b4df045c2" Type="http://schemas.openxmlformats.org/officeDocument/2006/relationships/slideLayout" Target="../slideLayouts/slideLayout1.xml"/><Relationship Id="Rafd8793b80ff413b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36d59b4df045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5b1d2d2313649f8" Type="http://schemas.openxmlformats.org/officeDocument/2006/relationships/image" Target="../media/image.png"/><Relationship Id="R7d3a7701c2ff4bb3" Type="http://schemas.openxmlformats.org/officeDocument/2006/relationships/notesSlide" Target="../notesSlides/notesSlide1.xml"/><Relationship Id="Rb0bf1e0dba5441f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bd2d571c6a474b65" Type="http://schemas.openxmlformats.org/officeDocument/2006/relationships/slideLayout" Target="../slideLayouts/slideLayout1.xml"/><Relationship Id="Re5efae441d42495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b19a086971754506" Type="http://schemas.openxmlformats.org/officeDocument/2006/relationships/slideLayout" Target="../slideLayouts/slideLayout1.xml"/><Relationship Id="Re6ffffb82b304a5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4c9ead39f9d4a9b" Type="http://schemas.openxmlformats.org/officeDocument/2006/relationships/slideLayout" Target="../slideLayouts/slideLayout1.xml"/><Relationship Id="Ra390659f4f304827" Type="http://schemas.openxmlformats.org/officeDocument/2006/relationships/image" Target="../media/image.jpeg"/><Relationship Id="Rb5b8de11837f481e" Type="http://schemas.openxmlformats.org/officeDocument/2006/relationships/notesSlide" Target="../notesSlides/notesSlide4.xml"/><Relationship Id="Rc5d98f00af024ad3" Type="http://schemas.openxmlformats.org/officeDocument/2006/relationships/image" Target="../media/image2.jpeg"/><Relationship Id="Rc7f91af58ed1491e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091b3774d6354bd6" Type="http://schemas.openxmlformats.org/officeDocument/2006/relationships/slideLayout" Target="../slideLayouts/slideLayout1.xml"/><Relationship Id="R954629624d5b4e3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5220e33f9b94fa2" Type="http://schemas.openxmlformats.org/officeDocument/2006/relationships/slideLayout" Target="../slideLayouts/slideLayout1.xml"/><Relationship Id="R4a41158397384cc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c1bf8a85a084c93" Type="http://schemas.openxmlformats.org/officeDocument/2006/relationships/notesSlide" Target="../notesSlides/notesSlide7.xml"/><Relationship Id="R1feb63de987f4611" Type="http://schemas.openxmlformats.org/officeDocument/2006/relationships/image" Target="../media/image4.jpeg"/><Relationship Id="R3902257aa1624148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a43351e45b904d33" Type="http://schemas.openxmlformats.org/officeDocument/2006/relationships/slideLayout" Target="../slideLayouts/slideLayout1.xml"/><Relationship Id="Re6de7573fe724c4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511a92de31484c0e" Type="http://schemas.openxmlformats.org/officeDocument/2006/relationships/slideLayout" Target="../slideLayouts/slideLayout1.xml"/><Relationship Id="R948d357874d1424c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817e37f62a484969" Type="http://schemas.openxmlformats.org/officeDocument/2006/relationships/slideLayout" Target="../slideLayouts/slideLayout1.xml"/><Relationship Id="R8cde97345d4d48d7" Type="http://schemas.openxmlformats.org/officeDocument/2006/relationships/notesSlide" Target="../notesSlides/notesSlide10.xml"/><Relationship Id="R975e0a746a074c68" Type="http://schemas.openxmlformats.org/officeDocument/2006/relationships/hyperlink" Target="https://words.ytconch.duckdns.org/" TargetMode="External"/></Relationships>
</file>

<file path=ppt/slides/_rels/slide11.xml.rels><?xml version='1.0' encoding='UTF-8' standalone='yes'?>
<Relationships xmlns="http://schemas.openxmlformats.org/package/2006/relationships"><Relationship Id="R163acd16fcfc4776" Type="http://schemas.openxmlformats.org/officeDocument/2006/relationships/notesSlide" Target="../notesSlides/notesSlide11.xml"/><Relationship Id="Ra25f682877ad4e18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24550bec582f4bef" Type="http://schemas.openxmlformats.org/officeDocument/2006/relationships/slideLayout" Target="../slideLayouts/slideLayout1.xml"/><Relationship Id="R4b77f8f28d134fe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04ebc830b46a4042" Type="http://schemas.openxmlformats.org/officeDocument/2006/relationships/slideLayout" Target="../slideLayouts/slideLayout1.xml"/><Relationship Id="R49f30e3869ce4ac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18e2768ae0724a12" Type="http://schemas.openxmlformats.org/officeDocument/2006/relationships/slideLayout" Target="../slideLayouts/slideLayout1.xml"/><Relationship Id="R7591f20bf67444b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0faa83f93ac648b9" Type="http://schemas.openxmlformats.org/officeDocument/2006/relationships/notesSlide" Target="../notesSlides/notesSlide15.xml"/><Relationship Id="R3f539301583c45dc" Type="http://schemas.openxmlformats.org/officeDocument/2006/relationships/slideLayout" Target="../slideLayouts/slideLayout1.xml"/><Relationship Id="Raf64546cfa084fbb" Type="http://schemas.openxmlformats.org/officeDocument/2006/relationships/image" Target="../media/image5.jpeg"/><Relationship Id="Rdf90be2bfd4c4e77" Type="http://schemas.openxmlformats.org/officeDocument/2006/relationships/hyperlink" Target="https://words.ytconch.duckdns.org/" TargetMode="Externa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ver-left-panel">
            <a:extLst xmlns:a="http://schemas.openxmlformats.org/drawingml/2006/main">
              <a:ext uri="{FF2B5EF4-FFF2-40B4-BE49-F238E27FC236}">
                <a16:creationId xmlns:a16="http://schemas.microsoft.com/office/drawing/2014/main" id="{0D00AD77-F347-45D2-A6C7-A0BAFEF3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gold-rule">
            <a:extLst xmlns:a="http://schemas.openxmlformats.org/drawingml/2006/main">
              <a:ext uri="{FF2B5EF4-FFF2-40B4-BE49-F238E27FC236}">
                <a16:creationId xmlns:a16="http://schemas.microsoft.com/office/drawing/2014/main" id="{FAFC4F2E-CF7D-47BA-8FBE-19CDA8EF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8115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1d2d2313649f8"/>
          <a:stretch xmlns:a="http://schemas.openxmlformats.org/drawingml/2006/main"/>
        </p:blipFill>
        <p:spPr>
          <a:xfrm xmlns:a="http://schemas.openxmlformats.org/drawingml/2006/main">
            <a:off x="1600200" y="2019300"/>
            <a:ext cx="1619250" cy="1619250"/>
          </a:xfrm>
          <a:prstGeom xmlns:a="http://schemas.openxmlformats.org/drawingml/2006/main" prst="rect">
            <a:avLst/>
          </a:prstGeom>
        </p:spPr>
      </p:pic>
      <p:sp>
        <p:nvSpPr>
          <p:cNvPr id="4" name="cover-brand">
            <a:extLst xmlns:a="http://schemas.openxmlformats.org/drawingml/2006/main">
              <a:ext uri="{FF2B5EF4-FFF2-40B4-BE49-F238E27FC236}">
                <a16:creationId xmlns:a16="http://schemas.microsoft.com/office/drawing/2014/main" id="{DADDFDD1-5039-4D35-8DC6-4E000660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243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WORDS KING</a:t>
            </a:r>
          </a:p>
        </p:txBody>
      </p:sp>
      <p:sp>
        <p:nvSpPr>
          <p:cNvPr id="5" name="cover-tag">
            <a:extLst xmlns:a="http://schemas.openxmlformats.org/drawingml/2006/main">
              <a:ext uri="{FF2B5EF4-FFF2-40B4-BE49-F238E27FC236}">
                <a16:creationId xmlns:a16="http://schemas.microsoft.com/office/drawing/2014/main" id="{D420F00D-6DA3-4EE9-8E35-574F33AB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38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</a:rPr>
              <a:t>特殊選才 · 專案作品報告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137B8A2-F010-47B5-9179-0F948407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81200"/>
            <a:ext cx="6572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把詞源理解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轉化為可驗證的學習系統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B9CAE05-D766-413A-B2F0-F9543ECC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8145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從個人學習痛點出發，建立可公開使用、可記錄、可持續修正的單字學習服務。</a:t>
            </a:r>
          </a:p>
        </p:txBody>
      </p:sp>
      <p:sp>
        <p:nvSpPr>
          <p:cNvPr id="8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B29D44D6-F40F-4960-8CE2-5CAE1341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578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cover-meta">
            <a:extLst xmlns:a="http://schemas.openxmlformats.org/drawingml/2006/main">
              <a:ext uri="{FF2B5EF4-FFF2-40B4-BE49-F238E27FC236}">
                <a16:creationId xmlns:a16="http://schemas.microsoft.com/office/drawing/2014/main" id="{6FFF57D6-2787-4BB3-81A0-A2D81FAB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72125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詹秉睿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清水高中 · 高三</a:t>
            </a:r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8CEF04E5-07A8-41DF-A026-095825AA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6737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PROJECT SNAPSHOT</a:t>
            </a:r>
          </a:p>
          <a:p xmlns:a="http://schemas.openxmlformats.org/drawingml/2006/main">
            <a:pPr algn="r">
              <a:lnSpc>
                <a:spcPct val="120000"/>
              </a:lnSpc>
              <a:buNone/>
              <a:def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2026.08.15</a:t>
            </a:r>
          </a:p>
        </p:txBody>
      </p:sp>
    </p:spTree>
    <p:extLst>
      <p:ext uri="{BB962C8B-B14F-4D97-AF65-F5344CB8AC3E}">
        <p14:creationId xmlns:p14="http://schemas.microsoft.com/office/powerpoint/2010/main" val="6592603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op-rule-2">
            <a:extLst xmlns:a="http://schemas.openxmlformats.org/drawingml/2006/main">
              <a:ext uri="{FF2B5EF4-FFF2-40B4-BE49-F238E27FC236}">
                <a16:creationId xmlns:a16="http://schemas.microsoft.com/office/drawing/2014/main" id="{9F1A9EE3-09FD-41DE-9818-13F88FF4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F0070C44-A692-4E87-A3D8-2321A724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ORIGIN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9F657428-5A0F-48DE-A4E1-33B690B1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我不想再逐字詢問 AI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32342B20-ED3C-4CDC-9340-BD09758B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真正的起點不是功能，而是一個反覆出現的學習摩擦。</a:t>
            </a:r>
          </a:p>
        </p:txBody>
      </p:sp>
      <p:sp>
        <p:nvSpPr>
          <p:cNvPr id="5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83762DF9-A70B-425F-8C70-9F87906C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840F401E-3278-4BD3-B46C-D81A82C6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origin-quote">
            <a:extLst xmlns:a="http://schemas.openxmlformats.org/drawingml/2006/main">
              <a:ext uri="{FF2B5EF4-FFF2-40B4-BE49-F238E27FC236}">
                <a16:creationId xmlns:a16="http://schemas.microsoft.com/office/drawing/2014/main" id="{B9D4394F-A31C-41DC-9EF5-A7EA57A1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670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以前，我會把每個單字逐一問 AI：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它的拉丁字根是什麼？詞源如何演變？</a:t>
            </a:r>
          </a:p>
        </p:txBody>
      </p:sp>
      <p:sp>
        <p:nvSpPr>
          <p:cNvPr id="8" name="origin-body">
            <a:extLst xmlns:a="http://schemas.openxmlformats.org/drawingml/2006/main">
              <a:ext uri="{FF2B5EF4-FFF2-40B4-BE49-F238E27FC236}">
                <a16:creationId xmlns:a16="http://schemas.microsoft.com/office/drawing/2014/main" id="{21A46723-9864-4BE2-BE67-ED001E5E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14800"/>
            <a:ext cx="4857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這種方法能讓我理解單字，卻無法規模化；我也觀察到，同學多半仍靠重複背誦。於是我把個人的查詢流程，改造成可以整理、練習與追蹤的系統。</a:t>
            </a:r>
          </a:p>
        </p:txBody>
      </p:sp>
      <p:sp>
        <p:nvSpPr>
          <p:cNvPr id="9" name="word-study-bg">
            <a:extLst xmlns:a="http://schemas.openxmlformats.org/drawingml/2006/main">
              <a:ext uri="{FF2B5EF4-FFF2-40B4-BE49-F238E27FC236}">
                <a16:creationId xmlns:a16="http://schemas.microsoft.com/office/drawing/2014/main" id="{8EDC4751-77D6-4285-9283-E04ADA47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90800"/>
            <a:ext cx="466725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word-study-label-bg">
            <a:extLst xmlns:a="http://schemas.openxmlformats.org/drawingml/2006/main">
              <a:ext uri="{FF2B5EF4-FFF2-40B4-BE49-F238E27FC236}">
                <a16:creationId xmlns:a16="http://schemas.microsoft.com/office/drawing/2014/main" id="{2612653F-BF3E-4466-BD60-AF4F8EA7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765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-study-label">
            <a:extLst xmlns:a="http://schemas.openxmlformats.org/drawingml/2006/main">
              <a:ext uri="{FF2B5EF4-FFF2-40B4-BE49-F238E27FC236}">
                <a16:creationId xmlns:a16="http://schemas.microsoft.com/office/drawing/2014/main" id="{E7FE9D7E-BB1D-44FF-911D-072E7ECD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ONE WORD, ONE MEMORY HOOK</a:t>
            </a:r>
          </a:p>
        </p:txBody>
      </p:sp>
      <p:sp>
        <p:nvSpPr>
          <p:cNvPr id="12" name="word">
            <a:extLst xmlns:a="http://schemas.openxmlformats.org/drawingml/2006/main">
              <a:ext uri="{FF2B5EF4-FFF2-40B4-BE49-F238E27FC236}">
                <a16:creationId xmlns:a16="http://schemas.microsoft.com/office/drawing/2014/main" id="{9CC88E92-5D33-44D0-8EB2-6768723D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distribute</a:t>
            </a:r>
          </a:p>
        </p:txBody>
      </p:sp>
      <p:sp>
        <p:nvSpPr>
          <p:cNvPr id="13" name="prefix">
            <a:extLst xmlns:a="http://schemas.openxmlformats.org/drawingml/2006/main">
              <a:ext uri="{FF2B5EF4-FFF2-40B4-BE49-F238E27FC236}">
                <a16:creationId xmlns:a16="http://schemas.microsoft.com/office/drawing/2014/main" id="{167A7383-93A0-4A07-8D47-D8715B49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100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dis-</a:t>
            </a:r>
          </a:p>
        </p:txBody>
      </p:sp>
      <p:sp>
        <p:nvSpPr>
          <p:cNvPr id="14" name="plus">
            <a:extLst xmlns:a="http://schemas.openxmlformats.org/drawingml/2006/main">
              <a:ext uri="{FF2B5EF4-FFF2-40B4-BE49-F238E27FC236}">
                <a16:creationId xmlns:a16="http://schemas.microsoft.com/office/drawing/2014/main" id="{8503D38D-05B6-402D-9ED2-3EFF5C99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100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</p:txBody>
      </p:sp>
      <p:sp>
        <p:nvSpPr>
          <p:cNvPr id="15" name="root">
            <a:extLst xmlns:a="http://schemas.openxmlformats.org/drawingml/2006/main">
              <a:ext uri="{FF2B5EF4-FFF2-40B4-BE49-F238E27FC236}">
                <a16:creationId xmlns:a16="http://schemas.microsoft.com/office/drawing/2014/main" id="{4772A7BD-59FC-4C62-9ED0-056E67E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10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tribuere</a:t>
            </a:r>
          </a:p>
        </p:txBody>
      </p:sp>
      <p:sp>
        <p:nvSpPr>
          <p:cNvPr id="16" name="prefix-meaning">
            <a:extLst xmlns:a="http://schemas.openxmlformats.org/drawingml/2006/main">
              <a:ext uri="{FF2B5EF4-FFF2-40B4-BE49-F238E27FC236}">
                <a16:creationId xmlns:a16="http://schemas.microsoft.com/office/drawing/2014/main" id="{629CF00F-4803-4A7A-BED7-F9254C16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apart／分開</a:t>
            </a:r>
          </a:p>
        </p:txBody>
      </p:sp>
      <p:sp>
        <p:nvSpPr>
          <p:cNvPr id="17" name="root-meaning">
            <a:extLst xmlns:a="http://schemas.openxmlformats.org/drawingml/2006/main">
              <a:ext uri="{FF2B5EF4-FFF2-40B4-BE49-F238E27FC236}">
                <a16:creationId xmlns:a16="http://schemas.microsoft.com/office/drawing/2014/main" id="{056999B3-26A6-4804-BF31-32510E20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434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assign／分配</a:t>
            </a:r>
          </a:p>
        </p:txBody>
      </p:sp>
      <p:sp>
        <p:nvSpPr>
          <p:cNvPr id="18" name="word-takeaway">
            <a:extLst xmlns:a="http://schemas.openxmlformats.org/drawingml/2006/main">
              <a:ext uri="{FF2B5EF4-FFF2-40B4-BE49-F238E27FC236}">
                <a16:creationId xmlns:a16="http://schemas.microsoft.com/office/drawing/2014/main" id="{008D0995-DCBD-4DC1-9E3B-6CE4E9A2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911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理解「分開分配」的意象，比只背中文翻譯更容易建立連結。</a:t>
            </a:r>
          </a:p>
        </p:txBody>
      </p:sp>
    </p:spTree>
    <p:extLst>
      <p:ext uri="{BB962C8B-B14F-4D97-AF65-F5344CB8AC3E}">
        <p14:creationId xmlns:p14="http://schemas.microsoft.com/office/powerpoint/2010/main" val="13427932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9" name="Rectangle 2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op-rule-3">
            <a:extLst xmlns:a="http://schemas.openxmlformats.org/drawingml/2006/main">
              <a:ext uri="{FF2B5EF4-FFF2-40B4-BE49-F238E27FC236}">
                <a16:creationId xmlns:a16="http://schemas.microsoft.com/office/drawing/2014/main" id="{411ED052-744D-450A-AA2D-3C7FC49C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883E8FD2-E932-441B-AEC4-4D0180AA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PROBLEM FRAMING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9CC04B5A-888F-4A9E-A72B-2F677409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把『會背』改成『看得見掌握程度』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190BCA8C-B63C-44DA-9E34-90D5C9E5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我沒有先堆功能，而是先定義一個可以反覆驗證的學習循環。</a:t>
            </a:r>
          </a:p>
        </p:txBody>
      </p:sp>
      <p:sp>
        <p:nvSpPr>
          <p:cNvPr id="5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D5CF3078-887F-4202-A6BE-A304575D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CF37B66A-3E1C-43A9-8CFF-4ED904FD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7" name="hypothesis-flow-1">
            <a:extLst xmlns:a="http://schemas.openxmlformats.org/drawingml/2006/main">
              <a:ext uri="{FF2B5EF4-FFF2-40B4-BE49-F238E27FC236}">
                <a16:creationId xmlns:a16="http://schemas.microsoft.com/office/drawing/2014/main" id="{A07355B4-D4C6-425C-8818-79D2A7A7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71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8" name="hypothesis-flow-2">
            <a:extLst xmlns:a="http://schemas.openxmlformats.org/drawingml/2006/main">
              <a:ext uri="{FF2B5EF4-FFF2-40B4-BE49-F238E27FC236}">
                <a16:creationId xmlns:a16="http://schemas.microsoft.com/office/drawing/2014/main" id="{37A575ED-F389-4F8E-83DC-FAAE7AA8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71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9" name="hyp-01-bg">
            <a:extLst xmlns:a="http://schemas.openxmlformats.org/drawingml/2006/main">
              <a:ext uri="{FF2B5EF4-FFF2-40B4-BE49-F238E27FC236}">
                <a16:creationId xmlns:a16="http://schemas.microsoft.com/office/drawing/2014/main" id="{145B8980-2883-4C8C-B3F1-F6CCF709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76550"/>
            <a:ext cx="266700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hyp-01-badge">
            <a:extLst xmlns:a="http://schemas.openxmlformats.org/drawingml/2006/main">
              <a:ext uri="{FF2B5EF4-FFF2-40B4-BE49-F238E27FC236}">
                <a16:creationId xmlns:a16="http://schemas.microsoft.com/office/drawing/2014/main" id="{2943F5AE-0158-4D54-BA08-B03014B4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05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yp-01-num">
            <a:extLst xmlns:a="http://schemas.openxmlformats.org/drawingml/2006/main">
              <a:ext uri="{FF2B5EF4-FFF2-40B4-BE49-F238E27FC236}">
                <a16:creationId xmlns:a16="http://schemas.microsoft.com/office/drawing/2014/main" id="{6FA1F8B3-B0BF-4E14-804E-056317E1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19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hyp-01-title">
            <a:extLst xmlns:a="http://schemas.openxmlformats.org/drawingml/2006/main">
              <a:ext uri="{FF2B5EF4-FFF2-40B4-BE49-F238E27FC236}">
                <a16:creationId xmlns:a16="http://schemas.microsoft.com/office/drawing/2014/main" id="{B6BCB21E-1BA5-4E7C-A88D-5ACA8855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理解</a:t>
            </a:r>
          </a:p>
        </p:txBody>
      </p:sp>
      <p:sp>
        <p:nvSpPr>
          <p:cNvPr id="13" name="hyp-01-body">
            <a:extLst xmlns:a="http://schemas.openxmlformats.org/drawingml/2006/main">
              <a:ext uri="{FF2B5EF4-FFF2-40B4-BE49-F238E27FC236}">
                <a16:creationId xmlns:a16="http://schemas.microsoft.com/office/drawing/2014/main" id="{36481E4C-7BBF-4220-8821-B7F8D9BD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以字根、詞源、詞義與例句建立記憶線索。</a:t>
            </a:r>
          </a:p>
        </p:txBody>
      </p:sp>
      <p:sp>
        <p:nvSpPr>
          <p:cNvPr id="14" name="hyp-02-bg">
            <a:extLst xmlns:a="http://schemas.openxmlformats.org/drawingml/2006/main">
              <a:ext uri="{FF2B5EF4-FFF2-40B4-BE49-F238E27FC236}">
                <a16:creationId xmlns:a16="http://schemas.microsoft.com/office/drawing/2014/main" id="{255277CA-727E-46FF-9CE9-7E57936B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76550"/>
            <a:ext cx="295275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5" name="hyp-02-badge">
            <a:extLst xmlns:a="http://schemas.openxmlformats.org/drawingml/2006/main">
              <a:ext uri="{FF2B5EF4-FFF2-40B4-BE49-F238E27FC236}">
                <a16:creationId xmlns:a16="http://schemas.microsoft.com/office/drawing/2014/main" id="{5AC8733E-FF39-484C-9AED-2D340A0B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05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yp-02-num">
            <a:extLst xmlns:a="http://schemas.openxmlformats.org/drawingml/2006/main">
              <a:ext uri="{FF2B5EF4-FFF2-40B4-BE49-F238E27FC236}">
                <a16:creationId xmlns:a16="http://schemas.microsoft.com/office/drawing/2014/main" id="{F76BA970-B7B6-4B16-85AB-A03846BB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19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7" name="hyp-02-title">
            <a:extLst xmlns:a="http://schemas.openxmlformats.org/drawingml/2006/main">
              <a:ext uri="{FF2B5EF4-FFF2-40B4-BE49-F238E27FC236}">
                <a16:creationId xmlns:a16="http://schemas.microsoft.com/office/drawing/2014/main" id="{90981932-376F-428B-BE0F-3D00B52F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67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</a:p>
        </p:txBody>
      </p:sp>
      <p:sp>
        <p:nvSpPr>
          <p:cNvPr id="18" name="hyp-02-body">
            <a:extLst xmlns:a="http://schemas.openxmlformats.org/drawingml/2006/main">
              <a:ext uri="{FF2B5EF4-FFF2-40B4-BE49-F238E27FC236}">
                <a16:creationId xmlns:a16="http://schemas.microsoft.com/office/drawing/2014/main" id="{93BCDCDF-CD5F-4A6E-891E-10DF7C50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38650"/>
            <a:ext cx="249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用中選英、看中打英、克漏字等模式反覆提取。</a:t>
            </a:r>
          </a:p>
        </p:txBody>
      </p:sp>
      <p:sp>
        <p:nvSpPr>
          <p:cNvPr id="19" name="hyp-03-bg">
            <a:extLst xmlns:a="http://schemas.openxmlformats.org/drawingml/2006/main">
              <a:ext uri="{FF2B5EF4-FFF2-40B4-BE49-F238E27FC236}">
                <a16:creationId xmlns:a16="http://schemas.microsoft.com/office/drawing/2014/main" id="{5A985A2C-2A74-4741-95A1-F35AB02E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76550"/>
            <a:ext cx="360045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hyp-03-badge">
            <a:extLst xmlns:a="http://schemas.openxmlformats.org/drawingml/2006/main">
              <a:ext uri="{FF2B5EF4-FFF2-40B4-BE49-F238E27FC236}">
                <a16:creationId xmlns:a16="http://schemas.microsoft.com/office/drawing/2014/main" id="{62D8EB4E-5D87-4143-9CB8-33FBC608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yp-03-num">
            <a:extLst xmlns:a="http://schemas.openxmlformats.org/drawingml/2006/main">
              <a:ext uri="{FF2B5EF4-FFF2-40B4-BE49-F238E27FC236}">
                <a16:creationId xmlns:a16="http://schemas.microsoft.com/office/drawing/2014/main" id="{DB229555-30B1-4B42-B0AB-CA50AE33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2" name="hyp-03-title">
            <a:extLst xmlns:a="http://schemas.openxmlformats.org/drawingml/2006/main">
              <a:ext uri="{FF2B5EF4-FFF2-40B4-BE49-F238E27FC236}">
                <a16:creationId xmlns:a16="http://schemas.microsoft.com/office/drawing/2014/main" id="{EBE6EE08-1D31-4F12-B33B-F03DDB46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67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追蹤</a:t>
            </a:r>
          </a:p>
        </p:txBody>
      </p:sp>
      <p:sp>
        <p:nvSpPr>
          <p:cNvPr id="23" name="hyp-03-body">
            <a:extLst xmlns:a="http://schemas.openxmlformats.org/drawingml/2006/main">
              <a:ext uri="{FF2B5EF4-FFF2-40B4-BE49-F238E27FC236}">
                <a16:creationId xmlns:a16="http://schemas.microsoft.com/office/drawing/2014/main" id="{78E2C8A2-211F-4F3E-A95C-2F9A1166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386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保留作答、錯題與熟練度，讓下一次複習有依據。</a:t>
            </a:r>
          </a:p>
        </p:txBody>
      </p:sp>
      <p:sp>
        <p:nvSpPr>
          <p:cNvPr id="24" name="hypothesis-guardrail">
            <a:extLst xmlns:a="http://schemas.openxmlformats.org/drawingml/2006/main">
              <a:ext uri="{FF2B5EF4-FFF2-40B4-BE49-F238E27FC236}">
                <a16:creationId xmlns:a16="http://schemas.microsoft.com/office/drawing/2014/main" id="{821DCA12-31E7-4805-A09F-8401074E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9436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rPr>
              <a:t>目前能證明的是『有人使用與持續產生學習紀錄』，尚不能直接推論成績因系統而提升。</a:t>
            </a:r>
          </a:p>
        </p:txBody>
      </p:sp>
    </p:spTree>
    <p:extLst>
      <p:ext uri="{BB962C8B-B14F-4D97-AF65-F5344CB8AC3E}">
        <p14:creationId xmlns:p14="http://schemas.microsoft.com/office/powerpoint/2010/main" val="18860300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9" name="Rectangle 2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op-rule-4">
            <a:extLst xmlns:a="http://schemas.openxmlformats.org/drawingml/2006/main">
              <a:ext uri="{FF2B5EF4-FFF2-40B4-BE49-F238E27FC236}">
                <a16:creationId xmlns:a16="http://schemas.microsoft.com/office/drawing/2014/main" id="{2A268952-6338-4B07-AB89-C22C03FC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9D705696-1647-401F-8EC4-FD46FC51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PRODUCT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68E2205C-821A-4FD6-86B4-75A2437F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Words King 已形成完整學習循環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15EA714E-3862-4001-885E-3870593D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三個核心畫面對應理解、練習與追蹤，而不是孤立功能清單。</a:t>
            </a:r>
          </a:p>
        </p:txBody>
      </p:sp>
      <p:sp>
        <p:nvSpPr>
          <p:cNvPr id="5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7E6880FE-E912-4EA5-9AEC-8A648913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2C494ED3-BA48-43A7-BF74-F5F82AE2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0659f4f304827"/>
          <a:srcRect xmlns:a="http://schemas.openxmlformats.org/drawingml/2006/main" l="17682" t="0" r="17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7800" y="2609850"/>
            <a:ext cx="3390900" cy="2952750"/>
          </a:xfrm>
          <a:prstGeom xmlns:a="http://schemas.openxmlformats.org/drawingml/2006/main" prst="roundRect">
            <a:avLst>
              <a:gd name="adj" fmla="val 5161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98f00af024ad3"/>
          <a:srcRect xmlns:a="http://schemas.openxmlformats.org/drawingml/2006/main" l="17682" t="0" r="17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2550" y="2609850"/>
            <a:ext cx="3390900" cy="2952750"/>
          </a:xfrm>
          <a:prstGeom xmlns:a="http://schemas.openxmlformats.org/drawingml/2006/main" prst="roundRect">
            <a:avLst>
              <a:gd name="adj" fmla="val 5161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91af58ed1491e"/>
          <a:srcRect xmlns:a="http://schemas.openxmlformats.org/drawingml/2006/main" l="17702" t="0" r="177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2609850"/>
            <a:ext cx="3390900" cy="2952750"/>
          </a:xfrm>
          <a:prstGeom xmlns:a="http://schemas.openxmlformats.org/drawingml/2006/main" prst="roundRect">
            <a:avLst>
              <a:gd name="adj" fmla="val 5161"/>
            </a:avLst>
          </a:prstGeom>
        </p:spPr>
      </p:pic>
      <p:sp>
        <p:nvSpPr>
          <p:cNvPr id="10" name="words-cap-bg">
            <a:extLst xmlns:a="http://schemas.openxmlformats.org/drawingml/2006/main">
              <a:ext uri="{FF2B5EF4-FFF2-40B4-BE49-F238E27FC236}">
                <a16:creationId xmlns:a16="http://schemas.microsoft.com/office/drawing/2014/main" id="{91EBFA84-F200-4D0B-873A-728122A5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721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s-cap">
            <a:extLst xmlns:a="http://schemas.openxmlformats.org/drawingml/2006/main">
              <a:ext uri="{FF2B5EF4-FFF2-40B4-BE49-F238E27FC236}">
                <a16:creationId xmlns:a16="http://schemas.microsoft.com/office/drawing/2014/main" id="{3883CD62-3F78-421F-B4E2-84A00E81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理解：單字庫</a:t>
            </a:r>
          </a:p>
        </p:txBody>
      </p:sp>
      <p:sp>
        <p:nvSpPr>
          <p:cNvPr id="12" name="practice-cap-bg">
            <a:extLst xmlns:a="http://schemas.openxmlformats.org/drawingml/2006/main">
              <a:ext uri="{FF2B5EF4-FFF2-40B4-BE49-F238E27FC236}">
                <a16:creationId xmlns:a16="http://schemas.microsoft.com/office/drawing/2014/main" id="{ECE4D15E-924F-4A42-BC3A-4DCFC1D2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72150"/>
            <a:ext cx="2286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actice-cap">
            <a:extLst xmlns:a="http://schemas.openxmlformats.org/drawingml/2006/main">
              <a:ext uri="{FF2B5EF4-FFF2-40B4-BE49-F238E27FC236}">
                <a16:creationId xmlns:a16="http://schemas.microsoft.com/office/drawing/2014/main" id="{2A652D1A-3625-4144-8DAA-83674D59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81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提取：多模式練習</a:t>
            </a:r>
          </a:p>
        </p:txBody>
      </p:sp>
      <p:sp>
        <p:nvSpPr>
          <p:cNvPr id="14" name="analytics-cap-bg">
            <a:extLst xmlns:a="http://schemas.openxmlformats.org/drawingml/2006/main">
              <a:ext uri="{FF2B5EF4-FFF2-40B4-BE49-F238E27FC236}">
                <a16:creationId xmlns:a16="http://schemas.microsoft.com/office/drawing/2014/main" id="{BA8A2605-88F4-48AD-A314-5920E01E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7721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nalytics-cap">
            <a:extLst xmlns:a="http://schemas.openxmlformats.org/drawingml/2006/main">
              <a:ext uri="{FF2B5EF4-FFF2-40B4-BE49-F238E27FC236}">
                <a16:creationId xmlns:a16="http://schemas.microsoft.com/office/drawing/2014/main" id="{618511FA-5F1C-4AAD-A853-C2BBA4B9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810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追蹤：學習趨勢</a:t>
            </a:r>
          </a:p>
        </p:txBody>
      </p:sp>
      <p:sp>
        <p:nvSpPr>
          <p:cNvPr id="16" name="product-loop-caption">
            <a:extLst xmlns:a="http://schemas.openxmlformats.org/drawingml/2006/main">
              <a:ext uri="{FF2B5EF4-FFF2-40B4-BE49-F238E27FC236}">
                <a16:creationId xmlns:a16="http://schemas.microsoft.com/office/drawing/2014/main" id="{D08BDCD4-B362-473C-9D58-F5BA026C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381750"/>
            <a:ext cx="891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單字內容不是終點；每一次作答都會回到下一次複習與資料修正。</a:t>
            </a:r>
          </a:p>
        </p:txBody>
      </p:sp>
    </p:spTree>
    <p:extLst>
      <p:ext uri="{BB962C8B-B14F-4D97-AF65-F5344CB8AC3E}">
        <p14:creationId xmlns:p14="http://schemas.microsoft.com/office/powerpoint/2010/main" val="19568482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7" name="Rectangle 3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op-rule-5">
            <a:extLst xmlns:a="http://schemas.openxmlformats.org/drawingml/2006/main">
              <a:ext uri="{FF2B5EF4-FFF2-40B4-BE49-F238E27FC236}">
                <a16:creationId xmlns:a16="http://schemas.microsoft.com/office/drawing/2014/main" id="{FB4AA786-7937-469D-AE02-F10B9611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4BB60F62-E68F-4B9F-9803-BF9ECFE6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EVOLUTION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A21B219D-7CE5-4918-A809-310A341F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四個月內，原型走向可公開使用的服務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A7656D43-A58E-454D-BDD7-63A0DCF3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時間點採證據分級；資料能證明什麼，就只寫到什麼程度。</a:t>
            </a:r>
          </a:p>
        </p:txBody>
      </p:sp>
      <p:sp>
        <p:nvSpPr>
          <p:cNvPr id="5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6F58941B-FBFD-40FE-A770-0CD1992E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2112D377-E229-4DCC-ABF0-76162AFC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timeline-base">
            <a:extLst xmlns:a="http://schemas.openxmlformats.org/drawingml/2006/main">
              <a:ext uri="{FF2B5EF4-FFF2-40B4-BE49-F238E27FC236}">
                <a16:creationId xmlns:a16="http://schemas.microsoft.com/office/drawing/2014/main" id="{33C6EB4D-2A16-411E-948F-8727A3DB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195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D6C7"/>
            </a:solidFill>
            <a:prstDash val="solid"/>
          </a:ln>
        </p:spPr>
      </p:sp>
      <p:sp>
        <p:nvSpPr>
          <p:cNvPr id="8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64BDC737-D7C2-4FC6-918C-4CE5AE05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76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meline-date-0">
            <a:extLst xmlns:a="http://schemas.openxmlformats.org/drawingml/2006/main">
              <a:ext uri="{FF2B5EF4-FFF2-40B4-BE49-F238E27FC236}">
                <a16:creationId xmlns:a16="http://schemas.microsoft.com/office/drawing/2014/main" id="{90F4DC1E-8ED9-4089-91AD-FE5DC613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81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04/24</a:t>
            </a:r>
          </a:p>
        </p:txBody>
      </p:sp>
      <p:sp>
        <p:nvSpPr>
          <p:cNvPr id="10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3D3E2FC2-6C7C-4D3E-9A2C-DDB9C440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400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專案啟動</a:t>
            </a:r>
          </a:p>
        </p:txBody>
      </p:sp>
      <p:sp>
        <p:nvSpPr>
          <p:cNvPr id="11" name="timeline-desc-0">
            <a:extLst xmlns:a="http://schemas.openxmlformats.org/drawingml/2006/main">
              <a:ext uri="{FF2B5EF4-FFF2-40B4-BE49-F238E27FC236}">
                <a16:creationId xmlns:a16="http://schemas.microsoft.com/office/drawing/2014/main" id="{9B10D75F-F0BA-46B0-A825-849FA58B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72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src／public 建立時間</a:t>
            </a:r>
          </a:p>
        </p:txBody>
      </p:sp>
      <p:sp>
        <p:nvSpPr>
          <p:cNvPr id="12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9D883F5F-0DF3-4031-87D2-B2C658EA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76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meline-date-1">
            <a:extLst xmlns:a="http://schemas.openxmlformats.org/drawingml/2006/main">
              <a:ext uri="{FF2B5EF4-FFF2-40B4-BE49-F238E27FC236}">
                <a16:creationId xmlns:a16="http://schemas.microsoft.com/office/drawing/2014/main" id="{2A8FBF2B-84B7-4F83-9ABE-AA9CFFF3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181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04/25</a:t>
            </a:r>
          </a:p>
        </p:txBody>
      </p:sp>
      <p:sp>
        <p:nvSpPr>
          <p:cNvPr id="14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A6494725-5CBC-4ED7-998A-D0B29A78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400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最早練習紀錄</a:t>
            </a:r>
          </a:p>
        </p:txBody>
      </p:sp>
      <p:sp>
        <p:nvSpPr>
          <p:cNvPr id="15" name="timeline-desc-1">
            <a:extLst xmlns:a="http://schemas.openxmlformats.org/drawingml/2006/main">
              <a:ext uri="{FF2B5EF4-FFF2-40B4-BE49-F238E27FC236}">
                <a16:creationId xmlns:a16="http://schemas.microsoft.com/office/drawing/2014/main" id="{6F08B3F6-8801-44E7-9E09-EBE06F44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72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20 題，答對 15 題</a:t>
            </a:r>
          </a:p>
        </p:txBody>
      </p:sp>
      <p:sp>
        <p:nvSpPr>
          <p:cNvPr id="16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14CB9D20-2958-44EB-9720-ADF5B387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76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meline-date-2">
            <a:extLst xmlns:a="http://schemas.openxmlformats.org/drawingml/2006/main">
              <a:ext uri="{FF2B5EF4-FFF2-40B4-BE49-F238E27FC236}">
                <a16:creationId xmlns:a16="http://schemas.microsoft.com/office/drawing/2014/main" id="{FA81E1FB-A2CF-4DD4-B8B9-7FE46A8B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181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04/29</a:t>
            </a:r>
          </a:p>
        </p:txBody>
      </p:sp>
      <p:sp>
        <p:nvSpPr>
          <p:cNvPr id="18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D7DE164D-C359-4125-8FC4-F636C023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400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匯入管線</a:t>
            </a:r>
          </a:p>
        </p:txBody>
      </p:sp>
      <p:sp>
        <p:nvSpPr>
          <p:cNvPr id="19" name="timeline-desc-2">
            <a:extLst xmlns:a="http://schemas.openxmlformats.org/drawingml/2006/main">
              <a:ext uri="{FF2B5EF4-FFF2-40B4-BE49-F238E27FC236}">
                <a16:creationId xmlns:a16="http://schemas.microsoft.com/office/drawing/2014/main" id="{6B860133-6484-4C2F-84A6-F7497725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72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核心 pipeline 建立</a:t>
            </a:r>
          </a:p>
        </p:txBody>
      </p:sp>
      <p:sp>
        <p:nvSpPr>
          <p:cNvPr id="20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349F1077-E26F-4D24-814A-157529A2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imeline-date-3">
            <a:extLst xmlns:a="http://schemas.openxmlformats.org/drawingml/2006/main">
              <a:ext uri="{FF2B5EF4-FFF2-40B4-BE49-F238E27FC236}">
                <a16:creationId xmlns:a16="http://schemas.microsoft.com/office/drawing/2014/main" id="{5C07CC8E-A7BC-4B43-8D87-A372D052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81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rPr>
              <a:t>05/25</a:t>
            </a:r>
          </a:p>
        </p:txBody>
      </p:sp>
      <p:sp>
        <p:nvSpPr>
          <p:cNvPr id="22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EE322FCF-C0BF-46B7-9AA1-677C46F9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00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公網連入證據</a:t>
            </a:r>
          </a:p>
        </p:txBody>
      </p:sp>
      <p:sp>
        <p:nvSpPr>
          <p:cNvPr id="23" name="timeline-desc-3">
            <a:extLst xmlns:a="http://schemas.openxmlformats.org/drawingml/2006/main">
              <a:ext uri="{FF2B5EF4-FFF2-40B4-BE49-F238E27FC236}">
                <a16:creationId xmlns:a16="http://schemas.microsoft.com/office/drawing/2014/main" id="{3098FD9C-0B51-49B3-B3F0-6D6D4ED9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72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非本機來源 HTTP 請求</a:t>
            </a:r>
          </a:p>
        </p:txBody>
      </p:sp>
      <p:sp>
        <p:nvSpPr>
          <p:cNvPr id="24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9FC4D2C6-334C-43DA-BBD0-3D1F9119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876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imeline-date-4">
            <a:extLst xmlns:a="http://schemas.openxmlformats.org/drawingml/2006/main">
              <a:ext uri="{FF2B5EF4-FFF2-40B4-BE49-F238E27FC236}">
                <a16:creationId xmlns:a16="http://schemas.microsoft.com/office/drawing/2014/main" id="{7CE3D01A-7BD5-40F2-BCE0-6D56D7CF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81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08/15</a:t>
            </a:r>
          </a:p>
        </p:txBody>
      </p:sp>
      <p:sp>
        <p:nvSpPr>
          <p:cNvPr id="26" name="timeline-title-4">
            <a:extLst xmlns:a="http://schemas.openxmlformats.org/drawingml/2006/main">
              <a:ext uri="{FF2B5EF4-FFF2-40B4-BE49-F238E27FC236}">
                <a16:creationId xmlns:a16="http://schemas.microsoft.com/office/drawing/2014/main" id="{91BFAEF6-611A-4CB7-AE79-594F0791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400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持續運作</a:t>
            </a:r>
          </a:p>
        </p:txBody>
      </p:sp>
      <p:sp>
        <p:nvSpPr>
          <p:cNvPr id="27" name="timeline-desc-4">
            <a:extLst xmlns:a="http://schemas.openxmlformats.org/drawingml/2006/main">
              <a:ext uri="{FF2B5EF4-FFF2-40B4-BE49-F238E27FC236}">
                <a16:creationId xmlns:a16="http://schemas.microsoft.com/office/drawing/2014/main" id="{88DF9517-71AD-404A-AD3F-383168EB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972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資料與使用紀錄仍更新</a:t>
            </a:r>
          </a:p>
        </p:txBody>
      </p:sp>
      <p:sp>
        <p:nvSpPr>
          <p:cNvPr id="28" name="timeline-evidence-bg">
            <a:extLst xmlns:a="http://schemas.openxmlformats.org/drawingml/2006/main">
              <a:ext uri="{FF2B5EF4-FFF2-40B4-BE49-F238E27FC236}">
                <a16:creationId xmlns:a16="http://schemas.microsoft.com/office/drawing/2014/main" id="{6F406FBF-64ED-49BD-96DC-E5F27B71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960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imeline-evidence">
            <a:extLst xmlns:a="http://schemas.openxmlformats.org/drawingml/2006/main">
              <a:ext uri="{FF2B5EF4-FFF2-40B4-BE49-F238E27FC236}">
                <a16:creationId xmlns:a16="http://schemas.microsoft.com/office/drawing/2014/main" id="{FCD4FD75-F087-4256-984B-62C37A95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134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● 直接證據</a:t>
            </a:r>
          </a:p>
        </p:txBody>
      </p:sp>
      <p:sp>
        <p:nvSpPr>
          <p:cNvPr id="30" name="timeline-inference-bg">
            <a:extLst xmlns:a="http://schemas.openxmlformats.org/drawingml/2006/main">
              <a:ext uri="{FF2B5EF4-FFF2-40B4-BE49-F238E27FC236}">
                <a16:creationId xmlns:a16="http://schemas.microsoft.com/office/drawing/2014/main" id="{C56123C0-D56C-4A63-A8EA-B717DE80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09600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imeline-inference">
            <a:extLst xmlns:a="http://schemas.openxmlformats.org/drawingml/2006/main">
              <a:ext uri="{FF2B5EF4-FFF2-40B4-BE49-F238E27FC236}">
                <a16:creationId xmlns:a16="http://schemas.microsoft.com/office/drawing/2014/main" id="{CCAA39B6-58FA-4028-997A-3DE3D881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134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● 強合理推定</a:t>
            </a:r>
          </a:p>
        </p:txBody>
      </p:sp>
      <p:sp>
        <p:nvSpPr>
          <p:cNvPr id="32" name="timeline-note">
            <a:extLst xmlns:a="http://schemas.openxmlformats.org/drawingml/2006/main">
              <a:ext uri="{FF2B5EF4-FFF2-40B4-BE49-F238E27FC236}">
                <a16:creationId xmlns:a16="http://schemas.microsoft.com/office/drawing/2014/main" id="{63F8FACE-DDEF-45A7-B424-2BFAAC94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134100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沒有 Git commit，因此不把檔案時間偽裝成版本史。</a:t>
            </a:r>
          </a:p>
        </p:txBody>
      </p:sp>
    </p:spTree>
    <p:extLst>
      <p:ext uri="{BB962C8B-B14F-4D97-AF65-F5344CB8AC3E}">
        <p14:creationId xmlns:p14="http://schemas.microsoft.com/office/powerpoint/2010/main" val="18384857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2" name="Rectangle 3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op-rule-6">
            <a:extLst xmlns:a="http://schemas.openxmlformats.org/drawingml/2006/main">
              <a:ext uri="{FF2B5EF4-FFF2-40B4-BE49-F238E27FC236}">
                <a16:creationId xmlns:a16="http://schemas.microsoft.com/office/drawing/2014/main" id="{D8C14E4A-CE4F-4F5C-8DD7-FE57A5F6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3395E5B7-382E-4902-8503-1AF3C499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ENGINEERING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99BF95F1-1D5E-4A3C-A4DF-84921F64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這是一個完整系統，而不是單頁展示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3949B436-BCB7-4D96-ACBC-0DB8D334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從使用者操作到資料留存、內容匯入與維運，我必須同時處理多個責任邊界。</a:t>
            </a:r>
          </a:p>
        </p:txBody>
      </p:sp>
      <p:sp>
        <p:nvSpPr>
          <p:cNvPr id="5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C6D930E5-0208-4551-AFDE-81E4F248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8758F07F-7A1B-4166-A62B-825071C8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7" name="arch-link-1">
            <a:extLst xmlns:a="http://schemas.openxmlformats.org/drawingml/2006/main">
              <a:ext uri="{FF2B5EF4-FFF2-40B4-BE49-F238E27FC236}">
                <a16:creationId xmlns:a16="http://schemas.microsoft.com/office/drawing/2014/main" id="{5F324084-F029-4767-947A-8628D602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052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8" name="arch-link-2">
            <a:extLst xmlns:a="http://schemas.openxmlformats.org/drawingml/2006/main">
              <a:ext uri="{FF2B5EF4-FFF2-40B4-BE49-F238E27FC236}">
                <a16:creationId xmlns:a16="http://schemas.microsoft.com/office/drawing/2014/main" id="{F390C23B-7548-44B3-9233-57BE4E03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9" name="arch-0-bg">
            <a:extLst xmlns:a="http://schemas.openxmlformats.org/drawingml/2006/main">
              <a:ext uri="{FF2B5EF4-FFF2-40B4-BE49-F238E27FC236}">
                <a16:creationId xmlns:a16="http://schemas.microsoft.com/office/drawing/2014/main" id="{35618429-6C64-4304-9152-2CA3806E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62250"/>
            <a:ext cx="2495550" cy="3105150"/>
          </a:xfrm>
          <a:prstGeom xmlns:a="http://schemas.openxmlformats.org/drawingml/2006/main" prst="roundRect">
            <a:avLst>
              <a:gd name="adj" fmla="val 83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arch-0-top">
            <a:extLst xmlns:a="http://schemas.openxmlformats.org/drawingml/2006/main">
              <a:ext uri="{FF2B5EF4-FFF2-40B4-BE49-F238E27FC236}">
                <a16:creationId xmlns:a16="http://schemas.microsoft.com/office/drawing/2014/main" id="{5918FF7F-9A27-4D5C-8D28-9E99681B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62250"/>
            <a:ext cx="2495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ch-0-icon">
            <a:extLst xmlns:a="http://schemas.openxmlformats.org/drawingml/2006/main">
              <a:ext uri="{FF2B5EF4-FFF2-40B4-BE49-F238E27FC236}">
                <a16:creationId xmlns:a16="http://schemas.microsoft.com/office/drawing/2014/main" id="{A9E80714-BC5B-4E65-95D5-34C44B37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43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0-num">
            <a:extLst xmlns:a="http://schemas.openxmlformats.org/drawingml/2006/main">
              <a:ext uri="{FF2B5EF4-FFF2-40B4-BE49-F238E27FC236}">
                <a16:creationId xmlns:a16="http://schemas.microsoft.com/office/drawing/2014/main" id="{E518AD0B-B562-4C28-9CA4-E4695728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3" name="arch-0-title">
            <a:extLst xmlns:a="http://schemas.openxmlformats.org/drawingml/2006/main">
              <a:ext uri="{FF2B5EF4-FFF2-40B4-BE49-F238E27FC236}">
                <a16:creationId xmlns:a16="http://schemas.microsoft.com/office/drawing/2014/main" id="{903E48F2-3FC0-47A0-8030-A7EE4167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624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使用者體驗</a:t>
            </a:r>
          </a:p>
        </p:txBody>
      </p:sp>
      <p:sp>
        <p:nvSpPr>
          <p:cNvPr id="14" name="arch-0-items">
            <a:extLst xmlns:a="http://schemas.openxmlformats.org/drawingml/2006/main">
              <a:ext uri="{FF2B5EF4-FFF2-40B4-BE49-F238E27FC236}">
                <a16:creationId xmlns:a16="http://schemas.microsoft.com/office/drawing/2014/main" id="{1B6F425F-03D5-4C15-910D-604DDBD1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0100"/>
            <a:ext cx="1962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單字庫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多模式練習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趨勢與排行榜</a:t>
            </a:r>
          </a:p>
        </p:txBody>
      </p:sp>
      <p:sp>
        <p:nvSpPr>
          <p:cNvPr id="15" name="arch-1-bg">
            <a:extLst xmlns:a="http://schemas.openxmlformats.org/drawingml/2006/main">
              <a:ext uri="{FF2B5EF4-FFF2-40B4-BE49-F238E27FC236}">
                <a16:creationId xmlns:a16="http://schemas.microsoft.com/office/drawing/2014/main" id="{335BAF15-29F2-4564-B9E0-B17319E5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62250"/>
            <a:ext cx="342900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arch-1-top">
            <a:extLst xmlns:a="http://schemas.openxmlformats.org/drawingml/2006/main">
              <a:ext uri="{FF2B5EF4-FFF2-40B4-BE49-F238E27FC236}">
                <a16:creationId xmlns:a16="http://schemas.microsoft.com/office/drawing/2014/main" id="{42B28DCE-7B90-43C4-8B9A-1489F15A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62250"/>
            <a:ext cx="3429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-1-icon">
            <a:extLst xmlns:a="http://schemas.openxmlformats.org/drawingml/2006/main">
              <a:ext uri="{FF2B5EF4-FFF2-40B4-BE49-F238E27FC236}">
                <a16:creationId xmlns:a16="http://schemas.microsoft.com/office/drawing/2014/main" id="{4D278844-1916-47F6-A3D8-33D08803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43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rch-1-num">
            <a:extLst xmlns:a="http://schemas.openxmlformats.org/drawingml/2006/main">
              <a:ext uri="{FF2B5EF4-FFF2-40B4-BE49-F238E27FC236}">
                <a16:creationId xmlns:a16="http://schemas.microsoft.com/office/drawing/2014/main" id="{7989A9EE-4508-4BE1-8649-FE57717F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9" name="arch-1-title">
            <a:extLst xmlns:a="http://schemas.openxmlformats.org/drawingml/2006/main">
              <a:ext uri="{FF2B5EF4-FFF2-40B4-BE49-F238E27FC236}">
                <a16:creationId xmlns:a16="http://schemas.microsoft.com/office/drawing/2014/main" id="{BD5469D6-0DFD-4C54-97BB-9E03CAB9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624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服務與資料</a:t>
            </a:r>
          </a:p>
        </p:txBody>
      </p:sp>
      <p:sp>
        <p:nvSpPr>
          <p:cNvPr id="20" name="arch-1-items">
            <a:extLst xmlns:a="http://schemas.openxmlformats.org/drawingml/2006/main">
              <a:ext uri="{FF2B5EF4-FFF2-40B4-BE49-F238E27FC236}">
                <a16:creationId xmlns:a16="http://schemas.microsoft.com/office/drawing/2014/main" id="{DF50E200-1142-4C98-A8BD-AF098C5D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10100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Express API／JWT 權限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SQLite 三庫分工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學習同步、通知、日誌</a:t>
            </a:r>
          </a:p>
        </p:txBody>
      </p:sp>
      <p:sp>
        <p:nvSpPr>
          <p:cNvPr id="21" name="arch-2-bg">
            <a:extLst xmlns:a="http://schemas.openxmlformats.org/drawingml/2006/main">
              <a:ext uri="{FF2B5EF4-FFF2-40B4-BE49-F238E27FC236}">
                <a16:creationId xmlns:a16="http://schemas.microsoft.com/office/drawing/2014/main" id="{94E4DB23-6A73-4254-BEF0-2A499D4C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62250"/>
            <a:ext cx="31051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arch-2-top">
            <a:extLst xmlns:a="http://schemas.openxmlformats.org/drawingml/2006/main">
              <a:ext uri="{FF2B5EF4-FFF2-40B4-BE49-F238E27FC236}">
                <a16:creationId xmlns:a16="http://schemas.microsoft.com/office/drawing/2014/main" id="{997FCFE0-9EE5-4F47-B7AF-C069D09B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62250"/>
            <a:ext cx="31051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rch-2-icon">
            <a:extLst xmlns:a="http://schemas.openxmlformats.org/drawingml/2006/main">
              <a:ext uri="{FF2B5EF4-FFF2-40B4-BE49-F238E27FC236}">
                <a16:creationId xmlns:a16="http://schemas.microsoft.com/office/drawing/2014/main" id="{16ADFC74-57E8-40B6-AEC2-2A5FEC00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rch-2-num">
            <a:extLst xmlns:a="http://schemas.openxmlformats.org/drawingml/2006/main">
              <a:ext uri="{FF2B5EF4-FFF2-40B4-BE49-F238E27FC236}">
                <a16:creationId xmlns:a16="http://schemas.microsoft.com/office/drawing/2014/main" id="{32149C6B-7DE9-4921-8E19-C6E1219C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5" name="arch-2-title">
            <a:extLst xmlns:a="http://schemas.openxmlformats.org/drawingml/2006/main">
              <a:ext uri="{FF2B5EF4-FFF2-40B4-BE49-F238E27FC236}">
                <a16:creationId xmlns:a16="http://schemas.microsoft.com/office/drawing/2014/main" id="{2CD68A81-DCD4-424F-987B-B6FC8567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624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內容與維運</a:t>
            </a:r>
          </a:p>
        </p:txBody>
      </p:sp>
      <p:sp>
        <p:nvSpPr>
          <p:cNvPr id="26" name="arch-2-items">
            <a:extLst xmlns:a="http://schemas.openxmlformats.org/drawingml/2006/main">
              <a:ext uri="{FF2B5EF4-FFF2-40B4-BE49-F238E27FC236}">
                <a16:creationId xmlns:a16="http://schemas.microsoft.com/office/drawing/2014/main" id="{8C5FD908-7FF4-454B-8FA0-F66A1129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1010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OCR／Gemini 匯入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管理後台與人工審核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發音快取與 fallback</a:t>
            </a:r>
          </a:p>
        </p:txBody>
      </p:sp>
      <p:sp>
        <p:nvSpPr>
          <p:cNvPr id="27" name="architecture-conclusion">
            <a:extLst xmlns:a="http://schemas.openxmlformats.org/drawingml/2006/main">
              <a:ext uri="{FF2B5EF4-FFF2-40B4-BE49-F238E27FC236}">
                <a16:creationId xmlns:a16="http://schemas.microsoft.com/office/drawing/2014/main" id="{101A424E-22EE-4B5E-9012-094027C7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2484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真正的挑戰不是『會不會寫一頁』，而是讓資料、權限、錯誤與使用流程能一起運作。</a:t>
            </a:r>
          </a:p>
        </p:txBody>
      </p:sp>
    </p:spTree>
    <p:extLst>
      <p:ext uri="{BB962C8B-B14F-4D97-AF65-F5344CB8AC3E}">
        <p14:creationId xmlns:p14="http://schemas.microsoft.com/office/powerpoint/2010/main" val="11419992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3" name="Rectangle 3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op-rule-7">
            <a:extLst xmlns:a="http://schemas.openxmlformats.org/drawingml/2006/main">
              <a:ext uri="{FF2B5EF4-FFF2-40B4-BE49-F238E27FC236}">
                <a16:creationId xmlns:a16="http://schemas.microsoft.com/office/drawing/2014/main" id="{F8CDD297-B65E-45D1-8D12-B6808568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E5A96086-097A-4B49-B8A0-AA4BC1DA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AI RELIABILITY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4CC6E58A-EBA1-4395-BE75-72001F3C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生成不是答案；品質控制才是系統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7054104E-CECE-496D-8EE0-22D28132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一次生成曾出現錯誤，因此我把流程改成分工明確的三階段審查。</a:t>
            </a:r>
          </a:p>
        </p:txBody>
      </p:sp>
      <p:sp>
        <p:nvSpPr>
          <p:cNvPr id="5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D7ABA87A-430C-4D25-9722-F7BD0228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078FE0B4-5C9E-4479-8F09-CE906C16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b63de987f4611"/>
          <a:srcRect xmlns:a="http://schemas.openxmlformats.org/drawingml/2006/main" l="7360" t="0" r="73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7800" y="2686050"/>
            <a:ext cx="476250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8" name="ai-flow-line">
            <a:extLst xmlns:a="http://schemas.openxmlformats.org/drawingml/2006/main">
              <a:ext uri="{FF2B5EF4-FFF2-40B4-BE49-F238E27FC236}">
                <a16:creationId xmlns:a16="http://schemas.microsoft.com/office/drawing/2014/main" id="{1767947D-DCBE-457E-9639-20DB4C73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86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D6C7"/>
            </a:solidFill>
            <a:prstDash val="solid"/>
          </a:ln>
        </p:spPr>
      </p:sp>
      <p:sp>
        <p:nvSpPr>
          <p:cNvPr id="9" name="ai-step-1">
            <a:extLst xmlns:a="http://schemas.openxmlformats.org/drawingml/2006/main">
              <a:ext uri="{FF2B5EF4-FFF2-40B4-BE49-F238E27FC236}">
                <a16:creationId xmlns:a16="http://schemas.microsoft.com/office/drawing/2014/main" id="{795FB6CB-AD1E-4157-BCAB-BEBD3A07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i-step-n-1">
            <a:extLst xmlns:a="http://schemas.openxmlformats.org/drawingml/2006/main">
              <a:ext uri="{FF2B5EF4-FFF2-40B4-BE49-F238E27FC236}">
                <a16:creationId xmlns:a16="http://schemas.microsoft.com/office/drawing/2014/main" id="{4359EB57-0111-4BF7-8C53-EE011414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ai-step-title-1">
            <a:extLst xmlns:a="http://schemas.openxmlformats.org/drawingml/2006/main">
              <a:ext uri="{FF2B5EF4-FFF2-40B4-BE49-F238E27FC236}">
                <a16:creationId xmlns:a16="http://schemas.microsoft.com/office/drawing/2014/main" id="{074A7CCF-5A2E-473B-BC63-D2683626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52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生成</a:t>
            </a:r>
          </a:p>
        </p:txBody>
      </p:sp>
      <p:sp>
        <p:nvSpPr>
          <p:cNvPr id="12" name="ai-step-sub-1">
            <a:extLst xmlns:a="http://schemas.openxmlformats.org/drawingml/2006/main">
              <a:ext uri="{FF2B5EF4-FFF2-40B4-BE49-F238E27FC236}">
                <a16:creationId xmlns:a16="http://schemas.microsoft.com/office/drawing/2014/main" id="{C3740F68-B16B-4898-B3C5-638765B2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72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建立初稿</a:t>
            </a:r>
          </a:p>
        </p:txBody>
      </p:sp>
      <p:sp>
        <p:nvSpPr>
          <p:cNvPr id="13" name="ai-step-2">
            <a:extLst xmlns:a="http://schemas.openxmlformats.org/drawingml/2006/main">
              <a:ext uri="{FF2B5EF4-FFF2-40B4-BE49-F238E27FC236}">
                <a16:creationId xmlns:a16="http://schemas.microsoft.com/office/drawing/2014/main" id="{C1210B75-092B-472F-BB36-75F54ED8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i-step-n-2">
            <a:extLst xmlns:a="http://schemas.openxmlformats.org/drawingml/2006/main">
              <a:ext uri="{FF2B5EF4-FFF2-40B4-BE49-F238E27FC236}">
                <a16:creationId xmlns:a16="http://schemas.microsoft.com/office/drawing/2014/main" id="{A404721A-2E64-43E3-9827-AACE2472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57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ai-step-title-2">
            <a:extLst xmlns:a="http://schemas.openxmlformats.org/drawingml/2006/main">
              <a:ext uri="{FF2B5EF4-FFF2-40B4-BE49-F238E27FC236}">
                <a16:creationId xmlns:a16="http://schemas.microsoft.com/office/drawing/2014/main" id="{5AB42D36-E64B-4D15-AE67-DA54D27D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52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複核</a:t>
            </a:r>
          </a:p>
        </p:txBody>
      </p:sp>
      <p:sp>
        <p:nvSpPr>
          <p:cNvPr id="16" name="ai-step-sub-2">
            <a:extLst xmlns:a="http://schemas.openxmlformats.org/drawingml/2006/main">
              <a:ext uri="{FF2B5EF4-FFF2-40B4-BE49-F238E27FC236}">
                <a16:creationId xmlns:a16="http://schemas.microsoft.com/office/drawing/2014/main" id="{F7C8082A-1C29-456A-980B-7DAA5DCD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72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檢查缺漏</a:t>
            </a:r>
          </a:p>
        </p:txBody>
      </p:sp>
      <p:sp>
        <p:nvSpPr>
          <p:cNvPr id="17" name="ai-step-3">
            <a:extLst xmlns:a="http://schemas.openxmlformats.org/drawingml/2006/main">
              <a:ext uri="{FF2B5EF4-FFF2-40B4-BE49-F238E27FC236}">
                <a16:creationId xmlns:a16="http://schemas.microsoft.com/office/drawing/2014/main" id="{49327296-3386-4E23-A08B-59C43C80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29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i-step-n-3">
            <a:extLst xmlns:a="http://schemas.openxmlformats.org/drawingml/2006/main">
              <a:ext uri="{FF2B5EF4-FFF2-40B4-BE49-F238E27FC236}">
                <a16:creationId xmlns:a16="http://schemas.microsoft.com/office/drawing/2014/main" id="{BC3FD8F5-0C4D-4410-82F0-F6B66043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57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ai-step-title-3">
            <a:extLst xmlns:a="http://schemas.openxmlformats.org/drawingml/2006/main">
              <a:ext uri="{FF2B5EF4-FFF2-40B4-BE49-F238E27FC236}">
                <a16:creationId xmlns:a16="http://schemas.microsoft.com/office/drawing/2014/main" id="{5BA8CE37-6510-467E-B1DC-32D218F4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552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仲裁</a:t>
            </a:r>
          </a:p>
        </p:txBody>
      </p:sp>
      <p:sp>
        <p:nvSpPr>
          <p:cNvPr id="20" name="ai-step-sub-3">
            <a:extLst xmlns:a="http://schemas.openxmlformats.org/drawingml/2006/main">
              <a:ext uri="{FF2B5EF4-FFF2-40B4-BE49-F238E27FC236}">
                <a16:creationId xmlns:a16="http://schemas.microsoft.com/office/drawing/2014/main" id="{DA1DCDD0-C258-4D5F-96A1-8D01B2BC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972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決定最終稿</a:t>
            </a:r>
          </a:p>
        </p:txBody>
      </p:sp>
      <p:sp>
        <p:nvSpPr>
          <p:cNvPr id="21" name="ai-guardrail">
            <a:extLst xmlns:a="http://schemas.openxmlformats.org/drawingml/2006/main">
              <a:ext uri="{FF2B5EF4-FFF2-40B4-BE49-F238E27FC236}">
                <a16:creationId xmlns:a16="http://schemas.microsoft.com/office/drawing/2014/main" id="{399B590F-DBCA-4F9B-B655-09A6E8AA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619750"/>
            <a:ext cx="4762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ai-guardrail-text">
            <a:extLst xmlns:a="http://schemas.openxmlformats.org/drawingml/2006/main">
              <a:ext uri="{FF2B5EF4-FFF2-40B4-BE49-F238E27FC236}">
                <a16:creationId xmlns:a16="http://schemas.microsoft.com/office/drawing/2014/main" id="{367210C7-822A-461D-9AF9-A2B25FEB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84835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最後仍要通過：格式驗證 · 詞性規則 · 漏字／重複檢查 · 失敗回退</a:t>
            </a:r>
          </a:p>
        </p:txBody>
      </p:sp>
    </p:spTree>
    <p:extLst>
      <p:ext uri="{BB962C8B-B14F-4D97-AF65-F5344CB8AC3E}">
        <p14:creationId xmlns:p14="http://schemas.microsoft.com/office/powerpoint/2010/main" val="13308307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7" name="Rectangle 2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op-rule-8">
            <a:extLst xmlns:a="http://schemas.openxmlformats.org/drawingml/2006/main">
              <a:ext uri="{FF2B5EF4-FFF2-40B4-BE49-F238E27FC236}">
                <a16:creationId xmlns:a16="http://schemas.microsoft.com/office/drawing/2014/main" id="{07301492-C8BB-4566-9118-A43E2143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E77A597F-43C1-4E71-8957-D126D7B9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EVIDENCE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5565E3C5-15C5-4361-BBFB-42E36E94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專案已離開『只有我自己用』的階段</a:t>
            </a:r>
          </a:p>
        </p:txBody>
      </p:sp>
      <p:sp>
        <p:nvSpPr>
          <p:cNvPr id="4" name="subtitle-8">
            <a:extLst xmlns:a="http://schemas.openxmlformats.org/drawingml/2006/main">
              <a:ext uri="{FF2B5EF4-FFF2-40B4-BE49-F238E27FC236}">
                <a16:creationId xmlns:a16="http://schemas.microsoft.com/office/drawing/2014/main" id="{83F39BCA-ADA3-467E-AE01-884E8B93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數字代表內容規模與真實行為；不把註冊數或正確率誇大成學習成效。</a:t>
            </a:r>
          </a:p>
        </p:txBody>
      </p:sp>
      <p:sp>
        <p:nvSpPr>
          <p:cNvPr id="5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10027A1D-87DC-4801-BAE5-54C09E11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2F501D84-0B72-44DA-98A8-A23E5731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7" name="metric-words-value">
            <a:extLst xmlns:a="http://schemas.openxmlformats.org/drawingml/2006/main">
              <a:ext uri="{FF2B5EF4-FFF2-40B4-BE49-F238E27FC236}">
                <a16:creationId xmlns:a16="http://schemas.microsoft.com/office/drawing/2014/main" id="{516B4D12-8578-49BE-A125-3619E99F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52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3,684</a:t>
            </a:r>
          </a:p>
        </p:txBody>
      </p:sp>
      <p:sp>
        <p:nvSpPr>
          <p:cNvPr id="8" name="metric-words-line">
            <a:extLst xmlns:a="http://schemas.openxmlformats.org/drawingml/2006/main">
              <a:ext uri="{FF2B5EF4-FFF2-40B4-BE49-F238E27FC236}">
                <a16:creationId xmlns:a16="http://schemas.microsoft.com/office/drawing/2014/main" id="{A36A9510-DAC8-4891-8BC4-F7A58C6E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81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metric-words-caption">
            <a:extLst xmlns:a="http://schemas.openxmlformats.org/drawingml/2006/main">
              <a:ext uri="{FF2B5EF4-FFF2-40B4-BE49-F238E27FC236}">
                <a16:creationId xmlns:a16="http://schemas.microsoft.com/office/drawing/2014/main" id="{E4AD0BF6-9726-49EC-AC50-60C52705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95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個單字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分布於 71 個單元</a:t>
            </a:r>
          </a:p>
        </p:txBody>
      </p:sp>
      <p:sp>
        <p:nvSpPr>
          <p:cNvPr id="10" name="metric-visitors-value">
            <a:extLst xmlns:a="http://schemas.openxmlformats.org/drawingml/2006/main">
              <a:ext uri="{FF2B5EF4-FFF2-40B4-BE49-F238E27FC236}">
                <a16:creationId xmlns:a16="http://schemas.microsoft.com/office/drawing/2014/main" id="{072E06DD-BE0B-43D7-BCE4-FDE5D024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52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  <p:sp>
        <p:nvSpPr>
          <p:cNvPr id="11" name="metric-visitors-line">
            <a:extLst xmlns:a="http://schemas.openxmlformats.org/drawingml/2006/main">
              <a:ext uri="{FF2B5EF4-FFF2-40B4-BE49-F238E27FC236}">
                <a16:creationId xmlns:a16="http://schemas.microsoft.com/office/drawing/2014/main" id="{16B4372D-A7D6-4084-90E5-15FE8F2E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81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metric-visitors-caption">
            <a:extLst xmlns:a="http://schemas.openxmlformats.org/drawingml/2006/main">
              <a:ext uri="{FF2B5EF4-FFF2-40B4-BE49-F238E27FC236}">
                <a16:creationId xmlns:a16="http://schemas.microsoft.com/office/drawing/2014/main" id="{B2223576-EDEB-4848-A788-9F9C125D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95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位去重造訪者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公開服務使用紀錄</a:t>
            </a:r>
          </a:p>
        </p:txBody>
      </p:sp>
      <p:sp>
        <p:nvSpPr>
          <p:cNvPr id="13" name="metric-learners-value">
            <a:extLst xmlns:a="http://schemas.openxmlformats.org/drawingml/2006/main">
              <a:ext uri="{FF2B5EF4-FFF2-40B4-BE49-F238E27FC236}">
                <a16:creationId xmlns:a16="http://schemas.microsoft.com/office/drawing/2014/main" id="{75F3228B-7E2B-4970-95EA-4C4A2FC7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52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14" name="metric-learners-line">
            <a:extLst xmlns:a="http://schemas.openxmlformats.org/drawingml/2006/main">
              <a:ext uri="{FF2B5EF4-FFF2-40B4-BE49-F238E27FC236}">
                <a16:creationId xmlns:a16="http://schemas.microsoft.com/office/drawing/2014/main" id="{3A3C7DF7-EA5B-4C74-A027-85ED0EE6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81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5" name="metric-learners-caption">
            <a:extLst xmlns:a="http://schemas.openxmlformats.org/drawingml/2006/main">
              <a:ext uri="{FF2B5EF4-FFF2-40B4-BE49-F238E27FC236}">
                <a16:creationId xmlns:a16="http://schemas.microsoft.com/office/drawing/2014/main" id="{3B881D87-6DA9-49B5-82FC-F73BAC7C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95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位產生作答紀錄者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不是測試帳號總數</a:t>
            </a:r>
          </a:p>
        </p:txBody>
      </p:sp>
      <p:sp>
        <p:nvSpPr>
          <p:cNvPr id="16" name="metric-attempts-value">
            <a:extLst xmlns:a="http://schemas.openxmlformats.org/drawingml/2006/main">
              <a:ext uri="{FF2B5EF4-FFF2-40B4-BE49-F238E27FC236}">
                <a16:creationId xmlns:a16="http://schemas.microsoft.com/office/drawing/2014/main" id="{51C27012-5F01-47F8-9B0A-1BEA5FCE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C875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C8753A"/>
                </a:solidFill>
                <a:latin typeface="Microsoft JhengHei"/>
                <a:ea typeface="Microsoft JhengHei"/>
                <a:cs typeface="Microsoft JhengHei"/>
              </a:rPr>
              <a:t>10,011</a:t>
            </a:r>
          </a:p>
        </p:txBody>
      </p:sp>
      <p:sp>
        <p:nvSpPr>
          <p:cNvPr id="17" name="metric-attempts-line">
            <a:extLst xmlns:a="http://schemas.openxmlformats.org/drawingml/2006/main">
              <a:ext uri="{FF2B5EF4-FFF2-40B4-BE49-F238E27FC236}">
                <a16:creationId xmlns:a16="http://schemas.microsoft.com/office/drawing/2014/main" id="{11F939BF-1F91-4578-9E95-D8564305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8140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metric-attempts-caption">
            <a:extLst xmlns:a="http://schemas.openxmlformats.org/drawingml/2006/main">
              <a:ext uri="{FF2B5EF4-FFF2-40B4-BE49-F238E27FC236}">
                <a16:creationId xmlns:a16="http://schemas.microsoft.com/office/drawing/2014/main" id="{CEF2F78B-56A4-4F24-BD3B-A2C915CB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9570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筆作答紀錄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可追蹤錯題與熟練度</a:t>
            </a:r>
          </a:p>
        </p:txBody>
      </p:sp>
      <p:sp>
        <p:nvSpPr>
          <p:cNvPr id="19" name="evidence-strip">
            <a:extLst xmlns:a="http://schemas.openxmlformats.org/drawingml/2006/main">
              <a:ext uri="{FF2B5EF4-FFF2-40B4-BE49-F238E27FC236}">
                <a16:creationId xmlns:a16="http://schemas.microsoft.com/office/drawing/2014/main" id="{C937078C-4925-4159-8F6F-87F0DF35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57800"/>
            <a:ext cx="106870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evidence-strip-main">
            <a:extLst xmlns:a="http://schemas.openxmlformats.org/drawingml/2006/main">
              <a:ext uri="{FF2B5EF4-FFF2-40B4-BE49-F238E27FC236}">
                <a16:creationId xmlns:a16="http://schemas.microsoft.com/office/drawing/2014/main" id="{CD11C240-2D05-4A61-A8BF-DE98526A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054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142 批匯入 · 277 場練習 · 2,122 筆熟練度資料</a:t>
            </a:r>
          </a:p>
        </p:txBody>
      </p:sp>
      <p:sp>
        <p:nvSpPr>
          <p:cNvPr id="21" name="evidence-strip-note">
            <a:extLst xmlns:a="http://schemas.openxmlformats.org/drawingml/2006/main">
              <a:ext uri="{FF2B5EF4-FFF2-40B4-BE49-F238E27FC236}">
                <a16:creationId xmlns:a16="http://schemas.microsoft.com/office/drawing/2014/main" id="{06E5123D-A23D-4D3C-B8B3-DA74370A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81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資料快照：2026/08/15</a:t>
            </a:r>
          </a:p>
        </p:txBody>
      </p:sp>
      <p:sp>
        <p:nvSpPr>
          <p:cNvPr id="22" name="evidence-guardrail">
            <a:extLst xmlns:a="http://schemas.openxmlformats.org/drawingml/2006/main">
              <a:ext uri="{FF2B5EF4-FFF2-40B4-BE49-F238E27FC236}">
                <a16:creationId xmlns:a16="http://schemas.microsoft.com/office/drawing/2014/main" id="{20B6CAC9-9AE2-4886-A649-3D092E88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5532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rPr>
              <a:t>證據能支持『真實使用』；目前沒有前後測，因此不主張系統造成成績提升。</a:t>
            </a:r>
          </a:p>
        </p:txBody>
      </p:sp>
    </p:spTree>
    <p:extLst>
      <p:ext uri="{BB962C8B-B14F-4D97-AF65-F5344CB8AC3E}">
        <p14:creationId xmlns:p14="http://schemas.microsoft.com/office/powerpoint/2010/main" val="5012160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4" name="Rectangle 2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op-rule-9">
            <a:extLst xmlns:a="http://schemas.openxmlformats.org/drawingml/2006/main">
              <a:ext uri="{FF2B5EF4-FFF2-40B4-BE49-F238E27FC236}">
                <a16:creationId xmlns:a16="http://schemas.microsoft.com/office/drawing/2014/main" id="{B77C45BC-80E2-46CF-BEFA-8539F93F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A38A7E2A-B585-49C7-8588-32F7827C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ITERATION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B997EA24-3C24-4E2B-BDD9-05125BFC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錯誤不是被藏起來，而是變成下一版設計</a:t>
            </a:r>
          </a:p>
        </p:txBody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3F78A26C-2CC3-4269-A9CB-883E73BA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同學回報與自行測試共同暴露問題；我只呈現已能說明的改變。</a:t>
            </a:r>
          </a:p>
        </p:txBody>
      </p:sp>
      <p:sp>
        <p:nvSpPr>
          <p:cNvPr id="5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5729E133-3169-453C-9D97-1BBAE790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34DFDAAD-5AF9-4EF2-83F6-3588D5FE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7" name="iter-one">
            <a:extLst xmlns:a="http://schemas.openxmlformats.org/drawingml/2006/main">
              <a:ext uri="{FF2B5EF4-FFF2-40B4-BE49-F238E27FC236}">
                <a16:creationId xmlns:a16="http://schemas.microsoft.com/office/drawing/2014/main" id="{1EE1CBCF-C901-43A8-B24F-336045A3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00350"/>
            <a:ext cx="50292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8" name="iter-one-label-bg">
            <a:extLst xmlns:a="http://schemas.openxmlformats.org/drawingml/2006/main">
              <a:ext uri="{FF2B5EF4-FFF2-40B4-BE49-F238E27FC236}">
                <a16:creationId xmlns:a16="http://schemas.microsoft.com/office/drawing/2014/main" id="{BAAB51EC-67FF-4D10-A578-720D8AA7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ter-one-label">
            <a:extLst xmlns:a="http://schemas.openxmlformats.org/drawingml/2006/main">
              <a:ext uri="{FF2B5EF4-FFF2-40B4-BE49-F238E27FC236}">
                <a16:creationId xmlns:a16="http://schemas.microsoft.com/office/drawing/2014/main" id="{ED80C62A-9434-4E40-BD7A-24A35F12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432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PRONUNCIATION</a:t>
            </a:r>
          </a:p>
        </p:txBody>
      </p:sp>
      <p:sp>
        <p:nvSpPr>
          <p:cNvPr id="10" name="iter-one-title">
            <a:extLst xmlns:a="http://schemas.openxmlformats.org/drawingml/2006/main">
              <a:ext uri="{FF2B5EF4-FFF2-40B4-BE49-F238E27FC236}">
                <a16:creationId xmlns:a16="http://schemas.microsoft.com/office/drawing/2014/main" id="{08B183EA-FE97-4156-AC94-03EF7D79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385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語音模型發音不正確</a:t>
            </a:r>
          </a:p>
        </p:txBody>
      </p:sp>
      <p:sp>
        <p:nvSpPr>
          <p:cNvPr id="11" name="iter-one-arrow">
            <a:extLst xmlns:a="http://schemas.openxmlformats.org/drawingml/2006/main">
              <a:ext uri="{FF2B5EF4-FFF2-40B4-BE49-F238E27FC236}">
                <a16:creationId xmlns:a16="http://schemas.microsoft.com/office/drawing/2014/main" id="{67E41B95-27D7-4DE2-85C3-548B15AC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91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12" name="iter-one-fix">
            <a:extLst xmlns:a="http://schemas.openxmlformats.org/drawingml/2006/main">
              <a:ext uri="{FF2B5EF4-FFF2-40B4-BE49-F238E27FC236}">
                <a16:creationId xmlns:a16="http://schemas.microsoft.com/office/drawing/2014/main" id="{99042795-7D25-43E2-9409-F78DCAED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優先抓取字典真人發音；無合適來源時，再以 TTS 作為 fallback。</a:t>
            </a:r>
          </a:p>
        </p:txBody>
      </p:sp>
      <p:sp>
        <p:nvSpPr>
          <p:cNvPr id="13" name="iter-two">
            <a:extLst xmlns:a="http://schemas.openxmlformats.org/drawingml/2006/main">
              <a:ext uri="{FF2B5EF4-FFF2-40B4-BE49-F238E27FC236}">
                <a16:creationId xmlns:a16="http://schemas.microsoft.com/office/drawing/2014/main" id="{3E0290CD-567F-400B-8DB8-1819BC6B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00350"/>
            <a:ext cx="50292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iter-two-label-bg">
            <a:extLst xmlns:a="http://schemas.openxmlformats.org/drawingml/2006/main">
              <a:ext uri="{FF2B5EF4-FFF2-40B4-BE49-F238E27FC236}">
                <a16:creationId xmlns:a16="http://schemas.microsoft.com/office/drawing/2014/main" id="{6F898D9C-0695-40D3-B18C-D884159F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ter-two-label">
            <a:extLst xmlns:a="http://schemas.openxmlformats.org/drawingml/2006/main">
              <a:ext uri="{FF2B5EF4-FFF2-40B4-BE49-F238E27FC236}">
                <a16:creationId xmlns:a16="http://schemas.microsoft.com/office/drawing/2014/main" id="{29450C36-7D6A-4D8C-9B99-D04AC0A1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43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CONTENT QUALITY</a:t>
            </a:r>
          </a:p>
        </p:txBody>
      </p:sp>
      <p:sp>
        <p:nvSpPr>
          <p:cNvPr id="16" name="iter-two-title">
            <a:extLst xmlns:a="http://schemas.openxmlformats.org/drawingml/2006/main">
              <a:ext uri="{FF2B5EF4-FFF2-40B4-BE49-F238E27FC236}">
                <a16:creationId xmlns:a16="http://schemas.microsoft.com/office/drawing/2014/main" id="{945EEBD0-0E1E-48C6-BE5A-3690C83B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385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單次生成會留下分析錯誤</a:t>
            </a:r>
          </a:p>
        </p:txBody>
      </p:sp>
      <p:sp>
        <p:nvSpPr>
          <p:cNvPr id="17" name="iter-two-arrow">
            <a:extLst xmlns:a="http://schemas.openxmlformats.org/drawingml/2006/main">
              <a:ext uri="{FF2B5EF4-FFF2-40B4-BE49-F238E27FC236}">
                <a16:creationId xmlns:a16="http://schemas.microsoft.com/office/drawing/2014/main" id="{008738F6-2526-4A6E-9773-C3E4F042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91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18" name="iter-two-fix">
            <a:extLst xmlns:a="http://schemas.openxmlformats.org/drawingml/2006/main">
              <a:ext uri="{FF2B5EF4-FFF2-40B4-BE49-F238E27FC236}">
                <a16:creationId xmlns:a16="http://schemas.microsoft.com/office/drawing/2014/main" id="{6E589E06-0E01-4EB9-87E9-1EC5C6D0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863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拆成生成、複核、仲裁，並用規則驗證與回退避免錯誤直接進入單字庫。</a:t>
            </a:r>
          </a:p>
        </p:txBody>
      </p:sp>
      <p:sp>
        <p:nvSpPr>
          <p:cNvPr id="19" name="iteration-conclusion">
            <a:extLst xmlns:a="http://schemas.openxmlformats.org/drawingml/2006/main">
              <a:ext uri="{FF2B5EF4-FFF2-40B4-BE49-F238E27FC236}">
                <a16:creationId xmlns:a16="http://schemas.microsoft.com/office/drawing/2014/main" id="{630AC82B-9C6B-458E-AEF9-A3293B3E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324600"/>
            <a:ext cx="979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迭代的核心不是『加更多 AI』，而是讓錯誤有被發現、被阻擋、被修正的路徑。</a:t>
            </a:r>
          </a:p>
        </p:txBody>
      </p:sp>
    </p:spTree>
    <p:extLst>
      <p:ext uri="{BB962C8B-B14F-4D97-AF65-F5344CB8AC3E}">
        <p14:creationId xmlns:p14="http://schemas.microsoft.com/office/powerpoint/2010/main" val="14014307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op-rule-10">
            <a:extLst xmlns:a="http://schemas.openxmlformats.org/drawingml/2006/main">
              <a:ext uri="{FF2B5EF4-FFF2-40B4-BE49-F238E27FC236}">
                <a16:creationId xmlns:a16="http://schemas.microsoft.com/office/drawing/2014/main" id="{DA445A82-1F21-44C7-864D-9F588F47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0">
            <a:extLst xmlns:a="http://schemas.openxmlformats.org/drawingml/2006/main">
              <a:ext uri="{FF2B5EF4-FFF2-40B4-BE49-F238E27FC236}">
                <a16:creationId xmlns:a16="http://schemas.microsoft.com/office/drawing/2014/main" id="{6F84613F-3900-4245-AC82-72276CE3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REFLECTION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FFF1BC5D-7693-48BB-9BB0-46907950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我學到的不是『叫 AI 寫程式』</a:t>
            </a:r>
          </a:p>
        </p:txBody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07EA8ABC-5DE7-4F45-88F9-BFC15202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最大的成長，是把模糊需求轉成可被驗收的系統決策。</a:t>
            </a:r>
          </a:p>
        </p:txBody>
      </p:sp>
      <p:sp>
        <p:nvSpPr>
          <p:cNvPr id="5" name="footer-brand-10">
            <a:extLst xmlns:a="http://schemas.openxmlformats.org/drawingml/2006/main">
              <a:ext uri="{FF2B5EF4-FFF2-40B4-BE49-F238E27FC236}">
                <a16:creationId xmlns:a16="http://schemas.microsoft.com/office/drawing/2014/main" id="{941EBCE8-3876-43BD-8AA3-9EAA44F7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51B267B1-DAEF-4F27-A53D-0F8A50FE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7" name="growth-before-label">
            <a:extLst xmlns:a="http://schemas.openxmlformats.org/drawingml/2006/main">
              <a:ext uri="{FF2B5EF4-FFF2-40B4-BE49-F238E27FC236}">
                <a16:creationId xmlns:a16="http://schemas.microsoft.com/office/drawing/2014/main" id="{BB272A60-F188-4BEF-9F15-C1651F79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95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BEFORE</a:t>
            </a:r>
          </a:p>
        </p:txBody>
      </p:sp>
      <p:sp>
        <p:nvSpPr>
          <p:cNvPr id="8" name="growth-before">
            <a:extLst xmlns:a="http://schemas.openxmlformats.org/drawingml/2006/main">
              <a:ext uri="{FF2B5EF4-FFF2-40B4-BE49-F238E27FC236}">
                <a16:creationId xmlns:a16="http://schemas.microsoft.com/office/drawing/2014/main" id="{619B5B41-3968-4DA4-8C4F-F7BA9F26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具備程式基礎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做過小型專案</a:t>
            </a:r>
          </a:p>
        </p:txBody>
      </p:sp>
      <p:sp>
        <p:nvSpPr>
          <p:cNvPr id="9" name="growth-arrow">
            <a:extLst xmlns:a="http://schemas.openxmlformats.org/drawingml/2006/main">
              <a:ext uri="{FF2B5EF4-FFF2-40B4-BE49-F238E27FC236}">
                <a16:creationId xmlns:a16="http://schemas.microsoft.com/office/drawing/2014/main" id="{F4F5AC85-8825-487E-92E0-B1F68692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671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0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growth-after-label">
            <a:extLst xmlns:a="http://schemas.openxmlformats.org/drawingml/2006/main">
              <a:ext uri="{FF2B5EF4-FFF2-40B4-BE49-F238E27FC236}">
                <a16:creationId xmlns:a16="http://schemas.microsoft.com/office/drawing/2014/main" id="{DFF88FA1-F0E6-4719-995F-A06B323C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95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NOW</a:t>
            </a:r>
          </a:p>
        </p:txBody>
      </p:sp>
      <p:sp>
        <p:nvSpPr>
          <p:cNvPr id="11" name="growth-after">
            <a:extLst xmlns:a="http://schemas.openxmlformats.org/drawingml/2006/main">
              <a:ext uri="{FF2B5EF4-FFF2-40B4-BE49-F238E27FC236}">
                <a16:creationId xmlns:a16="http://schemas.microsoft.com/office/drawing/2014/main" id="{340D2B22-FBF6-4EF1-9FBC-64BC6310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533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定義問題 · 拆解需求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制定規則 · 測試驗收</a:t>
            </a:r>
          </a:p>
        </p:txBody>
      </p:sp>
      <p:sp>
        <p:nvSpPr>
          <p:cNvPr id="12" name="future-box">
            <a:extLst xmlns:a="http://schemas.openxmlformats.org/drawingml/2006/main">
              <a:ext uri="{FF2B5EF4-FFF2-40B4-BE49-F238E27FC236}">
                <a16:creationId xmlns:a16="http://schemas.microsoft.com/office/drawing/2014/main" id="{F39443F3-1782-443E-8AE0-86723A83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33950"/>
            <a:ext cx="998220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3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A0941D68-3253-479B-BEE2-FA54D76B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00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下一步：軟體系統 × AI 可靠性</a:t>
            </a:r>
          </a:p>
        </p:txBody>
      </p:sp>
      <p:sp>
        <p:nvSpPr>
          <p:cNvPr id="14" name="future-body">
            <a:extLst xmlns:a="http://schemas.openxmlformats.org/drawingml/2006/main">
              <a:ext uri="{FF2B5EF4-FFF2-40B4-BE49-F238E27FC236}">
                <a16:creationId xmlns:a16="http://schemas.microsoft.com/office/drawing/2014/main" id="{992015B0-D97D-44BC-8DB2-D53DF172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769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繼續研究如何讓 AI 產出可驗證、可回退、能在真實服務中被信任。</a:t>
            </a:r>
          </a:p>
        </p:txBody>
      </p:sp>
      <p:sp>
        <p:nvSpPr>
          <p:cNvPr id="15" name="public-url">
            <a:extLst xmlns:a="http://schemas.openxmlformats.org/drawingml/2006/main">
              <a:ext uri="{FF2B5EF4-FFF2-40B4-BE49-F238E27FC236}">
                <a16:creationId xmlns:a16="http://schemas.microsoft.com/office/drawing/2014/main" id="{210B1C50-24BB-4347-AB47-D67975CF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149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975e0a746a074c68"/>
              </a:rPr>
              <a:t>words.ytconch.duckdns.org</a:t>
            </a:r>
          </a:p>
        </p:txBody>
      </p:sp>
      <p:sp>
        <p:nvSpPr>
          <p:cNvPr id="16" name="public-url-note">
            <a:extLst xmlns:a="http://schemas.openxmlformats.org/drawingml/2006/main">
              <a:ext uri="{FF2B5EF4-FFF2-40B4-BE49-F238E27FC236}">
                <a16:creationId xmlns:a16="http://schemas.microsoft.com/office/drawing/2014/main" id="{C9A7AE47-2215-4CCA-9BFF-A41CEACA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6959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公開服務入口</a:t>
            </a:r>
          </a:p>
        </p:txBody>
      </p:sp>
      <p:sp>
        <p:nvSpPr>
          <p:cNvPr id="17" name="closing">
            <a:extLst xmlns:a="http://schemas.openxmlformats.org/drawingml/2006/main">
              <a:ext uri="{FF2B5EF4-FFF2-40B4-BE49-F238E27FC236}">
                <a16:creationId xmlns:a16="http://schemas.microsoft.com/office/drawing/2014/main" id="{21872850-304C-4C9D-9E9E-AD587B60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960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一個從自身需求開始，透過使用、錯誤與驗證持續成長的系統。</a:t>
            </a:r>
          </a:p>
        </p:txBody>
      </p:sp>
    </p:spTree>
    <p:extLst>
      <p:ext uri="{BB962C8B-B14F-4D97-AF65-F5344CB8AC3E}">
        <p14:creationId xmlns:p14="http://schemas.microsoft.com/office/powerpoint/2010/main" val="14568156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1" name="Rectangle 4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op-rule-11">
            <a:extLst xmlns:a="http://schemas.openxmlformats.org/drawingml/2006/main">
              <a:ext uri="{FF2B5EF4-FFF2-40B4-BE49-F238E27FC236}">
                <a16:creationId xmlns:a16="http://schemas.microsoft.com/office/drawing/2014/main" id="{0589DD14-963F-4EC7-9008-0D496654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1">
            <a:extLst xmlns:a="http://schemas.openxmlformats.org/drawingml/2006/main">
              <a:ext uri="{FF2B5EF4-FFF2-40B4-BE49-F238E27FC236}">
                <a16:creationId xmlns:a16="http://schemas.microsoft.com/office/drawing/2014/main" id="{33E5AF68-118B-4BFA-BD6B-595D5ABA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A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BE2F58BB-F4DE-4C06-8B55-69956D72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系統範圍：八個使用介面，六類後端責任</a:t>
            </a:r>
          </a:p>
        </p:txBody>
      </p:sp>
      <p:sp>
        <p:nvSpPr>
          <p:cNvPr id="4" name="subtitle-11">
            <a:extLst xmlns:a="http://schemas.openxmlformats.org/drawingml/2006/main">
              <a:ext uri="{FF2B5EF4-FFF2-40B4-BE49-F238E27FC236}">
                <a16:creationId xmlns:a16="http://schemas.microsoft.com/office/drawing/2014/main" id="{B202E079-204C-4EE7-A9DB-A7DA9CC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附錄提供技術完整度；正文不要求評審逐項閱讀。</a:t>
            </a:r>
          </a:p>
        </p:txBody>
      </p:sp>
      <p:sp>
        <p:nvSpPr>
          <p:cNvPr id="5" name="footer-brand-11">
            <a:extLst xmlns:a="http://schemas.openxmlformats.org/drawingml/2006/main">
              <a:ext uri="{FF2B5EF4-FFF2-40B4-BE49-F238E27FC236}">
                <a16:creationId xmlns:a16="http://schemas.microsoft.com/office/drawing/2014/main" id="{F3770E8E-4974-4BF6-9780-6DE2D811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674841CC-31F3-441A-82FB-C922357D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7" name="scope-pages-title">
            <a:extLst xmlns:a="http://schemas.openxmlformats.org/drawingml/2006/main">
              <a:ext uri="{FF2B5EF4-FFF2-40B4-BE49-F238E27FC236}">
                <a16:creationId xmlns:a16="http://schemas.microsoft.com/office/drawing/2014/main" id="{0ABBD04C-FEB2-4562-B156-199B6A71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43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使用介面</a:t>
            </a:r>
          </a:p>
        </p:txBody>
      </p:sp>
      <p:sp>
        <p:nvSpPr>
          <p:cNvPr id="8" name="scope-services-title">
            <a:extLst xmlns:a="http://schemas.openxmlformats.org/drawingml/2006/main">
              <a:ext uri="{FF2B5EF4-FFF2-40B4-BE49-F238E27FC236}">
                <a16:creationId xmlns:a16="http://schemas.microsoft.com/office/drawing/2014/main" id="{7713B2AE-34CF-4186-8094-C0B1A987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43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後端責任</a:t>
            </a:r>
          </a:p>
        </p:txBody>
      </p:sp>
      <p:sp>
        <p:nvSpPr>
          <p:cNvPr id="9" name="page-item-bg-0">
            <a:extLst xmlns:a="http://schemas.openxmlformats.org/drawingml/2006/main">
              <a:ext uri="{FF2B5EF4-FFF2-40B4-BE49-F238E27FC236}">
                <a16:creationId xmlns:a16="http://schemas.microsoft.com/office/drawing/2014/main" id="{2C341D81-E6E4-4628-88B5-EB31BAC6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page-item-0">
            <a:extLst xmlns:a="http://schemas.openxmlformats.org/drawingml/2006/main">
              <a:ext uri="{FF2B5EF4-FFF2-40B4-BE49-F238E27FC236}">
                <a16:creationId xmlns:a16="http://schemas.microsoft.com/office/drawing/2014/main" id="{6625E77E-A79C-4C12-A545-7FA8D3E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147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首頁／登入</a:t>
            </a:r>
          </a:p>
        </p:txBody>
      </p:sp>
      <p:sp>
        <p:nvSpPr>
          <p:cNvPr id="11" name="page-item-bg-1">
            <a:extLst xmlns:a="http://schemas.openxmlformats.org/drawingml/2006/main">
              <a:ext uri="{FF2B5EF4-FFF2-40B4-BE49-F238E27FC236}">
                <a16:creationId xmlns:a16="http://schemas.microsoft.com/office/drawing/2014/main" id="{77DDE8FB-3BBE-42B6-AA35-92103277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909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page-item-1">
            <a:extLst xmlns:a="http://schemas.openxmlformats.org/drawingml/2006/main">
              <a:ext uri="{FF2B5EF4-FFF2-40B4-BE49-F238E27FC236}">
                <a16:creationId xmlns:a16="http://schemas.microsoft.com/office/drawing/2014/main" id="{35C2E6CB-75E3-429F-9177-DAF9123F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147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單字庫</a:t>
            </a:r>
          </a:p>
        </p:txBody>
      </p:sp>
      <p:sp>
        <p:nvSpPr>
          <p:cNvPr id="13" name="page-item-bg-2">
            <a:extLst xmlns:a="http://schemas.openxmlformats.org/drawingml/2006/main">
              <a:ext uri="{FF2B5EF4-FFF2-40B4-BE49-F238E27FC236}">
                <a16:creationId xmlns:a16="http://schemas.microsoft.com/office/drawing/2014/main" id="{021AA782-AC2B-4741-9106-BFA61E39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195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page-item-2">
            <a:extLst xmlns:a="http://schemas.openxmlformats.org/drawingml/2006/main">
              <a:ext uri="{FF2B5EF4-FFF2-40B4-BE49-F238E27FC236}">
                <a16:creationId xmlns:a16="http://schemas.microsoft.com/office/drawing/2014/main" id="{BCA6AAF3-7C44-470C-8C79-200D9ACC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433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</a:p>
        </p:txBody>
      </p:sp>
      <p:sp>
        <p:nvSpPr>
          <p:cNvPr id="15" name="page-item-bg-3">
            <a:extLst xmlns:a="http://schemas.openxmlformats.org/drawingml/2006/main">
              <a:ext uri="{FF2B5EF4-FFF2-40B4-BE49-F238E27FC236}">
                <a16:creationId xmlns:a16="http://schemas.microsoft.com/office/drawing/2014/main" id="{C17915A9-FFEF-49FD-9627-A4D11551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195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page-item-3">
            <a:extLst xmlns:a="http://schemas.openxmlformats.org/drawingml/2006/main">
              <a:ext uri="{FF2B5EF4-FFF2-40B4-BE49-F238E27FC236}">
                <a16:creationId xmlns:a16="http://schemas.microsoft.com/office/drawing/2014/main" id="{EEBDEDDA-7CFE-4424-B24C-B4C05EDE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433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排行榜</a:t>
            </a:r>
          </a:p>
        </p:txBody>
      </p:sp>
      <p:sp>
        <p:nvSpPr>
          <p:cNvPr id="17" name="page-item-bg-4">
            <a:extLst xmlns:a="http://schemas.openxmlformats.org/drawingml/2006/main">
              <a:ext uri="{FF2B5EF4-FFF2-40B4-BE49-F238E27FC236}">
                <a16:creationId xmlns:a16="http://schemas.microsoft.com/office/drawing/2014/main" id="{083C6A15-3BDA-41F0-A131-D35C9FA3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482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page-item-4">
            <a:extLst xmlns:a="http://schemas.openxmlformats.org/drawingml/2006/main">
              <a:ext uri="{FF2B5EF4-FFF2-40B4-BE49-F238E27FC236}">
                <a16:creationId xmlns:a16="http://schemas.microsoft.com/office/drawing/2014/main" id="{9F9A3FED-5496-4D25-B8A4-050994A2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720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學習趨勢</a:t>
            </a:r>
          </a:p>
        </p:txBody>
      </p:sp>
      <p:sp>
        <p:nvSpPr>
          <p:cNvPr id="19" name="page-item-bg-5">
            <a:extLst xmlns:a="http://schemas.openxmlformats.org/drawingml/2006/main">
              <a:ext uri="{FF2B5EF4-FFF2-40B4-BE49-F238E27FC236}">
                <a16:creationId xmlns:a16="http://schemas.microsoft.com/office/drawing/2014/main" id="{19F6E1FB-0B51-4240-96AB-14B35600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482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page-item-5">
            <a:extLst xmlns:a="http://schemas.openxmlformats.org/drawingml/2006/main">
              <a:ext uri="{FF2B5EF4-FFF2-40B4-BE49-F238E27FC236}">
                <a16:creationId xmlns:a16="http://schemas.microsoft.com/office/drawing/2014/main" id="{4CBFDBDC-974B-4259-9F7C-0DBB5227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720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設定</a:t>
            </a:r>
          </a:p>
        </p:txBody>
      </p:sp>
      <p:sp>
        <p:nvSpPr>
          <p:cNvPr id="21" name="page-item-bg-6">
            <a:extLst xmlns:a="http://schemas.openxmlformats.org/drawingml/2006/main">
              <a:ext uri="{FF2B5EF4-FFF2-40B4-BE49-F238E27FC236}">
                <a16:creationId xmlns:a16="http://schemas.microsoft.com/office/drawing/2014/main" id="{A3EDFC66-BAF1-4BD2-A175-8046C84D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768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page-item-6">
            <a:extLst xmlns:a="http://schemas.openxmlformats.org/drawingml/2006/main">
              <a:ext uri="{FF2B5EF4-FFF2-40B4-BE49-F238E27FC236}">
                <a16:creationId xmlns:a16="http://schemas.microsoft.com/office/drawing/2014/main" id="{918C6526-64FA-493E-B965-97FF266B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006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通知</a:t>
            </a:r>
          </a:p>
        </p:txBody>
      </p:sp>
      <p:sp>
        <p:nvSpPr>
          <p:cNvPr id="23" name="page-item-bg-7">
            <a:extLst xmlns:a="http://schemas.openxmlformats.org/drawingml/2006/main">
              <a:ext uri="{FF2B5EF4-FFF2-40B4-BE49-F238E27FC236}">
                <a16:creationId xmlns:a16="http://schemas.microsoft.com/office/drawing/2014/main" id="{CC671A94-879F-40ED-99A0-3994DB6E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2768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4" name="page-item-7">
            <a:extLst xmlns:a="http://schemas.openxmlformats.org/drawingml/2006/main">
              <a:ext uri="{FF2B5EF4-FFF2-40B4-BE49-F238E27FC236}">
                <a16:creationId xmlns:a16="http://schemas.microsoft.com/office/drawing/2014/main" id="{02728AD7-8CA9-4AF0-AD2B-766BF14B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4006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管理後台</a:t>
            </a:r>
          </a:p>
        </p:txBody>
      </p:sp>
      <p:sp>
        <p:nvSpPr>
          <p:cNvPr id="25" name="svc-item-bg-0">
            <a:extLst xmlns:a="http://schemas.openxmlformats.org/drawingml/2006/main">
              <a:ext uri="{FF2B5EF4-FFF2-40B4-BE49-F238E27FC236}">
                <a16:creationId xmlns:a16="http://schemas.microsoft.com/office/drawing/2014/main" id="{4679DBD6-1D04-49FC-8E20-DF88BE84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909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svc-item-0">
            <a:extLst xmlns:a="http://schemas.openxmlformats.org/drawingml/2006/main">
              <a:ext uri="{FF2B5EF4-FFF2-40B4-BE49-F238E27FC236}">
                <a16:creationId xmlns:a16="http://schemas.microsoft.com/office/drawing/2014/main" id="{52A2669E-2104-4B52-AEB6-F62BA160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86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驗證與權限</a:t>
            </a:r>
          </a:p>
        </p:txBody>
      </p:sp>
      <p:sp>
        <p:nvSpPr>
          <p:cNvPr id="27" name="svc-item-bg-1">
            <a:extLst xmlns:a="http://schemas.openxmlformats.org/drawingml/2006/main">
              <a:ext uri="{FF2B5EF4-FFF2-40B4-BE49-F238E27FC236}">
                <a16:creationId xmlns:a16="http://schemas.microsoft.com/office/drawing/2014/main" id="{959FEC5D-411F-4674-9CEC-59341F24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052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8" name="svc-item-1">
            <a:extLst xmlns:a="http://schemas.openxmlformats.org/drawingml/2006/main">
              <a:ext uri="{FF2B5EF4-FFF2-40B4-BE49-F238E27FC236}">
                <a16:creationId xmlns:a16="http://schemas.microsoft.com/office/drawing/2014/main" id="{D2DD87BE-6EEB-4087-87CC-FD7782BE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005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單字查詢</a:t>
            </a:r>
          </a:p>
        </p:txBody>
      </p:sp>
      <p:sp>
        <p:nvSpPr>
          <p:cNvPr id="29" name="svc-item-bg-2">
            <a:extLst xmlns:a="http://schemas.openxmlformats.org/drawingml/2006/main">
              <a:ext uri="{FF2B5EF4-FFF2-40B4-BE49-F238E27FC236}">
                <a16:creationId xmlns:a16="http://schemas.microsoft.com/office/drawing/2014/main" id="{C6EE69AC-79A6-4106-91DC-9BA7FEC7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196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0" name="svc-item-2">
            <a:extLst xmlns:a="http://schemas.openxmlformats.org/drawingml/2006/main">
              <a:ext uri="{FF2B5EF4-FFF2-40B4-BE49-F238E27FC236}">
                <a16:creationId xmlns:a16="http://schemas.microsoft.com/office/drawing/2014/main" id="{7FB2A88D-0103-4B0F-A495-A4665489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14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練習與熟練度</a:t>
            </a:r>
          </a:p>
        </p:txBody>
      </p:sp>
      <p:sp>
        <p:nvSpPr>
          <p:cNvPr id="31" name="svc-item-bg-3">
            <a:extLst xmlns:a="http://schemas.openxmlformats.org/drawingml/2006/main">
              <a:ext uri="{FF2B5EF4-FFF2-40B4-BE49-F238E27FC236}">
                <a16:creationId xmlns:a16="http://schemas.microsoft.com/office/drawing/2014/main" id="{7B3452F7-1FBC-45F3-9FAE-DE09400F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9339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2" name="svc-item-3">
            <a:extLst xmlns:a="http://schemas.openxmlformats.org/drawingml/2006/main">
              <a:ext uri="{FF2B5EF4-FFF2-40B4-BE49-F238E27FC236}">
                <a16:creationId xmlns:a16="http://schemas.microsoft.com/office/drawing/2014/main" id="{B598EBFD-1818-4A0D-8A9C-BC2EC6B0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292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分析與排行榜</a:t>
            </a:r>
          </a:p>
        </p:txBody>
      </p:sp>
      <p:sp>
        <p:nvSpPr>
          <p:cNvPr id="33" name="svc-item-bg-4">
            <a:extLst xmlns:a="http://schemas.openxmlformats.org/drawingml/2006/main">
              <a:ext uri="{FF2B5EF4-FFF2-40B4-BE49-F238E27FC236}">
                <a16:creationId xmlns:a16="http://schemas.microsoft.com/office/drawing/2014/main" id="{B3D2DF38-029A-493B-9108-B97AD00B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4483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4" name="svc-item-4">
            <a:extLst xmlns:a="http://schemas.openxmlformats.org/drawingml/2006/main">
              <a:ext uri="{FF2B5EF4-FFF2-40B4-BE49-F238E27FC236}">
                <a16:creationId xmlns:a16="http://schemas.microsoft.com/office/drawing/2014/main" id="{B591AA11-30F4-4064-968A-49C58E99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5435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匯入與審核</a:t>
            </a:r>
          </a:p>
        </p:txBody>
      </p:sp>
      <p:sp>
        <p:nvSpPr>
          <p:cNvPr id="35" name="svc-item-bg-5">
            <a:extLst xmlns:a="http://schemas.openxmlformats.org/drawingml/2006/main">
              <a:ext uri="{FF2B5EF4-FFF2-40B4-BE49-F238E27FC236}">
                <a16:creationId xmlns:a16="http://schemas.microsoft.com/office/drawing/2014/main" id="{BE6C88A2-FA04-4913-ABF9-C1CB686F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9626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6" name="svc-item-5">
            <a:extLst xmlns:a="http://schemas.openxmlformats.org/drawingml/2006/main">
              <a:ext uri="{FF2B5EF4-FFF2-40B4-BE49-F238E27FC236}">
                <a16:creationId xmlns:a16="http://schemas.microsoft.com/office/drawing/2014/main" id="{DC764A96-17F1-40B6-BE9F-E9158443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0579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TTS／發音快取</a:t>
            </a:r>
          </a:p>
        </p:txBody>
      </p:sp>
    </p:spTree>
    <p:extLst>
      <p:ext uri="{BB962C8B-B14F-4D97-AF65-F5344CB8AC3E}">
        <p14:creationId xmlns:p14="http://schemas.microsoft.com/office/powerpoint/2010/main" val="17091603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3" name="Rectangle 3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op-rule-12">
            <a:extLst xmlns:a="http://schemas.openxmlformats.org/drawingml/2006/main">
              <a:ext uri="{FF2B5EF4-FFF2-40B4-BE49-F238E27FC236}">
                <a16:creationId xmlns:a16="http://schemas.microsoft.com/office/drawing/2014/main" id="{106207CF-510A-4F5D-8809-44918C64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2">
            <a:extLst xmlns:a="http://schemas.openxmlformats.org/drawingml/2006/main">
              <a:ext uri="{FF2B5EF4-FFF2-40B4-BE49-F238E27FC236}">
                <a16:creationId xmlns:a16="http://schemas.microsoft.com/office/drawing/2014/main" id="{70F6D570-B8F9-4D5A-8C74-FEFECD7B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B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DC209101-923C-4CAB-A624-4995A133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26 項測試守住 AI 匯入的關鍵邊界</a:t>
            </a:r>
          </a:p>
        </p:txBody>
      </p:sp>
      <p:sp>
        <p:nvSpPr>
          <p:cNvPr id="4" name="subtitle-12">
            <a:extLst xmlns:a="http://schemas.openxmlformats.org/drawingml/2006/main">
              <a:ext uri="{FF2B5EF4-FFF2-40B4-BE49-F238E27FC236}">
                <a16:creationId xmlns:a16="http://schemas.microsoft.com/office/drawing/2014/main" id="{974537BA-7873-4B0A-B5CD-F3D63296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測試聚焦在模型最常出現、又最容易污染資料庫的輸出差異。</a:t>
            </a:r>
          </a:p>
        </p:txBody>
      </p:sp>
      <p:sp>
        <p:nvSpPr>
          <p:cNvPr id="5" name="footer-brand-12">
            <a:extLst xmlns:a="http://schemas.openxmlformats.org/drawingml/2006/main">
              <a:ext uri="{FF2B5EF4-FFF2-40B4-BE49-F238E27FC236}">
                <a16:creationId xmlns:a16="http://schemas.microsoft.com/office/drawing/2014/main" id="{89325985-0125-4D16-AEB9-C2ADB833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B9C6C84C-4A70-4477-9FF4-AA8186BE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7" name="test-count-value">
            <a:extLst xmlns:a="http://schemas.openxmlformats.org/drawingml/2006/main">
              <a:ext uri="{FF2B5EF4-FFF2-40B4-BE49-F238E27FC236}">
                <a16:creationId xmlns:a16="http://schemas.microsoft.com/office/drawing/2014/main" id="{918A8522-10C9-4B56-ADA0-49E82E42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575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26 / 26</a:t>
            </a:r>
          </a:p>
        </p:txBody>
      </p:sp>
      <p:sp>
        <p:nvSpPr>
          <p:cNvPr id="8" name="test-count-line">
            <a:extLst xmlns:a="http://schemas.openxmlformats.org/drawingml/2006/main">
              <a:ext uri="{FF2B5EF4-FFF2-40B4-BE49-F238E27FC236}">
                <a16:creationId xmlns:a16="http://schemas.microsoft.com/office/drawing/2014/main" id="{1107AA2B-9415-4F85-8376-0345BA5F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861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test-count-caption">
            <a:extLst xmlns:a="http://schemas.openxmlformats.org/drawingml/2006/main">
              <a:ext uri="{FF2B5EF4-FFF2-40B4-BE49-F238E27FC236}">
                <a16:creationId xmlns:a16="http://schemas.microsoft.com/office/drawing/2014/main" id="{41F9512D-7079-4E53-98B5-56B426C3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2026/08/15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一次性測試全部通過</a:t>
            </a:r>
          </a:p>
        </p:txBody>
      </p:sp>
      <p:sp>
        <p:nvSpPr>
          <p:cNvPr id="10" name="check-0-bg">
            <a:extLst xmlns:a="http://schemas.openxmlformats.org/drawingml/2006/main">
              <a:ext uri="{FF2B5EF4-FFF2-40B4-BE49-F238E27FC236}">
                <a16:creationId xmlns:a16="http://schemas.microsoft.com/office/drawing/2014/main" id="{F677F8AE-681E-4BA1-88C3-1B61DFCC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003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1" name="check-0-title">
            <a:extLst xmlns:a="http://schemas.openxmlformats.org/drawingml/2006/main">
              <a:ext uri="{FF2B5EF4-FFF2-40B4-BE49-F238E27FC236}">
                <a16:creationId xmlns:a16="http://schemas.microsoft.com/office/drawing/2014/main" id="{ABB9B4E8-7745-4E30-B7BB-41320500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718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格式契約</a:t>
            </a:r>
          </a:p>
        </p:txBody>
      </p:sp>
      <p:sp>
        <p:nvSpPr>
          <p:cNvPr id="12" name="check-0-desc">
            <a:extLst xmlns:a="http://schemas.openxmlformats.org/drawingml/2006/main">
              <a:ext uri="{FF2B5EF4-FFF2-40B4-BE49-F238E27FC236}">
                <a16:creationId xmlns:a16="http://schemas.microsoft.com/office/drawing/2014/main" id="{21BBA2DD-EB62-4E1C-B348-C6B13143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956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輸出欄位、順序與提示契約</a:t>
            </a:r>
          </a:p>
        </p:txBody>
      </p:sp>
      <p:sp>
        <p:nvSpPr>
          <p:cNvPr id="13" name="check-1-bg">
            <a:extLst xmlns:a="http://schemas.openxmlformats.org/drawingml/2006/main">
              <a:ext uri="{FF2B5EF4-FFF2-40B4-BE49-F238E27FC236}">
                <a16:creationId xmlns:a16="http://schemas.microsoft.com/office/drawing/2014/main" id="{D515381E-973C-48EC-BA82-274F3E92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check-1-title">
            <a:extLst xmlns:a="http://schemas.openxmlformats.org/drawingml/2006/main">
              <a:ext uri="{FF2B5EF4-FFF2-40B4-BE49-F238E27FC236}">
                <a16:creationId xmlns:a16="http://schemas.microsoft.com/office/drawing/2014/main" id="{990702F8-BDF1-480A-BBA9-97F5339D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718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詞性合法</a:t>
            </a:r>
          </a:p>
        </p:txBody>
      </p:sp>
      <p:sp>
        <p:nvSpPr>
          <p:cNvPr id="15" name="check-1-desc">
            <a:extLst xmlns:a="http://schemas.openxmlformats.org/drawingml/2006/main">
              <a:ext uri="{FF2B5EF4-FFF2-40B4-BE49-F238E27FC236}">
                <a16:creationId xmlns:a16="http://schemas.microsoft.com/office/drawing/2014/main" id="{B1B650A7-21B6-4212-9F39-75980CC7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956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拒絕非法 tense，允許安全正規化</a:t>
            </a:r>
          </a:p>
        </p:txBody>
      </p:sp>
      <p:sp>
        <p:nvSpPr>
          <p:cNvPr id="16" name="check-2-bg">
            <a:extLst xmlns:a="http://schemas.openxmlformats.org/drawingml/2006/main">
              <a:ext uri="{FF2B5EF4-FFF2-40B4-BE49-F238E27FC236}">
                <a16:creationId xmlns:a16="http://schemas.microsoft.com/office/drawing/2014/main" id="{E3C440E3-C258-4502-80C3-7A568EAD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7" name="check-2-title">
            <a:extLst xmlns:a="http://schemas.openxmlformats.org/drawingml/2006/main">
              <a:ext uri="{FF2B5EF4-FFF2-40B4-BE49-F238E27FC236}">
                <a16:creationId xmlns:a16="http://schemas.microsoft.com/office/drawing/2014/main" id="{D4CA4D7B-32B6-4635-900C-9B1E1435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719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內容完整</a:t>
            </a:r>
          </a:p>
        </p:txBody>
      </p:sp>
      <p:sp>
        <p:nvSpPr>
          <p:cNvPr id="18" name="check-2-desc">
            <a:extLst xmlns:a="http://schemas.openxmlformats.org/drawingml/2006/main">
              <a:ext uri="{FF2B5EF4-FFF2-40B4-BE49-F238E27FC236}">
                <a16:creationId xmlns:a16="http://schemas.microsoft.com/office/drawing/2014/main" id="{2F6A9AE1-9F6C-416D-8729-902AFE83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958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補回漏字、維持輸入順序</a:t>
            </a:r>
          </a:p>
        </p:txBody>
      </p:sp>
      <p:sp>
        <p:nvSpPr>
          <p:cNvPr id="19" name="check-3-bg">
            <a:extLst xmlns:a="http://schemas.openxmlformats.org/drawingml/2006/main">
              <a:ext uri="{FF2B5EF4-FFF2-40B4-BE49-F238E27FC236}">
                <a16:creationId xmlns:a16="http://schemas.microsoft.com/office/drawing/2014/main" id="{9987C00F-794F-43AE-930E-FE5A0523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check-3-title">
            <a:extLst xmlns:a="http://schemas.openxmlformats.org/drawingml/2006/main">
              <a:ext uri="{FF2B5EF4-FFF2-40B4-BE49-F238E27FC236}">
                <a16:creationId xmlns:a16="http://schemas.microsoft.com/office/drawing/2014/main" id="{16E33CFB-AE3F-4487-9430-E7124DC0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719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去除重複</a:t>
            </a:r>
          </a:p>
        </p:txBody>
      </p:sp>
      <p:sp>
        <p:nvSpPr>
          <p:cNvPr id="21" name="check-3-desc">
            <a:extLst xmlns:a="http://schemas.openxmlformats.org/drawingml/2006/main">
              <a:ext uri="{FF2B5EF4-FFF2-40B4-BE49-F238E27FC236}">
                <a16:creationId xmlns:a16="http://schemas.microsoft.com/office/drawing/2014/main" id="{9552B1D3-37D4-4E2B-A831-9AA1C689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958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合併重複 row 與重複字義</a:t>
            </a:r>
          </a:p>
        </p:txBody>
      </p:sp>
      <p:sp>
        <p:nvSpPr>
          <p:cNvPr id="22" name="check-4-bg">
            <a:extLst xmlns:a="http://schemas.openxmlformats.org/drawingml/2006/main">
              <a:ext uri="{FF2B5EF4-FFF2-40B4-BE49-F238E27FC236}">
                <a16:creationId xmlns:a16="http://schemas.microsoft.com/office/drawing/2014/main" id="{0D47C5B7-8F3D-48F9-8245-10217551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006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3" name="check-4-title">
            <a:extLst xmlns:a="http://schemas.openxmlformats.org/drawingml/2006/main">
              <a:ext uri="{FF2B5EF4-FFF2-40B4-BE49-F238E27FC236}">
                <a16:creationId xmlns:a16="http://schemas.microsoft.com/office/drawing/2014/main" id="{DBDF9E11-6874-4229-B0E2-40B6A935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721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降級回退</a:t>
            </a:r>
          </a:p>
        </p:txBody>
      </p:sp>
      <p:sp>
        <p:nvSpPr>
          <p:cNvPr id="24" name="check-4-desc">
            <a:extLst xmlns:a="http://schemas.openxmlformats.org/drawingml/2006/main">
              <a:ext uri="{FF2B5EF4-FFF2-40B4-BE49-F238E27FC236}">
                <a16:creationId xmlns:a16="http://schemas.microsoft.com/office/drawing/2014/main" id="{853ABAE9-0602-4C3F-B1A6-51370228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6959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後續審查失敗時沿用可靠版本</a:t>
            </a:r>
          </a:p>
        </p:txBody>
      </p:sp>
      <p:sp>
        <p:nvSpPr>
          <p:cNvPr id="25" name="check-5-bg">
            <a:extLst xmlns:a="http://schemas.openxmlformats.org/drawingml/2006/main">
              <a:ext uri="{FF2B5EF4-FFF2-40B4-BE49-F238E27FC236}">
                <a16:creationId xmlns:a16="http://schemas.microsoft.com/office/drawing/2014/main" id="{42E0900B-47FE-4FB2-A5EE-406DF5BE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006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check-5-title">
            <a:extLst xmlns:a="http://schemas.openxmlformats.org/drawingml/2006/main">
              <a:ext uri="{FF2B5EF4-FFF2-40B4-BE49-F238E27FC236}">
                <a16:creationId xmlns:a16="http://schemas.microsoft.com/office/drawing/2014/main" id="{C958A7D5-19B2-4798-8E47-EACA2E81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3721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API 限流</a:t>
            </a:r>
          </a:p>
        </p:txBody>
      </p:sp>
      <p:sp>
        <p:nvSpPr>
          <p:cNvPr id="27" name="check-5-desc">
            <a:extLst xmlns:a="http://schemas.openxmlformats.org/drawingml/2006/main">
              <a:ext uri="{FF2B5EF4-FFF2-40B4-BE49-F238E27FC236}">
                <a16:creationId xmlns:a16="http://schemas.microsoft.com/office/drawing/2014/main" id="{7C618B52-577D-4B49-A15E-3F464148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6959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429 時切換 key 或交回協調器</a:t>
            </a:r>
          </a:p>
        </p:txBody>
      </p:sp>
      <p:sp>
        <p:nvSpPr>
          <p:cNvPr id="28" name="test-command">
            <a:extLst xmlns:a="http://schemas.openxmlformats.org/drawingml/2006/main">
              <a:ext uri="{FF2B5EF4-FFF2-40B4-BE49-F238E27FC236}">
                <a16:creationId xmlns:a16="http://schemas.microsoft.com/office/drawing/2014/main" id="{369DC75B-E34F-4496-945D-E0DEC18B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2674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驗證命令：python -m unittest tests.test_image_word_pipeline</a:t>
            </a:r>
          </a:p>
        </p:txBody>
      </p:sp>
    </p:spTree>
    <p:extLst>
      <p:ext uri="{BB962C8B-B14F-4D97-AF65-F5344CB8AC3E}">
        <p14:creationId xmlns:p14="http://schemas.microsoft.com/office/powerpoint/2010/main" val="12568486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59" name="Rectangle 5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8" name="Rectangle 5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7" name="Rectangle 5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6" name="Rectangle 5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op-rule-13">
            <a:extLst xmlns:a="http://schemas.openxmlformats.org/drawingml/2006/main">
              <a:ext uri="{FF2B5EF4-FFF2-40B4-BE49-F238E27FC236}">
                <a16:creationId xmlns:a16="http://schemas.microsoft.com/office/drawing/2014/main" id="{D5444F83-DD47-4AB2-A14E-EDD7E618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3">
            <a:extLst xmlns:a="http://schemas.openxmlformats.org/drawingml/2006/main">
              <a:ext uri="{FF2B5EF4-FFF2-40B4-BE49-F238E27FC236}">
                <a16:creationId xmlns:a16="http://schemas.microsoft.com/office/drawing/2014/main" id="{86922E7A-BEDF-46F3-8F7C-D7544AEC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C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4D0CE7F6-0999-4584-8F79-E6ED2C67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時間線採用證據分級，不把推定寫成事實</a:t>
            </a:r>
          </a:p>
        </p:txBody>
      </p:sp>
      <p:sp>
        <p:nvSpPr>
          <p:cNvPr id="4" name="subtitle-13">
            <a:extLst xmlns:a="http://schemas.openxmlformats.org/drawingml/2006/main">
              <a:ext uri="{FF2B5EF4-FFF2-40B4-BE49-F238E27FC236}">
                <a16:creationId xmlns:a16="http://schemas.microsoft.com/office/drawing/2014/main" id="{277437C8-86C5-4CA3-88D5-5CAF08D3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這份報告刻意保留限制，因為可信度比故事完整更重要。</a:t>
            </a:r>
          </a:p>
        </p:txBody>
      </p:sp>
      <p:sp>
        <p:nvSpPr>
          <p:cNvPr id="5" name="footer-brand-13">
            <a:extLst xmlns:a="http://schemas.openxmlformats.org/drawingml/2006/main">
              <a:ext uri="{FF2B5EF4-FFF2-40B4-BE49-F238E27FC236}">
                <a16:creationId xmlns:a16="http://schemas.microsoft.com/office/drawing/2014/main" id="{6CA60154-0E88-4F78-B749-8AE2D05C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E41675B1-B456-40CB-B54D-3D1109F9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7" name="ledger-head-bg-0">
            <a:extLst xmlns:a="http://schemas.openxmlformats.org/drawingml/2006/main">
              <a:ext uri="{FF2B5EF4-FFF2-40B4-BE49-F238E27FC236}">
                <a16:creationId xmlns:a16="http://schemas.microsoft.com/office/drawing/2014/main" id="{86A4CAAD-7A96-4648-8227-0417AE23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051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dger-head-0">
            <a:extLst xmlns:a="http://schemas.openxmlformats.org/drawingml/2006/main">
              <a:ext uri="{FF2B5EF4-FFF2-40B4-BE49-F238E27FC236}">
                <a16:creationId xmlns:a16="http://schemas.microsoft.com/office/drawing/2014/main" id="{5DF4FAF7-5C14-4B67-88FC-36376622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289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日期</a:t>
            </a:r>
          </a:p>
        </p:txBody>
      </p:sp>
      <p:sp>
        <p:nvSpPr>
          <p:cNvPr id="9" name="ledger-head-bg-1">
            <a:extLst xmlns:a="http://schemas.openxmlformats.org/drawingml/2006/main">
              <a:ext uri="{FF2B5EF4-FFF2-40B4-BE49-F238E27FC236}">
                <a16:creationId xmlns:a16="http://schemas.microsoft.com/office/drawing/2014/main" id="{E41F49C3-D432-4666-91AA-2A0C72DF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051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edger-head-1">
            <a:extLst xmlns:a="http://schemas.openxmlformats.org/drawingml/2006/main">
              <a:ext uri="{FF2B5EF4-FFF2-40B4-BE49-F238E27FC236}">
                <a16:creationId xmlns:a16="http://schemas.microsoft.com/office/drawing/2014/main" id="{0DB29D63-4118-4956-AC61-F5FA1A3F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289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可觀察事件</a:t>
            </a:r>
          </a:p>
        </p:txBody>
      </p:sp>
      <p:sp>
        <p:nvSpPr>
          <p:cNvPr id="11" name="ledger-head-bg-2">
            <a:extLst xmlns:a="http://schemas.openxmlformats.org/drawingml/2006/main">
              <a:ext uri="{FF2B5EF4-FFF2-40B4-BE49-F238E27FC236}">
                <a16:creationId xmlns:a16="http://schemas.microsoft.com/office/drawing/2014/main" id="{6700B77D-46EC-4819-B9A1-37917527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051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edger-head-2">
            <a:extLst xmlns:a="http://schemas.openxmlformats.org/drawingml/2006/main">
              <a:ext uri="{FF2B5EF4-FFF2-40B4-BE49-F238E27FC236}">
                <a16:creationId xmlns:a16="http://schemas.microsoft.com/office/drawing/2014/main" id="{8732FF37-1A08-4609-9871-057FD18A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289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證據強度</a:t>
            </a:r>
          </a:p>
        </p:txBody>
      </p:sp>
      <p:sp>
        <p:nvSpPr>
          <p:cNvPr id="13" name="ledger-head-bg-3">
            <a:extLst xmlns:a="http://schemas.openxmlformats.org/drawingml/2006/main">
              <a:ext uri="{FF2B5EF4-FFF2-40B4-BE49-F238E27FC236}">
                <a16:creationId xmlns:a16="http://schemas.microsoft.com/office/drawing/2014/main" id="{FD73C709-0D85-4B99-B204-CACB2F34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0510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edger-head-3">
            <a:extLst xmlns:a="http://schemas.openxmlformats.org/drawingml/2006/main">
              <a:ext uri="{FF2B5EF4-FFF2-40B4-BE49-F238E27FC236}">
                <a16:creationId xmlns:a16="http://schemas.microsoft.com/office/drawing/2014/main" id="{580AC6EA-3ECE-4BA9-BC87-A7CB763D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28925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安全措辭／限制</a:t>
            </a:r>
          </a:p>
        </p:txBody>
      </p:sp>
      <p:sp>
        <p:nvSpPr>
          <p:cNvPr id="15" name="ledger-0-0-bg">
            <a:extLst xmlns:a="http://schemas.openxmlformats.org/drawingml/2006/main">
              <a:ext uri="{FF2B5EF4-FFF2-40B4-BE49-F238E27FC236}">
                <a16:creationId xmlns:a16="http://schemas.microsoft.com/office/drawing/2014/main" id="{CF613D05-AF05-4B7B-A810-E66D9BE7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623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ledger-0-0">
            <a:extLst xmlns:a="http://schemas.openxmlformats.org/drawingml/2006/main">
              <a:ext uri="{FF2B5EF4-FFF2-40B4-BE49-F238E27FC236}">
                <a16:creationId xmlns:a16="http://schemas.microsoft.com/office/drawing/2014/main" id="{09BB366B-EFF4-47AD-BD45-836A5478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147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2026/04/24</a:t>
            </a:r>
          </a:p>
        </p:txBody>
      </p:sp>
      <p:sp>
        <p:nvSpPr>
          <p:cNvPr id="17" name="ledger-0-1-bg">
            <a:extLst xmlns:a="http://schemas.openxmlformats.org/drawingml/2006/main">
              <a:ext uri="{FF2B5EF4-FFF2-40B4-BE49-F238E27FC236}">
                <a16:creationId xmlns:a16="http://schemas.microsoft.com/office/drawing/2014/main" id="{CF6F5378-C148-43A4-A674-4BEEB486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623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ledger-0-1">
            <a:extLst xmlns:a="http://schemas.openxmlformats.org/drawingml/2006/main">
              <a:ext uri="{FF2B5EF4-FFF2-40B4-BE49-F238E27FC236}">
                <a16:creationId xmlns:a16="http://schemas.microsoft.com/office/drawing/2014/main" id="{D2CD7D5C-F59C-47AE-9A07-8D5DB9E0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src／public 建立</a:t>
            </a:r>
          </a:p>
        </p:txBody>
      </p:sp>
      <p:sp>
        <p:nvSpPr>
          <p:cNvPr id="19" name="ledger-0-2-bg">
            <a:extLst xmlns:a="http://schemas.openxmlformats.org/drawingml/2006/main">
              <a:ext uri="{FF2B5EF4-FFF2-40B4-BE49-F238E27FC236}">
                <a16:creationId xmlns:a16="http://schemas.microsoft.com/office/drawing/2014/main" id="{684B3604-7C63-46E5-89CA-03618363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623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ledger-0-2">
            <a:extLst xmlns:a="http://schemas.openxmlformats.org/drawingml/2006/main">
              <a:ext uri="{FF2B5EF4-FFF2-40B4-BE49-F238E27FC236}">
                <a16:creationId xmlns:a16="http://schemas.microsoft.com/office/drawing/2014/main" id="{39B5BD31-69B4-4599-B1C5-7EFE32C8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147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直接證據</a:t>
            </a:r>
          </a:p>
        </p:txBody>
      </p:sp>
      <p:sp>
        <p:nvSpPr>
          <p:cNvPr id="21" name="ledger-0-3-bg">
            <a:extLst xmlns:a="http://schemas.openxmlformats.org/drawingml/2006/main">
              <a:ext uri="{FF2B5EF4-FFF2-40B4-BE49-F238E27FC236}">
                <a16:creationId xmlns:a16="http://schemas.microsoft.com/office/drawing/2014/main" id="{72ACA721-68F6-4424-8A0B-17882A26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623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ledger-0-3">
            <a:extLst xmlns:a="http://schemas.openxmlformats.org/drawingml/2006/main">
              <a:ext uri="{FF2B5EF4-FFF2-40B4-BE49-F238E27FC236}">
                <a16:creationId xmlns:a16="http://schemas.microsoft.com/office/drawing/2014/main" id="{A109DB4C-81CE-4063-B673-A31AA947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作為啟動時間點，不等於 Git commit</a:t>
            </a:r>
          </a:p>
        </p:txBody>
      </p:sp>
      <p:sp>
        <p:nvSpPr>
          <p:cNvPr id="23" name="ledger-1-0-bg">
            <a:extLst xmlns:a="http://schemas.openxmlformats.org/drawingml/2006/main">
              <a:ext uri="{FF2B5EF4-FFF2-40B4-BE49-F238E27FC236}">
                <a16:creationId xmlns:a16="http://schemas.microsoft.com/office/drawing/2014/main" id="{AF97906A-6154-4EDE-BB96-B1882AFF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100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4" name="ledger-1-0">
            <a:extLst xmlns:a="http://schemas.openxmlformats.org/drawingml/2006/main">
              <a:ext uri="{FF2B5EF4-FFF2-40B4-BE49-F238E27FC236}">
                <a16:creationId xmlns:a16="http://schemas.microsoft.com/office/drawing/2014/main" id="{10846020-F5E9-4F72-8211-59A683E7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624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2026/04/25</a:t>
            </a:r>
          </a:p>
        </p:txBody>
      </p:sp>
      <p:sp>
        <p:nvSpPr>
          <p:cNvPr id="25" name="ledger-1-1-bg">
            <a:extLst xmlns:a="http://schemas.openxmlformats.org/drawingml/2006/main">
              <a:ext uri="{FF2B5EF4-FFF2-40B4-BE49-F238E27FC236}">
                <a16:creationId xmlns:a16="http://schemas.microsoft.com/office/drawing/2014/main" id="{DA989B0E-7298-4356-A4B0-C184CB04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100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ledger-1-1">
            <a:extLst xmlns:a="http://schemas.openxmlformats.org/drawingml/2006/main">
              <a:ext uri="{FF2B5EF4-FFF2-40B4-BE49-F238E27FC236}">
                <a16:creationId xmlns:a16="http://schemas.microsoft.com/office/drawing/2014/main" id="{5C8B0010-D81E-47F1-9F47-70E9732B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624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 題／15 題正確</a:t>
            </a:r>
          </a:p>
        </p:txBody>
      </p:sp>
      <p:sp>
        <p:nvSpPr>
          <p:cNvPr id="27" name="ledger-1-2-bg">
            <a:extLst xmlns:a="http://schemas.openxmlformats.org/drawingml/2006/main">
              <a:ext uri="{FF2B5EF4-FFF2-40B4-BE49-F238E27FC236}">
                <a16:creationId xmlns:a16="http://schemas.microsoft.com/office/drawing/2014/main" id="{4A16BB87-1FA6-4E0C-BA43-61C333D5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100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8" name="ledger-1-2">
            <a:extLst xmlns:a="http://schemas.openxmlformats.org/drawingml/2006/main">
              <a:ext uri="{FF2B5EF4-FFF2-40B4-BE49-F238E27FC236}">
                <a16:creationId xmlns:a16="http://schemas.microsoft.com/office/drawing/2014/main" id="{F1A860FF-1A21-40E6-BC24-3DC8CE01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624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直接證據</a:t>
            </a:r>
          </a:p>
        </p:txBody>
      </p:sp>
      <p:sp>
        <p:nvSpPr>
          <p:cNvPr id="29" name="ledger-1-3-bg">
            <a:extLst xmlns:a="http://schemas.openxmlformats.org/drawingml/2006/main">
              <a:ext uri="{FF2B5EF4-FFF2-40B4-BE49-F238E27FC236}">
                <a16:creationId xmlns:a16="http://schemas.microsoft.com/office/drawing/2014/main" id="{43FFD139-B1D2-41B6-B258-FE583E48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100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0" name="ledger-1-3">
            <a:extLst xmlns:a="http://schemas.openxmlformats.org/drawingml/2006/main">
              <a:ext uri="{FF2B5EF4-FFF2-40B4-BE49-F238E27FC236}">
                <a16:creationId xmlns:a16="http://schemas.microsoft.com/office/drawing/2014/main" id="{9414B598-8452-4252-B12B-1CFCF001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原帳號已無法回連，不稱第一位同學</a:t>
            </a:r>
          </a:p>
        </p:txBody>
      </p:sp>
      <p:sp>
        <p:nvSpPr>
          <p:cNvPr id="31" name="ledger-2-0-bg">
            <a:extLst xmlns:a="http://schemas.openxmlformats.org/drawingml/2006/main">
              <a:ext uri="{FF2B5EF4-FFF2-40B4-BE49-F238E27FC236}">
                <a16:creationId xmlns:a16="http://schemas.microsoft.com/office/drawing/2014/main" id="{7B5D0A6E-9CAB-4605-A788-2302D00C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577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2" name="ledger-2-0">
            <a:extLst xmlns:a="http://schemas.openxmlformats.org/drawingml/2006/main">
              <a:ext uri="{FF2B5EF4-FFF2-40B4-BE49-F238E27FC236}">
                <a16:creationId xmlns:a16="http://schemas.microsoft.com/office/drawing/2014/main" id="{071651E0-CE68-41B9-840F-4044309C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2026/04/29</a:t>
            </a:r>
          </a:p>
        </p:txBody>
      </p:sp>
      <p:sp>
        <p:nvSpPr>
          <p:cNvPr id="33" name="ledger-2-1-bg">
            <a:extLst xmlns:a="http://schemas.openxmlformats.org/drawingml/2006/main">
              <a:ext uri="{FF2B5EF4-FFF2-40B4-BE49-F238E27FC236}">
                <a16:creationId xmlns:a16="http://schemas.microsoft.com/office/drawing/2014/main" id="{86C7351E-8EF9-4971-878A-6AEEA3A5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577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4" name="ledger-2-1">
            <a:extLst xmlns:a="http://schemas.openxmlformats.org/drawingml/2006/main">
              <a:ext uri="{FF2B5EF4-FFF2-40B4-BE49-F238E27FC236}">
                <a16:creationId xmlns:a16="http://schemas.microsoft.com/office/drawing/2014/main" id="{C1CC6C97-E6FA-4843-9181-DB0D92CF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01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pipeline 建立</a:t>
            </a:r>
          </a:p>
        </p:txBody>
      </p:sp>
      <p:sp>
        <p:nvSpPr>
          <p:cNvPr id="35" name="ledger-2-2-bg">
            <a:extLst xmlns:a="http://schemas.openxmlformats.org/drawingml/2006/main">
              <a:ext uri="{FF2B5EF4-FFF2-40B4-BE49-F238E27FC236}">
                <a16:creationId xmlns:a16="http://schemas.microsoft.com/office/drawing/2014/main" id="{01481BBE-4E34-4E4D-8BB2-6D31A1C0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577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6" name="ledger-2-2">
            <a:extLst xmlns:a="http://schemas.openxmlformats.org/drawingml/2006/main">
              <a:ext uri="{FF2B5EF4-FFF2-40B4-BE49-F238E27FC236}">
                <a16:creationId xmlns:a16="http://schemas.microsoft.com/office/drawing/2014/main" id="{7D70A8E1-C4FA-46DD-BA35-0BB4BABF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01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直接證據</a:t>
            </a:r>
          </a:p>
        </p:txBody>
      </p:sp>
      <p:sp>
        <p:nvSpPr>
          <p:cNvPr id="37" name="ledger-2-3-bg">
            <a:extLst xmlns:a="http://schemas.openxmlformats.org/drawingml/2006/main">
              <a:ext uri="{FF2B5EF4-FFF2-40B4-BE49-F238E27FC236}">
                <a16:creationId xmlns:a16="http://schemas.microsoft.com/office/drawing/2014/main" id="{1E055907-67FA-47A7-9A64-B194309F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577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8" name="ledger-2-3">
            <a:extLst xmlns:a="http://schemas.openxmlformats.org/drawingml/2006/main">
              <a:ext uri="{FF2B5EF4-FFF2-40B4-BE49-F238E27FC236}">
                <a16:creationId xmlns:a16="http://schemas.microsoft.com/office/drawing/2014/main" id="{5C75BB0A-FF36-47C2-BE9F-B1ADF909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目前工作區檔案時間</a:t>
            </a:r>
          </a:p>
        </p:txBody>
      </p:sp>
      <p:sp>
        <p:nvSpPr>
          <p:cNvPr id="39" name="ledger-3-0-bg">
            <a:extLst xmlns:a="http://schemas.openxmlformats.org/drawingml/2006/main">
              <a:ext uri="{FF2B5EF4-FFF2-40B4-BE49-F238E27FC236}">
                <a16:creationId xmlns:a16="http://schemas.microsoft.com/office/drawing/2014/main" id="{56961A08-7B01-495C-B449-965AA75B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054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0" name="ledger-3-0">
            <a:extLst xmlns:a="http://schemas.openxmlformats.org/drawingml/2006/main">
              <a:ext uri="{FF2B5EF4-FFF2-40B4-BE49-F238E27FC236}">
                <a16:creationId xmlns:a16="http://schemas.microsoft.com/office/drawing/2014/main" id="{09D68F15-E8C3-4B88-85AE-33A020BF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2026/05/25</a:t>
            </a:r>
          </a:p>
        </p:txBody>
      </p:sp>
      <p:sp>
        <p:nvSpPr>
          <p:cNvPr id="41" name="ledger-3-1-bg">
            <a:extLst xmlns:a="http://schemas.openxmlformats.org/drawingml/2006/main">
              <a:ext uri="{FF2B5EF4-FFF2-40B4-BE49-F238E27FC236}">
                <a16:creationId xmlns:a16="http://schemas.microsoft.com/office/drawing/2014/main" id="{8BDE1FF4-BA8F-44D2-BAA9-4BE80F73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2" name="ledger-3-1">
            <a:extLst xmlns:a="http://schemas.openxmlformats.org/drawingml/2006/main">
              <a:ext uri="{FF2B5EF4-FFF2-40B4-BE49-F238E27FC236}">
                <a16:creationId xmlns:a16="http://schemas.microsoft.com/office/drawing/2014/main" id="{C6BE9180-B835-4F18-8840-45C9D8D7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578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非本機來源請求</a:t>
            </a:r>
          </a:p>
        </p:txBody>
      </p:sp>
      <p:sp>
        <p:nvSpPr>
          <p:cNvPr id="43" name="ledger-3-2-bg">
            <a:extLst xmlns:a="http://schemas.openxmlformats.org/drawingml/2006/main">
              <a:ext uri="{FF2B5EF4-FFF2-40B4-BE49-F238E27FC236}">
                <a16:creationId xmlns:a16="http://schemas.microsoft.com/office/drawing/2014/main" id="{16D34E04-66C7-4150-95E7-4E3C1BC7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054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4" name="ledger-3-2">
            <a:extLst xmlns:a="http://schemas.openxmlformats.org/drawingml/2006/main">
              <a:ext uri="{FF2B5EF4-FFF2-40B4-BE49-F238E27FC236}">
                <a16:creationId xmlns:a16="http://schemas.microsoft.com/office/drawing/2014/main" id="{326F5BCB-FF85-449D-8B50-651B28A9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強合理推定</a:t>
            </a:r>
          </a:p>
        </p:txBody>
      </p:sp>
      <p:sp>
        <p:nvSpPr>
          <p:cNvPr id="45" name="ledger-3-3-bg">
            <a:extLst xmlns:a="http://schemas.openxmlformats.org/drawingml/2006/main">
              <a:ext uri="{FF2B5EF4-FFF2-40B4-BE49-F238E27FC236}">
                <a16:creationId xmlns:a16="http://schemas.microsoft.com/office/drawing/2014/main" id="{E1936DF1-854A-4944-AFE7-B9283697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054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6" name="ledger-3-3">
            <a:extLst xmlns:a="http://schemas.openxmlformats.org/drawingml/2006/main">
              <a:ext uri="{FF2B5EF4-FFF2-40B4-BE49-F238E27FC236}">
                <a16:creationId xmlns:a16="http://schemas.microsoft.com/office/drawing/2014/main" id="{BE7C4ED2-D3AF-4180-A65E-16C5C74A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578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支持當時具公網連入能力</a:t>
            </a:r>
          </a:p>
        </p:txBody>
      </p:sp>
      <p:sp>
        <p:nvSpPr>
          <p:cNvPr id="47" name="ledger-4-0-bg">
            <a:extLst xmlns:a="http://schemas.openxmlformats.org/drawingml/2006/main">
              <a:ext uri="{FF2B5EF4-FFF2-40B4-BE49-F238E27FC236}">
                <a16:creationId xmlns:a16="http://schemas.microsoft.com/office/drawing/2014/main" id="{9EFF0F12-E868-4666-8C95-0ED4D695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531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8" name="ledger-4-0">
            <a:extLst xmlns:a="http://schemas.openxmlformats.org/drawingml/2006/main">
              <a:ext uri="{FF2B5EF4-FFF2-40B4-BE49-F238E27FC236}">
                <a16:creationId xmlns:a16="http://schemas.microsoft.com/office/drawing/2014/main" id="{C8F183A6-5099-454C-BE48-FE0039E6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2026/05/28</a:t>
            </a:r>
          </a:p>
        </p:txBody>
      </p:sp>
      <p:sp>
        <p:nvSpPr>
          <p:cNvPr id="49" name="ledger-4-1-bg">
            <a:extLst xmlns:a="http://schemas.openxmlformats.org/drawingml/2006/main">
              <a:ext uri="{FF2B5EF4-FFF2-40B4-BE49-F238E27FC236}">
                <a16:creationId xmlns:a16="http://schemas.microsoft.com/office/drawing/2014/main" id="{AB54971F-3D73-48A8-B1A3-9B2E244B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531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0" name="ledger-4-1">
            <a:extLst xmlns:a="http://schemas.openxmlformats.org/drawingml/2006/main">
              <a:ext uri="{FF2B5EF4-FFF2-40B4-BE49-F238E27FC236}">
                <a16:creationId xmlns:a16="http://schemas.microsoft.com/office/drawing/2014/main" id="{507F642B-68FE-41CE-B15C-C0D4969E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055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一單元重掃成功</a:t>
            </a:r>
          </a:p>
        </p:txBody>
      </p:sp>
      <p:sp>
        <p:nvSpPr>
          <p:cNvPr id="51" name="ledger-4-2-bg">
            <a:extLst xmlns:a="http://schemas.openxmlformats.org/drawingml/2006/main">
              <a:ext uri="{FF2B5EF4-FFF2-40B4-BE49-F238E27FC236}">
                <a16:creationId xmlns:a16="http://schemas.microsoft.com/office/drawing/2014/main" id="{CAE5276A-AE8C-4CE6-AFB5-0524718A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7531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2" name="ledger-4-2">
            <a:extLst xmlns:a="http://schemas.openxmlformats.org/drawingml/2006/main">
              <a:ext uri="{FF2B5EF4-FFF2-40B4-BE49-F238E27FC236}">
                <a16:creationId xmlns:a16="http://schemas.microsoft.com/office/drawing/2014/main" id="{59C7A53F-50A3-4B22-81C1-361D4E77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9055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直接證據</a:t>
            </a:r>
          </a:p>
        </p:txBody>
      </p:sp>
      <p:sp>
        <p:nvSpPr>
          <p:cNvPr id="53" name="ledger-4-3-bg">
            <a:extLst xmlns:a="http://schemas.openxmlformats.org/drawingml/2006/main">
              <a:ext uri="{FF2B5EF4-FFF2-40B4-BE49-F238E27FC236}">
                <a16:creationId xmlns:a16="http://schemas.microsoft.com/office/drawing/2014/main" id="{3E0294D3-A054-47C8-B3CA-2461EEE2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531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4" name="ledger-4-3">
            <a:extLst xmlns:a="http://schemas.openxmlformats.org/drawingml/2006/main">
              <a:ext uri="{FF2B5EF4-FFF2-40B4-BE49-F238E27FC236}">
                <a16:creationId xmlns:a16="http://schemas.microsoft.com/office/drawing/2014/main" id="{33A0D15D-D11A-4CDB-A737-73C8755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055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仍待人工確認，不稱完成全庫重掃</a:t>
            </a:r>
          </a:p>
        </p:txBody>
      </p:sp>
    </p:spTree>
    <p:extLst>
      <p:ext uri="{BB962C8B-B14F-4D97-AF65-F5344CB8AC3E}">
        <p14:creationId xmlns:p14="http://schemas.microsoft.com/office/powerpoint/2010/main" val="10098056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op-rule-14">
            <a:extLst xmlns:a="http://schemas.openxmlformats.org/drawingml/2006/main">
              <a:ext uri="{FF2B5EF4-FFF2-40B4-BE49-F238E27FC236}">
                <a16:creationId xmlns:a16="http://schemas.microsoft.com/office/drawing/2014/main" id="{79C3E023-4430-4F07-BF0F-2E9B25BA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4">
            <a:extLst xmlns:a="http://schemas.openxmlformats.org/drawingml/2006/main">
              <a:ext uri="{FF2B5EF4-FFF2-40B4-BE49-F238E27FC236}">
                <a16:creationId xmlns:a16="http://schemas.microsoft.com/office/drawing/2014/main" id="{FE1D07C2-54AC-4435-93DD-5BB02092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D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1729BCCA-213E-4331-9BFA-540051A1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協作透明揭露：主導權放在決策與驗收</a:t>
            </a:r>
          </a:p>
        </p:txBody>
      </p:sp>
      <p:sp>
        <p:nvSpPr>
          <p:cNvPr id="4" name="subtitle-14">
            <a:extLst xmlns:a="http://schemas.openxmlformats.org/drawingml/2006/main">
              <a:ext uri="{FF2B5EF4-FFF2-40B4-BE49-F238E27FC236}">
                <a16:creationId xmlns:a16="http://schemas.microsoft.com/office/drawing/2014/main" id="{9433CA4A-935E-49FB-91F3-D3DF719A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Coding Agent 執行大量程式實作；我的責任是讓系統方向、規則與品質可被解釋。</a:t>
            </a:r>
          </a:p>
        </p:txBody>
      </p:sp>
      <p:sp>
        <p:nvSpPr>
          <p:cNvPr id="5" name="footer-brand-14">
            <a:extLst xmlns:a="http://schemas.openxmlformats.org/drawingml/2006/main">
              <a:ext uri="{FF2B5EF4-FFF2-40B4-BE49-F238E27FC236}">
                <a16:creationId xmlns:a16="http://schemas.microsoft.com/office/drawing/2014/main" id="{32533B8B-7228-4205-A4EC-06ACE57B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D3EEDCB8-24F0-4024-B717-831B35EA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7" name="human-panel">
            <a:extLst xmlns:a="http://schemas.openxmlformats.org/drawingml/2006/main">
              <a:ext uri="{FF2B5EF4-FFF2-40B4-BE49-F238E27FC236}">
                <a16:creationId xmlns:a16="http://schemas.microsoft.com/office/drawing/2014/main" id="{1D815D72-7B0B-45D2-9133-054ED3B5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00350"/>
            <a:ext cx="476250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uman-kicker">
            <a:extLst xmlns:a="http://schemas.openxmlformats.org/drawingml/2006/main">
              <a:ext uri="{FF2B5EF4-FFF2-40B4-BE49-F238E27FC236}">
                <a16:creationId xmlns:a16="http://schemas.microsoft.com/office/drawing/2014/main" id="{96DD505C-087D-41F9-B25C-E98D7B88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43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我負責</a:t>
            </a:r>
          </a:p>
        </p:txBody>
      </p:sp>
      <p:sp>
        <p:nvSpPr>
          <p:cNvPr id="9" name="human-title">
            <a:extLst xmlns:a="http://schemas.openxmlformats.org/drawingml/2006/main">
              <a:ext uri="{FF2B5EF4-FFF2-40B4-BE49-F238E27FC236}">
                <a16:creationId xmlns:a16="http://schemas.microsoft.com/office/drawing/2014/main" id="{339F61EE-E0B3-4E73-B77E-3EF6001A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576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問題定義與工程判斷</a:t>
            </a:r>
          </a:p>
        </p:txBody>
      </p:sp>
      <p:sp>
        <p:nvSpPr>
          <p:cNvPr id="10" name="human-items">
            <a:extLst xmlns:a="http://schemas.openxmlformats.org/drawingml/2006/main">
              <a:ext uri="{FF2B5EF4-FFF2-40B4-BE49-F238E27FC236}">
                <a16:creationId xmlns:a16="http://schemas.microsoft.com/office/drawing/2014/main" id="{E26D9BBA-EFAB-4880-981D-B07C2613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00550"/>
            <a:ext cx="3714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找出學習痛點與使用情境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拆解需求、決定優先順序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設定資料規則與失敗策略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測試、驗收並要求修正</a:t>
            </a:r>
          </a:p>
        </p:txBody>
      </p:sp>
      <p:sp>
        <p:nvSpPr>
          <p:cNvPr id="11" name="agent-panel">
            <a:extLst xmlns:a="http://schemas.openxmlformats.org/drawingml/2006/main">
              <a:ext uri="{FF2B5EF4-FFF2-40B4-BE49-F238E27FC236}">
                <a16:creationId xmlns:a16="http://schemas.microsoft.com/office/drawing/2014/main" id="{B5FCEAFF-5EEA-4FE2-AD3E-0D0B3947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00350"/>
            <a:ext cx="523875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agent-kicker">
            <a:extLst xmlns:a="http://schemas.openxmlformats.org/drawingml/2006/main">
              <a:ext uri="{FF2B5EF4-FFF2-40B4-BE49-F238E27FC236}">
                <a16:creationId xmlns:a16="http://schemas.microsoft.com/office/drawing/2014/main" id="{DCFCF5CC-DB81-4912-BDCE-E8FC7F3D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43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Coding Agent 負責</a:t>
            </a:r>
          </a:p>
        </p:txBody>
      </p:sp>
      <p:sp>
        <p:nvSpPr>
          <p:cNvPr id="13" name="agent-title">
            <a:extLst xmlns:a="http://schemas.openxmlformats.org/drawingml/2006/main">
              <a:ext uri="{FF2B5EF4-FFF2-40B4-BE49-F238E27FC236}">
                <a16:creationId xmlns:a16="http://schemas.microsoft.com/office/drawing/2014/main" id="{9408523B-E832-4168-86EC-7695452F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576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大量程式實作與修正執行</a:t>
            </a:r>
          </a:p>
        </p:txBody>
      </p:sp>
      <p:sp>
        <p:nvSpPr>
          <p:cNvPr id="14" name="agent-items">
            <a:extLst xmlns:a="http://schemas.openxmlformats.org/drawingml/2006/main">
              <a:ext uri="{FF2B5EF4-FFF2-40B4-BE49-F238E27FC236}">
                <a16:creationId xmlns:a16="http://schemas.microsoft.com/office/drawing/2014/main" id="{3D7D0B83-F629-4A3A-9303-24F4BAAA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00550"/>
            <a:ext cx="4286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依規格產生與調整程式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協助除錯、重構與補測試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執行重複性高的修改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由我檢查結果是否符合目的</a:t>
            </a:r>
          </a:p>
        </p:txBody>
      </p:sp>
      <p:sp>
        <p:nvSpPr>
          <p:cNvPr id="15" name="ai-disclosure-close">
            <a:extLst xmlns:a="http://schemas.openxmlformats.org/drawingml/2006/main">
              <a:ext uri="{FF2B5EF4-FFF2-40B4-BE49-F238E27FC236}">
                <a16:creationId xmlns:a16="http://schemas.microsoft.com/office/drawing/2014/main" id="{7DE70631-5447-48AF-B076-E3B3350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534150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我不把 AI 產出的程式冒充為全數手寫；我呈現的是如何運用工具完成可驗證的工程成果。</a:t>
            </a:r>
          </a:p>
        </p:txBody>
      </p:sp>
    </p:spTree>
    <p:extLst>
      <p:ext uri="{BB962C8B-B14F-4D97-AF65-F5344CB8AC3E}">
        <p14:creationId xmlns:p14="http://schemas.microsoft.com/office/powerpoint/2010/main" val="20949870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op-rule-15">
            <a:extLst xmlns:a="http://schemas.openxmlformats.org/drawingml/2006/main">
              <a:ext uri="{FF2B5EF4-FFF2-40B4-BE49-F238E27FC236}">
                <a16:creationId xmlns:a16="http://schemas.microsoft.com/office/drawing/2014/main" id="{DF241B44-01B2-4677-9EE4-E653AB8D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5">
            <a:extLst xmlns:a="http://schemas.openxmlformats.org/drawingml/2006/main">
              <a:ext uri="{FF2B5EF4-FFF2-40B4-BE49-F238E27FC236}">
                <a16:creationId xmlns:a16="http://schemas.microsoft.com/office/drawing/2014/main" id="{D336F022-7655-4510-96F1-A629EABC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E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622D89CD-E726-4E7B-BF1B-321D9522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公開可驗證，但展示資料仍必須保護隱私</a:t>
            </a:r>
          </a:p>
        </p:txBody>
      </p:sp>
      <p:sp>
        <p:nvSpPr>
          <p:cNvPr id="4" name="subtitle-15">
            <a:extLst xmlns:a="http://schemas.openxmlformats.org/drawingml/2006/main">
              <a:ext uri="{FF2B5EF4-FFF2-40B4-BE49-F238E27FC236}">
                <a16:creationId xmlns:a16="http://schemas.microsoft.com/office/drawing/2014/main" id="{DEF637B9-9CF1-4DB1-A3D8-C599500B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網址能證明服務可連線；截圖採去識別化副本，避免把同學資料當成作品素材。</a:t>
            </a:r>
          </a:p>
        </p:txBody>
      </p:sp>
      <p:sp>
        <p:nvSpPr>
          <p:cNvPr id="5" name="footer-brand-15">
            <a:extLst xmlns:a="http://schemas.openxmlformats.org/drawingml/2006/main">
              <a:ext uri="{FF2B5EF4-FFF2-40B4-BE49-F238E27FC236}">
                <a16:creationId xmlns:a16="http://schemas.microsoft.com/office/drawing/2014/main" id="{B5048ECA-98CD-4DFD-BFF2-489E7F20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B8314461-5ECE-4406-A131-F7B36A87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4546cfa084fbb"/>
          <a:srcRect xmlns:a="http://schemas.openxmlformats.org/drawingml/2006/main" l="19" t="0" r="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7800" y="2743200"/>
            <a:ext cx="5619750" cy="3162300"/>
          </a:xfrm>
          <a:prstGeom xmlns:a="http://schemas.openxmlformats.org/drawingml/2006/main" prst="roundRect">
            <a:avLst>
              <a:gd name="adj" fmla="val 4819"/>
            </a:avLst>
          </a:prstGeom>
        </p:spPr>
      </p:pic>
      <p:sp>
        <p:nvSpPr>
          <p:cNvPr id="8" name="public-status">
            <a:extLst xmlns:a="http://schemas.openxmlformats.org/drawingml/2006/main">
              <a:ext uri="{FF2B5EF4-FFF2-40B4-BE49-F238E27FC236}">
                <a16:creationId xmlns:a16="http://schemas.microsoft.com/office/drawing/2014/main" id="{BDA55592-D597-4018-B352-8F130D75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384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公開 HTTPS 入口</a:t>
            </a:r>
          </a:p>
        </p:txBody>
      </p:sp>
      <p:sp>
        <p:nvSpPr>
          <p:cNvPr id="9" name="public-link">
            <a:extLst xmlns:a="http://schemas.openxmlformats.org/drawingml/2006/main">
              <a:ext uri="{FF2B5EF4-FFF2-40B4-BE49-F238E27FC236}">
                <a16:creationId xmlns:a16="http://schemas.microsoft.com/office/drawing/2014/main" id="{7D886A5D-DDAE-42F1-8E83-7EFD3979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956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df90be2bfd4c4e77"/>
              </a:rPr>
              <a:t>words.ytconch.duckdns.org</a:t>
            </a:r>
          </a:p>
        </p:txBody>
      </p:sp>
      <p:sp>
        <p:nvSpPr>
          <p:cNvPr id="10" name="privacy-title">
            <a:extLst xmlns:a="http://schemas.openxmlformats.org/drawingml/2006/main">
              <a:ext uri="{FF2B5EF4-FFF2-40B4-BE49-F238E27FC236}">
                <a16:creationId xmlns:a16="http://schemas.microsoft.com/office/drawing/2014/main" id="{3957945E-B4BD-4605-B0C6-B906C918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95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截圖保護措施</a:t>
            </a:r>
          </a:p>
        </p:txBody>
      </p:sp>
      <p:sp>
        <p:nvSpPr>
          <p:cNvPr id="11" name="privacy-items">
            <a:extLst xmlns:a="http://schemas.openxmlformats.org/drawingml/2006/main">
              <a:ext uri="{FF2B5EF4-FFF2-40B4-BE49-F238E27FC236}">
                <a16:creationId xmlns:a16="http://schemas.microsoft.com/office/drawing/2014/main" id="{169BFABD-8E56-40F5-9719-64EE076B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4191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使用暫存資料庫副本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帳號與顯示名稱全部替換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IP、復原申請與日誌內容去識別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不修改正式資料與公開服務</a:t>
            </a:r>
          </a:p>
        </p:txBody>
      </p:sp>
      <p:sp>
        <p:nvSpPr>
          <p:cNvPr id="12" name="data-defs">
            <a:extLst xmlns:a="http://schemas.openxmlformats.org/drawingml/2006/main">
              <a:ext uri="{FF2B5EF4-FFF2-40B4-BE49-F238E27FC236}">
                <a16:creationId xmlns:a16="http://schemas.microsoft.com/office/drawing/2014/main" id="{8E697721-F64C-4E09-AF5E-E1294E9B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81750"/>
            <a:ext cx="1002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數據定義：38＝去重造訪者；13＝至少一筆 study_log 的使用者；10,011＝作答事件。</a:t>
            </a:r>
          </a:p>
        </p:txBody>
      </p:sp>
    </p:spTree>
    <p:extLst>
      <p:ext uri="{BB962C8B-B14F-4D97-AF65-F5344CB8AC3E}">
        <p14:creationId xmlns:p14="http://schemas.microsoft.com/office/powerpoint/2010/main" val="1315977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2026-08-15T09:58:27.2890000Z</dcterms:created>
  <dcterms:modified xsi:type="dcterms:W3CDTF">2026-08-15T09:58:27.2890000Z</dcterms:modified>
</coreProperties>
</file>