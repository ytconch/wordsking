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33a07fa0e7c4f2d" Type="http://schemas.openxmlformats.org/package/2006/relationships/metadata/core-properties" Target="docProps/core.xml"/><Relationship Id="R84c7af66074f4873" Type="http://schemas.openxmlformats.org/officeDocument/2006/relationships/extended-properties" Target="docProps/app.xml"/><Relationship Id="R8ee94ef851d64ae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226788790841ed"/>
  </p:sldMasterIdLst>
  <p:notesMasterIdLst>
    <p:notesMasterId xmlns:r="http://schemas.openxmlformats.org/officeDocument/2006/relationships" r:id="R616cd58981434f12"/>
  </p:notesMasterIdLst>
  <p:sldIdLst>
    <p:sldId xmlns:r="http://schemas.openxmlformats.org/officeDocument/2006/relationships" id="256" r:id="Rb8fe5f7f6cc54c77"/>
    <p:sldId xmlns:r="http://schemas.openxmlformats.org/officeDocument/2006/relationships" id="257" r:id="R1ed20afc96e246ed"/>
    <p:sldId xmlns:r="http://schemas.openxmlformats.org/officeDocument/2006/relationships" id="258" r:id="R891fc7fd79ea47e3"/>
    <p:sldId xmlns:r="http://schemas.openxmlformats.org/officeDocument/2006/relationships" id="259" r:id="Rc84edac1af274368"/>
    <p:sldId xmlns:r="http://schemas.openxmlformats.org/officeDocument/2006/relationships" id="260" r:id="R41e0e475c70246e2"/>
    <p:sldId xmlns:r="http://schemas.openxmlformats.org/officeDocument/2006/relationships" id="261" r:id="R45b299a1b0754204"/>
    <p:sldId xmlns:r="http://schemas.openxmlformats.org/officeDocument/2006/relationships" id="262" r:id="R794c64e955294daf"/>
    <p:sldId xmlns:r="http://schemas.openxmlformats.org/officeDocument/2006/relationships" id="263" r:id="Rd114881f4e3a4208"/>
    <p:sldId xmlns:r="http://schemas.openxmlformats.org/officeDocument/2006/relationships" id="264" r:id="Rc54350131e1144bc"/>
    <p:sldId xmlns:r="http://schemas.openxmlformats.org/officeDocument/2006/relationships" id="265" r:id="R6401aa48f8c344e5"/>
    <p:sldId xmlns:r="http://schemas.openxmlformats.org/officeDocument/2006/relationships" id="266" r:id="R49ad343d9d524cbd"/>
    <p:sldId xmlns:r="http://schemas.openxmlformats.org/officeDocument/2006/relationships" id="267" r:id="R723b08939f6b412e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ed20afc96e246ed" Type="http://schemas.openxmlformats.org/officeDocument/2006/relationships/slide" Target="slides/slide2.xml"/><Relationship Id="R2c064733cc424922" Type="http://schemas.openxmlformats.org/officeDocument/2006/relationships/presProps" Target="presProps.xml"/><Relationship Id="R41e0e475c70246e2" Type="http://schemas.openxmlformats.org/officeDocument/2006/relationships/slide" Target="slides/slide5.xml"/><Relationship Id="R45b299a1b0754204" Type="http://schemas.openxmlformats.org/officeDocument/2006/relationships/slide" Target="slides/slide6.xml"/><Relationship Id="R49ad343d9d524cbd" Type="http://schemas.openxmlformats.org/officeDocument/2006/relationships/slide" Target="slides/slide11.xml"/><Relationship Id="R5a226788790841ed" Type="http://schemas.openxmlformats.org/officeDocument/2006/relationships/slideMaster" Target="slideMasters/slideMaster1.xml"/><Relationship Id="R616cd58981434f12" Type="http://schemas.openxmlformats.org/officeDocument/2006/relationships/notesMaster" Target="notesMasters/notesMaster1.xml"/><Relationship Id="R6401aa48f8c344e5" Type="http://schemas.openxmlformats.org/officeDocument/2006/relationships/slide" Target="slides/slide10.xml"/><Relationship Id="R6eee8a080fa742c9" Type="http://schemas.openxmlformats.org/officeDocument/2006/relationships/theme" Target="theme/theme1.xml"/><Relationship Id="R723b08939f6b412e" Type="http://schemas.openxmlformats.org/officeDocument/2006/relationships/slide" Target="slides/slide12.xml"/><Relationship Id="R794c64e955294daf" Type="http://schemas.openxmlformats.org/officeDocument/2006/relationships/slide" Target="slides/slide7.xml"/><Relationship Id="R843fbfcb8a3c43b1" Type="http://schemas.openxmlformats.org/officeDocument/2006/relationships/tableStyles" Target="tableStyles.xml"/><Relationship Id="R891fc7fd79ea47e3" Type="http://schemas.openxmlformats.org/officeDocument/2006/relationships/slide" Target="slides/slide3.xml"/><Relationship Id="Rb8fe5f7f6cc54c77" Type="http://schemas.openxmlformats.org/officeDocument/2006/relationships/slide" Target="slides/slide1.xml"/><Relationship Id="Rc54350131e1144bc" Type="http://schemas.openxmlformats.org/officeDocument/2006/relationships/slide" Target="slides/slide9.xml"/><Relationship Id="Rc84edac1af274368" Type="http://schemas.openxmlformats.org/officeDocument/2006/relationships/slide" Target="slides/slide4.xml"/><Relationship Id="Rd114881f4e3a420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b1253fd64b2746a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cc5188d28744c21" Type="http://schemas.openxmlformats.org/officeDocument/2006/relationships/notesMaster" Target="../notesMasters/notesMaster1.xml"/><Relationship Id="Rb06833125217455d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73671be9218a4716" Type="http://schemas.openxmlformats.org/officeDocument/2006/relationships/notesMaster" Target="../notesMasters/notesMaster1.xml"/><Relationship Id="Rf30495dc3dc44d36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076b073376a48d4" Type="http://schemas.openxmlformats.org/officeDocument/2006/relationships/slide" Target="../slides/slide3.xml"/><Relationship Id="Rd1aafb6d93ef491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931f5f2d8f7438d" Type="http://schemas.openxmlformats.org/officeDocument/2006/relationships/slide" Target="../slides/slide4.xml"/><Relationship Id="R4dffd582e3784357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1fdd7a8bc044e74" Type="http://schemas.openxmlformats.org/officeDocument/2006/relationships/slide" Target="../slides/slide5.xml"/><Relationship Id="R530ee77fd0754a0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c76762516674458" Type="http://schemas.openxmlformats.org/officeDocument/2006/relationships/notesMaster" Target="../notesMasters/notesMaster1.xml"/><Relationship Id="Rdec49bfaec9a46d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9a11575d3624a86" Type="http://schemas.openxmlformats.org/officeDocument/2006/relationships/notesMaster" Target="../notesMasters/notesMaster1.xml"/><Relationship Id="R7e661389a30d44a0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2abba776989b4d2c" Type="http://schemas.openxmlformats.org/officeDocument/2006/relationships/notesMaster" Target="../notesMasters/notesMaster1.xml"/><Relationship Id="R5ecf9f4a24404bf3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84fba802b9254757" Type="http://schemas.openxmlformats.org/officeDocument/2006/relationships/slide" Target="../slides/slide9.xml"/><Relationship Id="R9a51742d9dd542c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b6f117265b0045d9" Type="http://schemas.openxmlformats.org/officeDocument/2006/relationships/notesMaster" Target="../notesMasters/notesMaster1.xml"/><Relationship Id="Re65a807b07dc4ad9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809503b462ad4aa7" Type="http://schemas.openxmlformats.org/officeDocument/2006/relationships/notesMaster" Target="../notesMasters/notesMaster1.xml"/><Relationship Id="Rca00d920c5e64544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e6b8aa26af242cc" Type="http://schemas.openxmlformats.org/officeDocument/2006/relationships/slide" Target="../slides/slide12.xml"/><Relationship Id="R8dfa212b775f419f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本專案識別與申請人資料。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Merriam-Webster — https://www.merriam-webster.com/dictionary/distribute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Oxford Advanced Learner's Dictionary — https://www.oxfordlearnersdictionaries.com/definition/english/distribute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本專案開發動機。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本專案開發紀錄。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本專案原始碼：server.js、src/routes、src/db、src/middleware、src/utils、public。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本專案展示畫面。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本專案功能流程與資料結構。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 AI 匯入流程：scripts/image_word_pipeline.py、src/routes/import.js。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本專案資料庫統計，2026/08/15。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本專案發音服務與內容審查功能。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本專案學習反思。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https://words.ytconch.duckdns.org/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本專案原始碼、資料庫分工與部署架構。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公開服務：https://words.ytconch.duckdns.org/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本專案識別與展示入口。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6abf178982a451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4f1686013054ea3" Type="http://schemas.openxmlformats.org/officeDocument/2006/relationships/theme" Target="theme/theme2.xml"/><Relationship Id="Re9be68c863d3482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be68c863d3482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13343d71ff84dbd" Type="http://schemas.openxmlformats.org/officeDocument/2006/relationships/notesSlide" Target="../notesSlides/notesSlide1.xml"/><Relationship Id="R67353d878a60456c" Type="http://schemas.openxmlformats.org/officeDocument/2006/relationships/image" Target="../media/image.png"/><Relationship Id="Rba6b15f1a78d4339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cb2e44f9cc5f4288" Type="http://schemas.openxmlformats.org/officeDocument/2006/relationships/slideLayout" Target="../slideLayouts/slideLayout1.xml"/><Relationship Id="Rf70019d161064ac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183f80886864207" Type="http://schemas.openxmlformats.org/officeDocument/2006/relationships/slideLayout" Target="../slideLayouts/slideLayout1.xml"/><Relationship Id="Ree64f901597a4b5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8b1cb30f9bef4cd2" Type="http://schemas.openxmlformats.org/officeDocument/2006/relationships/notesSlide" Target="../notesSlides/notesSlide4.xml"/><Relationship Id="R8dc5ade1dff34d8f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ca0e0dd78f44fd8" Type="http://schemas.openxmlformats.org/officeDocument/2006/relationships/notesSlide" Target="../notesSlides/notesSlide5.xml"/><Relationship Id="R26a55112edf54fe9" Type="http://schemas.openxmlformats.org/officeDocument/2006/relationships/image" Target="../media/image4.png"/><Relationship Id="R548a584f64f94775" Type="http://schemas.openxmlformats.org/officeDocument/2006/relationships/image" Target="../media/image3.png"/><Relationship Id="R55c68584f6f14927" Type="http://schemas.openxmlformats.org/officeDocument/2006/relationships/slideLayout" Target="../slideLayouts/slideLayout1.xml"/><Relationship Id="Rf13237e689274ced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caa6ef72dcfc4b67" Type="http://schemas.openxmlformats.org/officeDocument/2006/relationships/slideLayout" Target="../slideLayouts/slideLayout1.xml"/><Relationship Id="Rd303a552dbc7494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91ee518530684a7f" Type="http://schemas.openxmlformats.org/officeDocument/2006/relationships/notesSlide" Target="../notesSlides/notesSlide7.xml"/><Relationship Id="Rc77a484c1aa74e16" Type="http://schemas.openxmlformats.org/officeDocument/2006/relationships/image" Target="../media/image5.png"/><Relationship Id="Rdb89e9a2a72d4c1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bcb97db8a5974c3e" Type="http://schemas.openxmlformats.org/officeDocument/2006/relationships/notesSlide" Target="../notesSlides/notesSlide8.xml"/><Relationship Id="Rdef66bbd2d5d40b6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a8f4847c3c64bf8" Type="http://schemas.openxmlformats.org/officeDocument/2006/relationships/slideLayout" Target="../slideLayouts/slideLayout1.xml"/><Relationship Id="Re0d63c2770d54fea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ad4692ea4bff4298" Type="http://schemas.openxmlformats.org/officeDocument/2006/relationships/notesSlide" Target="../notesSlides/notesSlide10.xml"/><Relationship Id="Re7cf26d52fd4458f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ca8f8d225ba24807" Type="http://schemas.openxmlformats.org/officeDocument/2006/relationships/slideLayout" Target="../slideLayouts/slideLayout1.xml"/><Relationship Id="Rfebac6e5239943db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c2d4ea0e7a6c4830" Type="http://schemas.openxmlformats.org/officeDocument/2006/relationships/image" Target="../media/image.png"/><Relationship Id="Re9fa26aec1b34eed" Type="http://schemas.openxmlformats.org/officeDocument/2006/relationships/hyperlink" Target="https://words.ytconch.duckdns.org/" TargetMode="External"/><Relationship Id="Rf3edd16c47734b00" Type="http://schemas.openxmlformats.org/officeDocument/2006/relationships/slideLayout" Target="../slideLayouts/slideLayout1.xml"/><Relationship Id="Rf5ba7e8067ef4c12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3" name="Rectangle 4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F182B30-DE8F-465F-84A1-AFEA96F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14978FD9-9454-4AEC-A6BB-EFAC41B0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" name="Google Shape;1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353d878a60456c">
            <a:alphaModFix/>
          </a:blip>
          <a:srcRect xmlns:a="http://schemas.openxmlformats.org/drawingml/2006/main" l="9676" t="10268" r="11528" b="12583"/>
          <a:stretch xmlns:a="http://schemas.openxmlformats.org/drawingml/2006/main"/>
        </p:blipFill>
        <p:spPr>
          <a:xfrm xmlns:a="http://schemas.openxmlformats.org/drawingml/2006/main">
            <a:off x="2171925" y="2675013"/>
            <a:ext cx="1275900" cy="12492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C6682B19-CDED-4555-BCA0-462F38E0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75" y="3972000"/>
            <a:ext cx="1885800" cy="4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  <a:endParaRPr/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29FC837-9834-4F3D-BC6D-759F24F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225" y="4410000"/>
            <a:ext cx="10413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EE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專案作品報告</a:t>
            </a:r>
            <a:endParaRPr/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48C22397-1CF3-4641-80E7-F1030312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81200"/>
            <a:ext cx="6875700" cy="17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從學習痛點出發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建立單字學習網站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39" name="Google Shape;22;p3"/>
          <p:cNvCxnSpPr/>
          <p:nvPr/>
        </p:nvCxnSpPr>
        <p:spPr>
          <a:xfrm xmlns:a="http://schemas.openxmlformats.org/drawingml/2006/main">
            <a:off x="5562600" y="5257800"/>
            <a:ext cx="581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373A7D9B-64A0-4957-9BD5-2325938F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72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詹秉睿</a:t>
            </a:r>
            <a:endParaRPr/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清水高中 · 高三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2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6" name="Rectangle 4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Rectangle 4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Rectangle 4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3350CDCD-2F4C-45D4-A0E1-86508A1A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8B82BAAD-B14E-4A2B-8316-B0AE01B5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ORIGIN</a:t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8C656883-9603-4A5C-B28E-6F6AC524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我不想再逐字詢問 AI</a:t>
            </a:r>
            <a:endParaRPr/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BA8082D0-4374-4A3C-B5A6-770CD49F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8009F63-77DA-4A13-AFD9-C1B0AD56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以前，我會把每個單字逐一問 AI：</a:t>
            </a:r>
            <a:endParaRPr/>
          </a:p>
          <a:p xmlns:a="http://schemas.openxmlformats.org/drawingml/2006/main">
            <a:pPr marL="0" marR="0" lv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它的拉丁字根是什麼？詞源如何演變？</a:t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B2E91261-6974-4A96-A625-28F976DC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這種方法能讓我理解單字，卻無法規模化；</a:t>
            </a:r>
            <a:br/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我也觀察到，同學多半仍靠重複背誦</a:t>
            </a:r>
            <a:r>
              <a:rPr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來記憶單字</a:t>
            </a: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sz="1575" b="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於是我把個人的查詢流程，</a:t>
            </a:r>
            <a:endParaRPr sz="1575" b="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改造成可以整理、練習與追蹤的系統。</a:t>
            </a:r>
            <a:endParaRPr/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EE7736BF-9A50-4D7E-AA45-DF84DA7A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4667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A9BBFBAE-63C4-40B5-BC93-5190A99C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325" y="2870575"/>
            <a:ext cx="37149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525"/>
              <a:buFont typeface="Microsoft JhengHei"/>
              <a:buNone/>
            </a:pPr>
            <a:r>
              <a: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distribute</a:t>
            </a:r>
            <a:endParaRPr/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502E520B-64AF-4F71-AEFC-849E1FAE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700" y="3862463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dis-</a:t>
            </a:r>
            <a:endParaRPr/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A8ED0F95-9DED-4047-84A4-19D1DABF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8325" y="3872063"/>
            <a:ext cx="362100" cy="3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+</a:t>
            </a:r>
            <a:endParaRPr/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B19292F9-F72F-4903-A52A-4AFFA952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450" y="3862463"/>
            <a:ext cx="18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tribuere</a:t>
            </a:r>
            <a:endParaRPr/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45BC3746-108A-4925-9967-6F7D392B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600" y="4419600"/>
            <a:ext cx="13812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apart／分開</a:t>
            </a:r>
            <a:endParaRPr/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0E9FFB18-EED8-406E-B7D4-A1843CDE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3350" y="4419600"/>
            <a:ext cx="20478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assign／分配</a:t>
            </a:r>
            <a:endParaRPr/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944AEFF7-AE4B-4D23-86A3-2111F862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325" y="4995725"/>
            <a:ext cx="37149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425"/>
              <a:buFont typeface="Microsoft JhengHei"/>
              <a:buNone/>
            </a:pPr>
            <a:r>
              <a:rPr sz="14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拆解拉丁字根與詞源，能降低記憶負擔，也看懂單字結構。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125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86" name="Rectangle 8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5" name="Rectangle 8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4" name="Rectangle 8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3" name="Rectangle 8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D36D5933-E733-4AD7-BFF2-AD48D119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927C5388-FBC5-4F1B-80B1-4FB775D7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EVOLUTION</a:t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E348FC6C-CD87-45CE-8366-7FB88A3C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不到四個月，把想法做成公開服務</a:t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8B6F43FE-BBC0-41EF-9A62-93612683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/>
          </a:p>
        </p:txBody>
      </p:sp>
      <p:cxnSp>
        <p:nvCxnSpPr>
          <p:cNvPr id="82" name="Google Shape;52;p5"/>
          <p:cNvCxnSpPr/>
          <p:nvPr/>
        </p:nvCxnSpPr>
        <p:spPr>
          <a:xfrm xmlns:a="http://schemas.openxmlformats.org/drawingml/2006/main">
            <a:off x="1752600" y="401955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DD14D4CF-0307-4EA3-AEFF-28A00B82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E237033F-D33A-49A8-8D27-F97F3B6E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04/24</a:t>
            </a:r>
            <a:endParaRPr/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288C2856-A386-469F-A425-BCCE5D00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開始開發</a:t>
            </a:r>
            <a:endParaRPr/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92A04741-E8D1-4016-93FA-20FD746C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完成專案骨架</a:t>
            </a:r>
            <a:endParaRPr/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BB687320-CF9C-4B5E-869C-107C4F43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03F3F345-02FE-4697-BF17-8823B2C8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04/25</a:t>
            </a:r>
            <a:endParaRPr/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03F8B919-70F7-42D6-BB8F-D89066DD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100" y="4329113"/>
            <a:ext cx="1714500" cy="4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第一版可用</a:t>
            </a:r>
            <a:endParaRPr/>
          </a:p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基本單字功能與練習</a:t>
            </a:r>
            <a:endParaRPr/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F3DB0D99-D224-43F2-A740-EF76218C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開始累積練習紀錄</a:t>
            </a:r>
            <a:endParaRPr/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CF696CDB-6D3F-4AEE-9980-D39CA1EE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E2CA5241-299A-49CE-8426-C37E188A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04/29</a:t>
            </a:r>
            <a:endParaRPr/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86AE0AE1-6B55-4C5E-BFCC-F7C03658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725" y="4329188"/>
            <a:ext cx="1942200" cy="47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建立 AI 匯入流程</a:t>
            </a:r>
            <a:endParaRPr/>
          </a:p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OCR 掃描與內容處理</a:t>
            </a:r>
            <a:endParaRPr/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6A94E182-BF1E-46B8-B382-EE810A2B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建立內容處理管線</a:t>
            </a:r>
            <a:endParaRPr/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4D99C547-F1C2-4E00-9591-9E83AD76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1BDDDF4E-A837-4E15-86C2-25E69B87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641F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05/25</a:t>
            </a:r>
            <a:endParaRPr/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9F041F44-9C85-4E70-A483-0625A97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公開部署</a:t>
            </a:r>
            <a:endParaRPr/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8A42448A-8AAC-4686-9B5C-234E1101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同學可透過網路使用</a:t>
            </a:r>
            <a:endParaRPr/>
          </a:p>
        </p:txBody>
      </p:sp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5D7872EE-DFC6-418C-9C01-301C4F2F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76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>
            <a:extLst xmlns:a="http://schemas.openxmlformats.org/drawingml/2006/main">
              <a:ext uri="{FF2B5EF4-FFF2-40B4-BE49-F238E27FC236}">
                <a16:creationId xmlns:a16="http://schemas.microsoft.com/office/drawing/2014/main" id="{56BF1236-3EB9-4E2F-9B12-E4EF30F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181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08/15</a:t>
            </a:r>
            <a:endParaRPr/>
          </a:p>
        </p:txBody>
      </p:sp>
      <p:sp>
        <p:nvSpPr>
          <p:cNvPr id="71" name="Google Shape;71;p5">
            <a:extLst xmlns:a="http://schemas.openxmlformats.org/drawingml/2006/main">
              <a:ext uri="{FF2B5EF4-FFF2-40B4-BE49-F238E27FC236}">
                <a16:creationId xmlns:a16="http://schemas.microsoft.com/office/drawing/2014/main" id="{02F09CBE-9653-4654-B02B-309EE9D3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400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持續維運</a:t>
            </a:r>
            <a:endParaRPr/>
          </a:p>
        </p:txBody>
      </p:sp>
      <p:sp>
        <p:nvSpPr>
          <p:cNvPr id="72" name="Google Shape;72;p5">
            <a:extLst xmlns:a="http://schemas.openxmlformats.org/drawingml/2006/main">
              <a:ext uri="{FF2B5EF4-FFF2-40B4-BE49-F238E27FC236}">
                <a16:creationId xmlns:a16="http://schemas.microsoft.com/office/drawing/2014/main" id="{D75B4DA1-5768-4D1C-A919-E0E2F8D4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972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持續補充內容與功能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8752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7" name="Rectangle 1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6" name="Rectangle 1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5" name="Rectangle 1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4" name="Rectangle 1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F954E67D-EDE6-4516-A81D-D22C6B09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4BB3F04A-602B-4A2D-9A1B-FCC150E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ENGINEERING</a:t>
            </a:r>
            <a:endParaRPr/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7AED2D14-A31E-457F-8780-7CB18D6B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我把重複查詢，做成方便使用的學習網站</a:t>
            </a:r>
            <a:endParaRPr/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149E63CA-FFFC-4513-8D8C-BAAE4B27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/>
          </a:p>
        </p:txBody>
      </p:sp>
      <p:cxnSp>
        <p:nvCxnSpPr>
          <p:cNvPr id="112" name="Google Shape;82;p6"/>
          <p:cNvCxnSpPr/>
          <p:nvPr/>
        </p:nvCxnSpPr>
        <p:spPr>
          <a:xfrm xmlns:a="http://schemas.openxmlformats.org/drawingml/2006/main">
            <a:off x="3981450" y="39052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83;p6"/>
          <p:cNvCxnSpPr/>
          <p:nvPr/>
        </p:nvCxnSpPr>
        <p:spPr>
          <a:xfrm xmlns:a="http://schemas.openxmlformats.org/drawingml/2006/main">
            <a:off x="8267700" y="39052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A8EB080C-75BD-4908-8BCA-3BB81375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2495550" cy="31051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7D82A42A-3B82-4686-B82D-30F4E469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62250"/>
            <a:ext cx="2495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19B9C3BC-38E3-4817-BE11-78C8F976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37978291-0FC7-4F3D-9587-C0C566DA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/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C39C3625-40F3-466B-AC89-80B5CF75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624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使用者體驗</a:t>
            </a:r>
            <a:endParaRPr/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C138ED77-A313-4DB7-B6D6-13B4F3FB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多模式練習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趨勢與排行榜</a:t>
            </a:r>
            <a:endParaRPr/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FA1693EA-B4E0-46BA-8EBC-2C3DB26F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34290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414CD254-A410-46D2-A4FF-37E8D8DD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3429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8EDA6C8F-B17D-4F7E-B18A-D47DE387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1F606EDF-962E-4647-9200-6452D508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/>
          </a:p>
        </p:txBody>
      </p:sp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7FA5FCF7-70B9-4F57-B1B2-305E30CB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62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服務與資料</a:t>
            </a:r>
            <a:endParaRPr/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EB3E973C-8E19-4D90-94C5-82BF97E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48200"/>
            <a:ext cx="2895600" cy="10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Express API／JWT 權限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SQLite 三庫分工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學習同步、通知</a:t>
            </a:r>
            <a:endParaRPr/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F4B2EE08-C396-4B55-B928-C64A7746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31051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50BE9041-23F6-4834-A9E2-7727E7C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62250"/>
            <a:ext cx="3105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1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AFF9C159-5925-4BAD-B72A-D0D0F07A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43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4F54E8F2-D715-40FA-AA61-9FFDB6C7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641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/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86820D1A-EDC9-4712-B8C1-528FBD11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內容與維運</a:t>
            </a:r>
            <a:endParaRPr/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9F67E9E2-4FE8-474A-8027-02C8F250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101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OCR／Gemini 匯入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管理後台與人工審核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發音快取與 fallback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37386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34" name="Rectangle 13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3" name="Rectangle 13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2" name="Rectangle 13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1" name="Rectangle 13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Google Shape;107;p7">
            <a:extLst xmlns:a="http://schemas.openxmlformats.org/drawingml/2006/main">
              <a:ext uri="{FF2B5EF4-FFF2-40B4-BE49-F238E27FC236}">
                <a16:creationId xmlns:a16="http://schemas.microsoft.com/office/drawing/2014/main" id="{DBE3AA94-2730-4383-A27E-3DB720E8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>
            <a:extLst xmlns:a="http://schemas.openxmlformats.org/drawingml/2006/main">
              <a:ext uri="{FF2B5EF4-FFF2-40B4-BE49-F238E27FC236}">
                <a16:creationId xmlns:a16="http://schemas.microsoft.com/office/drawing/2014/main" id="{2A265CBF-C057-430F-B3D0-5A11C12F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  <a:endParaRPr/>
          </a:p>
        </p:txBody>
      </p:sp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E2EBEDF6-0487-4D50-9015-050AAA48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從理解、練習到學習追蹤</a:t>
            </a:r>
            <a:endParaRPr/>
          </a:p>
        </p:txBody>
      </p:sp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849D436B-9A5B-4F18-BFDE-18F82524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/>
          </a:p>
        </p:txBody>
      </p:sp>
      <p:pic>
        <p:nvPicPr>
          <p:cNvPr id="128" name="Google Shape;11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3237e689274ced">
            <a:alphaModFix/>
          </a:blip>
          <a:srcRect xmlns:a="http://schemas.openxmlformats.org/drawingml/2006/main" l="30" t="0" r="30" b="0"/>
          <a:stretch xmlns:a="http://schemas.openxmlformats.org/drawingml/2006/main"/>
        </p:blipFill>
        <p:spPr>
          <a:xfrm xmlns:a="http://schemas.openxmlformats.org/drawingml/2006/main">
            <a:off x="762026" y="3271325"/>
            <a:ext cx="3815400" cy="21474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>
            <a:noFill/>
          </a:ln>
        </p:spPr>
      </p:pic>
      <p:pic>
        <p:nvPicPr>
          <p:cNvPr id="129" name="Google Shape;11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8a584f64f94775">
            <a:alphaModFix/>
          </a:blip>
          <a:srcRect xmlns:a="http://schemas.openxmlformats.org/drawingml/2006/main" l="30" t="0" r="30" b="0"/>
          <a:stretch xmlns:a="http://schemas.openxmlformats.org/drawingml/2006/main"/>
        </p:blipFill>
        <p:spPr>
          <a:xfrm xmlns:a="http://schemas.openxmlformats.org/drawingml/2006/main">
            <a:off x="4949687" y="3271325"/>
            <a:ext cx="3815400" cy="21474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>
            <a:noFill/>
          </a:ln>
        </p:spPr>
      </p:pic>
      <p:pic>
        <p:nvPicPr>
          <p:cNvPr id="130" name="Google Shape;113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a55112edf54f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136177" y="3271325"/>
            <a:ext cx="3817800" cy="21474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>
            <a:noFill/>
          </a:ln>
        </p:spPr>
      </p:pic>
      <p:sp>
        <p:nvSpPr>
          <p:cNvPr id="114" name="Google Shape;114;p7">
            <a:extLst xmlns:a="http://schemas.openxmlformats.org/drawingml/2006/main">
              <a:ext uri="{FF2B5EF4-FFF2-40B4-BE49-F238E27FC236}">
                <a16:creationId xmlns:a16="http://schemas.microsoft.com/office/drawing/2014/main" id="{4575E237-53CD-48BF-8036-E3363AEE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623" y="5740974"/>
            <a:ext cx="2362200" cy="32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3075" tIns="103075" rIns="103075" bIns="103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>
            <a:extLst xmlns:a="http://schemas.openxmlformats.org/drawingml/2006/main">
              <a:ext uri="{FF2B5EF4-FFF2-40B4-BE49-F238E27FC236}">
                <a16:creationId xmlns:a16="http://schemas.microsoft.com/office/drawing/2014/main" id="{EE005F60-0914-49AF-A856-4773B0DA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623" y="5783924"/>
            <a:ext cx="2362200" cy="23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理解：單字庫</a:t>
            </a:r>
            <a:endParaRPr sz="1578"/>
          </a:p>
        </p:txBody>
      </p:sp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45E9E687-5504-4D1E-B00D-68B1F688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909" y="5740974"/>
            <a:ext cx="2577000" cy="32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3075" tIns="103075" rIns="103075" bIns="103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E87AB986-E193-4E2D-A175-459BF1C8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909" y="5783924"/>
            <a:ext cx="2577000" cy="23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三模式訓練</a:t>
            </a:r>
            <a:endParaRPr sz="1578"/>
          </a:p>
        </p:txBody>
      </p:sp>
      <p:sp>
        <p:nvSpPr>
          <p:cNvPr id="118" name="Google Shape;118;p7">
            <a:extLst xmlns:a="http://schemas.openxmlformats.org/drawingml/2006/main">
              <a:ext uri="{FF2B5EF4-FFF2-40B4-BE49-F238E27FC236}">
                <a16:creationId xmlns:a16="http://schemas.microsoft.com/office/drawing/2014/main" id="{F82B26A3-720D-4029-9651-515F039B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472" y="5740974"/>
            <a:ext cx="2362200" cy="32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3075" tIns="103075" rIns="103075" bIns="103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>
            <a:extLst xmlns:a="http://schemas.openxmlformats.org/drawingml/2006/main">
              <a:ext uri="{FF2B5EF4-FFF2-40B4-BE49-F238E27FC236}">
                <a16:creationId xmlns:a16="http://schemas.microsoft.com/office/drawing/2014/main" id="{BB01C699-3BAE-44CB-93C2-7E939D7A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472" y="5783924"/>
            <a:ext cx="2362200" cy="23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追蹤：學習趨勢</a:t>
            </a:r>
            <a:endParaRPr sz="1578"/>
          </a:p>
        </p:txBody>
      </p:sp>
      <p:sp>
        <p:nvSpPr>
          <p:cNvPr id="120" name="Google Shape;120;p7">
            <a:extLst xmlns:a="http://schemas.openxmlformats.org/drawingml/2006/main">
              <a:ext uri="{FF2B5EF4-FFF2-40B4-BE49-F238E27FC236}">
                <a16:creationId xmlns:a16="http://schemas.microsoft.com/office/drawing/2014/main" id="{6735BEAC-BA97-4FF5-8C92-787CA2D0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27138"/>
            <a:ext cx="9951900" cy="10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不只提供單字內容，也讓使用者透過練習找出容易答錯的單字。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系統會整理作答結果與熟練度，作為下一次複習與題目推送的依據。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890013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65" name="Rectangle 16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4" name="Rectangle 16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3" name="Rectangle 16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2" name="Rectangle 16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8DD88E46-5516-4714-AB17-37D9247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>
            <a:extLst xmlns:a="http://schemas.openxmlformats.org/drawingml/2006/main">
              <a:ext uri="{FF2B5EF4-FFF2-40B4-BE49-F238E27FC236}">
                <a16:creationId xmlns:a16="http://schemas.microsoft.com/office/drawing/2014/main" id="{3F5B4F98-0CF7-42FB-A78B-CD395456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PROBLEM FRAMING</a:t>
            </a:r>
            <a:endParaRPr/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7C3272B7-4CA5-4413-8B9D-98CE282F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讓「會背」變成看得見的掌握程度</a:t>
            </a:r>
            <a:endParaRPr/>
          </a:p>
        </p:txBody>
      </p:sp>
      <p:sp>
        <p:nvSpPr>
          <p:cNvPr id="129" name="Google Shape;129;p8">
            <a:extLst xmlns:a="http://schemas.openxmlformats.org/drawingml/2006/main">
              <a:ext uri="{FF2B5EF4-FFF2-40B4-BE49-F238E27FC236}">
                <a16:creationId xmlns:a16="http://schemas.microsoft.com/office/drawing/2014/main" id="{45E66A83-E273-46A5-A086-81F9154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38250"/>
            <a:ext cx="10820400" cy="146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使用者先在單字庫理解字根與詞源，再進入練習區作答。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系統保留答題、錯題與熟練度，並在下次練習時，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依先前表現調整題目與推送重點。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0" name="Google Shape;130;p8">
            <a:extLst xmlns:a="http://schemas.openxmlformats.org/drawingml/2006/main">
              <a:ext uri="{FF2B5EF4-FFF2-40B4-BE49-F238E27FC236}">
                <a16:creationId xmlns:a16="http://schemas.microsoft.com/office/drawing/2014/main" id="{B6406077-526D-48AD-A21A-37E4334D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6</a:t>
            </a:r>
            <a:endParaRPr/>
          </a:p>
        </p:txBody>
      </p:sp>
      <p:cxnSp>
        <p:nvCxnSpPr>
          <p:cNvPr id="160" name="Google Shape;131;p8"/>
          <p:cNvCxnSpPr/>
          <p:nvPr/>
        </p:nvCxnSpPr>
        <p:spPr>
          <a:xfrm xmlns:a="http://schemas.openxmlformats.org/drawingml/2006/main">
            <a:off x="4152900" y="4419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Google Shape;132;p8"/>
          <p:cNvCxnSpPr/>
          <p:nvPr/>
        </p:nvCxnSpPr>
        <p:spPr>
          <a:xfrm xmlns:a="http://schemas.openxmlformats.org/drawingml/2006/main">
            <a:off x="7867650" y="4419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8">
            <a:extLst xmlns:a="http://schemas.openxmlformats.org/drawingml/2006/main">
              <a:ext uri="{FF2B5EF4-FFF2-40B4-BE49-F238E27FC236}">
                <a16:creationId xmlns:a16="http://schemas.microsoft.com/office/drawing/2014/main" id="{423F6E8A-311A-40BA-A370-DA8E4C00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23925"/>
            <a:ext cx="26670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AE36B599-7370-4BC8-8766-7EB14120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52525"/>
            <a:ext cx="514500" cy="5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>
            <a:extLst xmlns:a="http://schemas.openxmlformats.org/drawingml/2006/main">
              <a:ext uri="{FF2B5EF4-FFF2-40B4-BE49-F238E27FC236}">
                <a16:creationId xmlns:a16="http://schemas.microsoft.com/office/drawing/2014/main" id="{071FE151-A94B-4B33-A2DF-9E89CDB7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66825"/>
            <a:ext cx="5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1350"/>
              <a:buFont typeface="Microsoft JhengHei"/>
              <a:buNone/>
            </a:pPr>
            <a:r>
              <a: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/>
          </a:p>
        </p:txBody>
      </p:sp>
      <p:sp>
        <p:nvSpPr>
          <p:cNvPr id="136" name="Google Shape;136;p8">
            <a:extLst xmlns:a="http://schemas.openxmlformats.org/drawingml/2006/main">
              <a:ext uri="{FF2B5EF4-FFF2-40B4-BE49-F238E27FC236}">
                <a16:creationId xmlns:a16="http://schemas.microsoft.com/office/drawing/2014/main" id="{687C2835-5BF9-44EB-BE93-C1D043A9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14525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  <a:endParaRPr/>
          </a:p>
        </p:txBody>
      </p:sp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DDC53BA6-7EDD-44F6-BA06-9D9CF120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0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以字根、詞源、詞義與例句建立記憶線索。</a:t>
            </a:r>
            <a:endParaRPr/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83E38438-AA77-4F4B-9FFB-C02E727D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23925"/>
            <a:ext cx="29529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>
            <a:extLst xmlns:a="http://schemas.openxmlformats.org/drawingml/2006/main">
              <a:ext uri="{FF2B5EF4-FFF2-40B4-BE49-F238E27FC236}">
                <a16:creationId xmlns:a16="http://schemas.microsoft.com/office/drawing/2014/main" id="{33EB7B87-AAFC-4432-BC03-7750577D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52525"/>
            <a:ext cx="514500" cy="5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>
            <a:extLst xmlns:a="http://schemas.openxmlformats.org/drawingml/2006/main">
              <a:ext uri="{FF2B5EF4-FFF2-40B4-BE49-F238E27FC236}">
                <a16:creationId xmlns:a16="http://schemas.microsoft.com/office/drawing/2014/main" id="{D2D38504-0DF1-4276-9E26-F643D92C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66825"/>
            <a:ext cx="5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/>
          </a:p>
        </p:txBody>
      </p:sp>
      <p:sp>
        <p:nvSpPr>
          <p:cNvPr id="141" name="Google Shape;141;p8">
            <a:extLst xmlns:a="http://schemas.openxmlformats.org/drawingml/2006/main">
              <a:ext uri="{FF2B5EF4-FFF2-40B4-BE49-F238E27FC236}">
                <a16:creationId xmlns:a16="http://schemas.microsoft.com/office/drawing/2014/main" id="{822A6438-E116-4468-8DD5-8ED39BD8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14525"/>
            <a:ext cx="24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  <a:endParaRPr/>
          </a:p>
        </p:txBody>
      </p:sp>
      <p:sp>
        <p:nvSpPr>
          <p:cNvPr id="142" name="Google Shape;142;p8">
            <a:extLst xmlns:a="http://schemas.openxmlformats.org/drawingml/2006/main">
              <a:ext uri="{FF2B5EF4-FFF2-40B4-BE49-F238E27FC236}">
                <a16:creationId xmlns:a16="http://schemas.microsoft.com/office/drawing/2014/main" id="{5DF627D6-C6C4-45F4-B9C3-D4DBFF5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86025"/>
            <a:ext cx="2495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用中選英、看中打英、克漏字等模式</a:t>
            </a:r>
            <a:r>
              <a:rPr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/>
          </a:p>
        </p:txBody>
      </p:sp>
      <p:sp>
        <p:nvSpPr>
          <p:cNvPr id="143" name="Google Shape;143;p8">
            <a:extLst xmlns:a="http://schemas.openxmlformats.org/drawingml/2006/main">
              <a:ext uri="{FF2B5EF4-FFF2-40B4-BE49-F238E27FC236}">
                <a16:creationId xmlns:a16="http://schemas.microsoft.com/office/drawing/2014/main" id="{7FC0D494-A689-48D3-A04E-D799EDE9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23925"/>
            <a:ext cx="36006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9986FC45-BF40-444D-B03C-A8529BA8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52525"/>
            <a:ext cx="514500" cy="5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64F8FCA7-E097-4329-A9A9-046CEF81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66825"/>
            <a:ext cx="5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1350"/>
              <a:buFont typeface="Microsoft JhengHei"/>
              <a:buNone/>
            </a:pPr>
            <a:r>
              <a: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/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D072C838-6DF7-40F0-9966-32964BC9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525"/>
            <a:ext cx="31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追蹤</a:t>
            </a:r>
            <a:endParaRPr/>
          </a:p>
        </p:txBody>
      </p:sp>
      <p:sp>
        <p:nvSpPr>
          <p:cNvPr id="147" name="Google Shape;147;p8">
            <a:extLst xmlns:a="http://schemas.openxmlformats.org/drawingml/2006/main">
              <a:ext uri="{FF2B5EF4-FFF2-40B4-BE49-F238E27FC236}">
                <a16:creationId xmlns:a16="http://schemas.microsoft.com/office/drawing/2014/main" id="{6BB84C55-3209-428A-82F5-F7A091E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025"/>
            <a:ext cx="31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保留作答、錯題與熟練度，讓下一次複習</a:t>
            </a:r>
            <a:r>
              <a:rPr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可以做出更精準的題目推送</a:t>
            </a: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9445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5" name="Rectangle 20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4" name="Rectangle 20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3" name="Rectangle 20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2" name="Rectangle 20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7A3156E6-913A-44ED-95F0-9E160D24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624C0532-8C13-4F64-8431-F8B83C4D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AI RELIABILITY</a:t>
            </a:r>
            <a:endParaRPr/>
          </a:p>
        </p:txBody>
      </p:sp>
      <p:sp>
        <p:nvSpPr>
          <p:cNvPr id="155" name="Google Shape;155;p9">
            <a:extLst xmlns:a="http://schemas.openxmlformats.org/drawingml/2006/main">
              <a:ext uri="{FF2B5EF4-FFF2-40B4-BE49-F238E27FC236}">
                <a16:creationId xmlns:a16="http://schemas.microsoft.com/office/drawing/2014/main" id="{20D26C95-94DC-4299-86E1-471CE8CD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我先讓 AI 內容通過審查，再進入單字庫</a:t>
            </a:r>
            <a:endParaRPr/>
          </a:p>
        </p:txBody>
      </p:sp>
      <p:sp>
        <p:nvSpPr>
          <p:cNvPr id="156" name="Google Shape;156;p9">
            <a:extLst xmlns:a="http://schemas.openxmlformats.org/drawingml/2006/main">
              <a:ext uri="{FF2B5EF4-FFF2-40B4-BE49-F238E27FC236}">
                <a16:creationId xmlns:a16="http://schemas.microsoft.com/office/drawing/2014/main" id="{7476C1A1-FA99-4DA1-9932-409F0E2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94052"/>
            <a:ext cx="10820400" cy="98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AI 產生的內容不會直接寫入資料庫。我將流程拆成生成、兩次複核與仲裁，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再用格式、詞性、漏字與重複規則過濾；最後由我在管理後台確認，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才正式入庫。</a:t>
            </a:r>
            <a:endParaRPr/>
          </a:p>
        </p:txBody>
      </p:sp>
      <p:sp>
        <p:nvSpPr>
          <p:cNvPr id="157" name="Google Shape;157;p9">
            <a:extLst xmlns:a="http://schemas.openxmlformats.org/drawingml/2006/main">
              <a:ext uri="{FF2B5EF4-FFF2-40B4-BE49-F238E27FC236}">
                <a16:creationId xmlns:a16="http://schemas.microsoft.com/office/drawing/2014/main" id="{4639FCBA-D760-4B17-9DE5-75811759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  <a:endParaRPr/>
          </a:p>
        </p:txBody>
      </p:sp>
      <p:cxnSp>
        <p:nvCxnSpPr>
          <p:cNvPr id="186" name="Google Shape;158;p9"/>
          <p:cNvCxnSpPr/>
          <p:nvPr/>
        </p:nvCxnSpPr>
        <p:spPr>
          <a:xfrm xmlns:a="http://schemas.openxmlformats.org/drawingml/2006/main">
            <a:off x="6819900" y="388620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02612991-A67A-492A-8BB5-ADEE3C1A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>
            <a:extLst xmlns:a="http://schemas.openxmlformats.org/drawingml/2006/main">
              <a:ext uri="{FF2B5EF4-FFF2-40B4-BE49-F238E27FC236}">
                <a16:creationId xmlns:a16="http://schemas.microsoft.com/office/drawing/2014/main" id="{BF398BF5-2A69-40A4-AAE3-9824643B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/>
          </a:p>
        </p:txBody>
      </p:sp>
      <p:sp>
        <p:nvSpPr>
          <p:cNvPr id="161" name="Google Shape;161;p9">
            <a:extLst xmlns:a="http://schemas.openxmlformats.org/drawingml/2006/main">
              <a:ext uri="{FF2B5EF4-FFF2-40B4-BE49-F238E27FC236}">
                <a16:creationId xmlns:a16="http://schemas.microsoft.com/office/drawing/2014/main" id="{B0317F48-4DD5-42A0-B63C-731667E0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  <a:endParaRPr/>
          </a:p>
        </p:txBody>
      </p:sp>
      <p:sp>
        <p:nvSpPr>
          <p:cNvPr id="162" name="Google Shape;162;p9">
            <a:extLst xmlns:a="http://schemas.openxmlformats.org/drawingml/2006/main">
              <a:ext uri="{FF2B5EF4-FFF2-40B4-BE49-F238E27FC236}">
                <a16:creationId xmlns:a16="http://schemas.microsoft.com/office/drawing/2014/main" id="{964E8A61-36B0-47EC-B516-B0D57A13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建立初稿</a:t>
            </a:r>
            <a:endParaRPr/>
          </a:p>
        </p:txBody>
      </p:sp>
      <p:sp>
        <p:nvSpPr>
          <p:cNvPr id="163" name="Google Shape;163;p9">
            <a:extLst xmlns:a="http://schemas.openxmlformats.org/drawingml/2006/main">
              <a:ext uri="{FF2B5EF4-FFF2-40B4-BE49-F238E27FC236}">
                <a16:creationId xmlns:a16="http://schemas.microsoft.com/office/drawing/2014/main" id="{EB0DD88F-D775-46C5-A839-0780FFC6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>
            <a:extLst xmlns:a="http://schemas.openxmlformats.org/drawingml/2006/main">
              <a:ext uri="{FF2B5EF4-FFF2-40B4-BE49-F238E27FC236}">
                <a16:creationId xmlns:a16="http://schemas.microsoft.com/office/drawing/2014/main" id="{93DED767-5820-4ABD-B9D7-9170434D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/>
          </a:p>
        </p:txBody>
      </p:sp>
      <p:sp>
        <p:nvSpPr>
          <p:cNvPr id="165" name="Google Shape;165;p9">
            <a:extLst xmlns:a="http://schemas.openxmlformats.org/drawingml/2006/main">
              <a:ext uri="{FF2B5EF4-FFF2-40B4-BE49-F238E27FC236}">
                <a16:creationId xmlns:a16="http://schemas.microsoft.com/office/drawing/2014/main" id="{68F989F5-F48E-4974-919B-428560E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兩次</a:t>
            </a: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複核</a:t>
            </a:r>
            <a:endParaRPr/>
          </a:p>
        </p:txBody>
      </p:sp>
      <p:sp>
        <p:nvSpPr>
          <p:cNvPr id="166" name="Google Shape;166;p9">
            <a:extLst xmlns:a="http://schemas.openxmlformats.org/drawingml/2006/main">
              <a:ext uri="{FF2B5EF4-FFF2-40B4-BE49-F238E27FC236}">
                <a16:creationId xmlns:a16="http://schemas.microsoft.com/office/drawing/2014/main" id="{F1515B04-18EA-475D-B7EE-CF4A5A16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檢查缺漏</a:t>
            </a:r>
            <a:endParaRPr/>
          </a:p>
        </p:txBody>
      </p:sp>
      <p:sp>
        <p:nvSpPr>
          <p:cNvPr id="167" name="Google Shape;167;p9">
            <a:extLst xmlns:a="http://schemas.openxmlformats.org/drawingml/2006/main">
              <a:ext uri="{FF2B5EF4-FFF2-40B4-BE49-F238E27FC236}">
                <a16:creationId xmlns:a16="http://schemas.microsoft.com/office/drawing/2014/main" id="{9F669583-4A25-4420-B751-ABA296D3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>
            <a:extLst xmlns:a="http://schemas.openxmlformats.org/drawingml/2006/main">
              <a:ext uri="{FF2B5EF4-FFF2-40B4-BE49-F238E27FC236}">
                <a16:creationId xmlns:a16="http://schemas.microsoft.com/office/drawing/2014/main" id="{151C4ED8-D5C8-4C38-980B-4FE69082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57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/>
          </a:p>
        </p:txBody>
      </p:sp>
      <p:sp>
        <p:nvSpPr>
          <p:cNvPr id="169" name="Google Shape;169;p9">
            <a:extLst xmlns:a="http://schemas.openxmlformats.org/drawingml/2006/main">
              <a:ext uri="{FF2B5EF4-FFF2-40B4-BE49-F238E27FC236}">
                <a16:creationId xmlns:a16="http://schemas.microsoft.com/office/drawing/2014/main" id="{EDC98E73-893F-4C13-9ABC-98DD2806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52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仲裁</a:t>
            </a:r>
            <a:endParaRPr/>
          </a:p>
        </p:txBody>
      </p:sp>
      <p:sp>
        <p:nvSpPr>
          <p:cNvPr id="170" name="Google Shape;170;p9">
            <a:extLst xmlns:a="http://schemas.openxmlformats.org/drawingml/2006/main">
              <a:ext uri="{FF2B5EF4-FFF2-40B4-BE49-F238E27FC236}">
                <a16:creationId xmlns:a16="http://schemas.microsoft.com/office/drawing/2014/main" id="{744F9117-D303-4638-A1EA-78EEFEEC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972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決定最終稿</a:t>
            </a:r>
            <a:endParaRPr/>
          </a:p>
        </p:txBody>
      </p:sp>
      <p:sp>
        <p:nvSpPr>
          <p:cNvPr id="171" name="Google Shape;171;p9">
            <a:extLst xmlns:a="http://schemas.openxmlformats.org/drawingml/2006/main">
              <a:ext uri="{FF2B5EF4-FFF2-40B4-BE49-F238E27FC236}">
                <a16:creationId xmlns:a16="http://schemas.microsoft.com/office/drawing/2014/main" id="{972EC77E-5C67-4D96-9A8E-A0E41C88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619750"/>
            <a:ext cx="4762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>
            <a:extLst xmlns:a="http://schemas.openxmlformats.org/drawingml/2006/main">
              <a:ext uri="{FF2B5EF4-FFF2-40B4-BE49-F238E27FC236}">
                <a16:creationId xmlns:a16="http://schemas.microsoft.com/office/drawing/2014/main" id="{B1EB3C1C-3FC0-458C-993E-6C5D8808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350" y="5734050"/>
            <a:ext cx="4743600" cy="5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sz="1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最後仍要通過：</a:t>
            </a:r>
            <a:endParaRPr sz="1550" b="1">
              <a:solidFill>
                <a:srgbClr val="315F45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sz="1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JSON 格式 · 詞性規則 · 漏字／重複檢查 · 失敗回退</a:t>
            </a:r>
            <a:endParaRPr sz="1600"/>
          </a:p>
        </p:txBody>
      </p:sp>
      <p:pic>
        <p:nvPicPr>
          <p:cNvPr id="201" name="Google Shape;17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7a484c1aa74e16">
            <a:alphaModFix/>
          </a:blip>
          <a:srcRect xmlns:a="http://schemas.openxmlformats.org/drawingml/2006/main" l="0" t="0" r="4689" b="23530"/>
          <a:stretch xmlns:a="http://schemas.openxmlformats.org/drawingml/2006/main"/>
        </p:blipFill>
        <p:spPr>
          <a:xfrm xmlns:a="http://schemas.openxmlformats.org/drawingml/2006/main">
            <a:off x="959600" y="3140275"/>
            <a:ext cx="5747222" cy="25937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42856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3" name="Rectangle 2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2" name="Rectangle 2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1" name="Rectangle 2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0" name="Rectangle 2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Google Shape;179;p10">
            <a:extLst xmlns:a="http://schemas.openxmlformats.org/drawingml/2006/main">
              <a:ext uri="{FF2B5EF4-FFF2-40B4-BE49-F238E27FC236}">
                <a16:creationId xmlns:a16="http://schemas.microsoft.com/office/drawing/2014/main" id="{94ABCA70-7CF9-41CA-A58F-8D78F99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>
            <a:extLst xmlns:a="http://schemas.openxmlformats.org/drawingml/2006/main">
              <a:ext uri="{FF2B5EF4-FFF2-40B4-BE49-F238E27FC236}">
                <a16:creationId xmlns:a16="http://schemas.microsoft.com/office/drawing/2014/main" id="{473D54E1-51E2-4D63-B65E-34ADD464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  <a:endParaRPr/>
          </a:p>
        </p:txBody>
      </p:sp>
      <p:sp>
        <p:nvSpPr>
          <p:cNvPr id="181" name="Google Shape;181;p10">
            <a:extLst xmlns:a="http://schemas.openxmlformats.org/drawingml/2006/main">
              <a:ext uri="{FF2B5EF4-FFF2-40B4-BE49-F238E27FC236}">
                <a16:creationId xmlns:a16="http://schemas.microsoft.com/office/drawing/2014/main" id="{132D085E-E91B-4D7A-87BA-E3A9555C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已累積真實使用紀錄</a:t>
            </a:r>
            <a:endParaRPr/>
          </a:p>
        </p:txBody>
      </p:sp>
      <p:sp>
        <p:nvSpPr>
          <p:cNvPr id="182" name="Google Shape;182;p10">
            <a:extLst xmlns:a="http://schemas.openxmlformats.org/drawingml/2006/main">
              <a:ext uri="{FF2B5EF4-FFF2-40B4-BE49-F238E27FC236}">
                <a16:creationId xmlns:a16="http://schemas.microsoft.com/office/drawing/2014/main" id="{7A97C1B1-F429-4F3B-9348-BE7BC588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669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截至 2026/08/15，這些資料持續支援我觀察系統與調整功能。</a:t>
            </a:r>
            <a:endParaRPr/>
          </a:p>
        </p:txBody>
      </p:sp>
      <p:sp>
        <p:nvSpPr>
          <p:cNvPr id="183" name="Google Shape;183;p10">
            <a:extLst xmlns:a="http://schemas.openxmlformats.org/drawingml/2006/main">
              <a:ext uri="{FF2B5EF4-FFF2-40B4-BE49-F238E27FC236}">
                <a16:creationId xmlns:a16="http://schemas.microsoft.com/office/drawing/2014/main" id="{527D7E4C-E47C-46B1-8F87-A012D328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  <a:endParaRPr/>
          </a:p>
        </p:txBody>
      </p:sp>
      <p:sp>
        <p:nvSpPr>
          <p:cNvPr id="184" name="Google Shape;184;p10">
            <a:extLst xmlns:a="http://schemas.openxmlformats.org/drawingml/2006/main">
              <a:ext uri="{FF2B5EF4-FFF2-40B4-BE49-F238E27FC236}">
                <a16:creationId xmlns:a16="http://schemas.microsoft.com/office/drawing/2014/main" id="{30157EFA-AF74-4180-BAD4-A58E4947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52750"/>
            <a:ext cx="2190900" cy="5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3,</a:t>
            </a: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684 </a:t>
            </a:r>
            <a:endParaRPr/>
          </a:p>
        </p:txBody>
      </p:sp>
      <p:cxnSp>
        <p:nvCxnSpPr>
          <p:cNvPr id="220" name="Google Shape;185;p10"/>
          <p:cNvCxnSpPr/>
          <p:nvPr/>
        </p:nvCxnSpPr>
        <p:spPr>
          <a:xfrm xmlns:a="http://schemas.openxmlformats.org/drawingml/2006/main">
            <a:off x="1504950" y="35814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10">
            <a:extLst xmlns:a="http://schemas.openxmlformats.org/drawingml/2006/main">
              <a:ext uri="{FF2B5EF4-FFF2-40B4-BE49-F238E27FC236}">
                <a16:creationId xmlns:a16="http://schemas.microsoft.com/office/drawing/2014/main" id="{469489FE-3FC2-4974-A5CF-D40D403D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個</a:t>
            </a: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分布於 71 個單元</a:t>
            </a:r>
            <a:endParaRPr/>
          </a:p>
        </p:txBody>
      </p:sp>
      <p:sp>
        <p:nvSpPr>
          <p:cNvPr id="187" name="Google Shape;187;p10">
            <a:extLst xmlns:a="http://schemas.openxmlformats.org/drawingml/2006/main">
              <a:ext uri="{FF2B5EF4-FFF2-40B4-BE49-F238E27FC236}">
                <a16:creationId xmlns:a16="http://schemas.microsoft.com/office/drawing/2014/main" id="{A1341FAD-52D7-4F44-A181-4D49B79D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52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  <a:endParaRPr/>
          </a:p>
        </p:txBody>
      </p:sp>
      <p:cxnSp>
        <p:nvCxnSpPr>
          <p:cNvPr id="223" name="Google Shape;188;p10"/>
          <p:cNvCxnSpPr/>
          <p:nvPr/>
        </p:nvCxnSpPr>
        <p:spPr>
          <a:xfrm xmlns:a="http://schemas.openxmlformats.org/drawingml/2006/main">
            <a:off x="4210050" y="35814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9" name="Google Shape;189;p10">
            <a:extLst xmlns:a="http://schemas.openxmlformats.org/drawingml/2006/main">
              <a:ext uri="{FF2B5EF4-FFF2-40B4-BE49-F238E27FC236}">
                <a16:creationId xmlns:a16="http://schemas.microsoft.com/office/drawing/2014/main" id="{B0FFB4FB-6867-4814-9CBA-3E330E3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位造訪使用者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公開服務使用紀錄</a:t>
            </a:r>
            <a:endParaRPr/>
          </a:p>
        </p:txBody>
      </p:sp>
      <p:sp>
        <p:nvSpPr>
          <p:cNvPr id="190" name="Google Shape;190;p10">
            <a:extLst xmlns:a="http://schemas.openxmlformats.org/drawingml/2006/main">
              <a:ext uri="{FF2B5EF4-FFF2-40B4-BE49-F238E27FC236}">
                <a16:creationId xmlns:a16="http://schemas.microsoft.com/office/drawing/2014/main" id="{7E922683-2F0A-4A56-9438-0F0E4A16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  <a:endParaRPr/>
          </a:p>
        </p:txBody>
      </p:sp>
      <p:cxnSp>
        <p:nvCxnSpPr>
          <p:cNvPr id="226" name="Google Shape;191;p10"/>
          <p:cNvCxnSpPr/>
          <p:nvPr/>
        </p:nvCxnSpPr>
        <p:spPr>
          <a:xfrm xmlns:a="http://schemas.openxmlformats.org/drawingml/2006/main">
            <a:off x="6915150" y="35814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10">
            <a:extLst xmlns:a="http://schemas.openxmlformats.org/drawingml/2006/main">
              <a:ext uri="{FF2B5EF4-FFF2-40B4-BE49-F238E27FC236}">
                <a16:creationId xmlns:a16="http://schemas.microsoft.com/office/drawing/2014/main" id="{F156EB08-4023-47C0-BB64-C914BE88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95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位留下作答紀錄者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已產生實際學習資料</a:t>
            </a:r>
            <a:endParaRPr/>
          </a:p>
        </p:txBody>
      </p:sp>
      <p:sp>
        <p:nvSpPr>
          <p:cNvPr id="193" name="Google Shape;193;p10">
            <a:extLst xmlns:a="http://schemas.openxmlformats.org/drawingml/2006/main">
              <a:ext uri="{FF2B5EF4-FFF2-40B4-BE49-F238E27FC236}">
                <a16:creationId xmlns:a16="http://schemas.microsoft.com/office/drawing/2014/main" id="{7F9216ED-1FC8-4655-BF5C-C89C7051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53A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rPr>
              <a:t>10,011</a:t>
            </a:r>
            <a:endParaRPr/>
          </a:p>
        </p:txBody>
      </p:sp>
      <p:cxnSp>
        <p:nvCxnSpPr>
          <p:cNvPr id="229" name="Google Shape;194;p10"/>
          <p:cNvCxnSpPr/>
          <p:nvPr/>
        </p:nvCxnSpPr>
        <p:spPr>
          <a:xfrm xmlns:a="http://schemas.openxmlformats.org/drawingml/2006/main">
            <a:off x="9620250" y="35814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0">
            <a:extLst xmlns:a="http://schemas.openxmlformats.org/drawingml/2006/main">
              <a:ext uri="{FF2B5EF4-FFF2-40B4-BE49-F238E27FC236}">
                <a16:creationId xmlns:a16="http://schemas.microsoft.com/office/drawing/2014/main" id="{8EB3F6BE-9918-421B-91A9-7552600D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筆作答紀錄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可追蹤錯題與熟練度</a:t>
            </a:r>
            <a:endParaRPr/>
          </a:p>
        </p:txBody>
      </p:sp>
      <p:sp>
        <p:nvSpPr>
          <p:cNvPr id="196" name="Google Shape;196;p10">
            <a:extLst xmlns:a="http://schemas.openxmlformats.org/drawingml/2006/main">
              <a:ext uri="{FF2B5EF4-FFF2-40B4-BE49-F238E27FC236}">
                <a16:creationId xmlns:a16="http://schemas.microsoft.com/office/drawing/2014/main" id="{F5C64B24-872B-46AF-ADD1-F78E58C8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257800"/>
            <a:ext cx="106870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>
            <a:extLst xmlns:a="http://schemas.openxmlformats.org/drawingml/2006/main">
              <a:ext uri="{FF2B5EF4-FFF2-40B4-BE49-F238E27FC236}">
                <a16:creationId xmlns:a16="http://schemas.microsoft.com/office/drawing/2014/main" id="{43FC7175-1E20-4B18-B38E-0AFD1AFC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05450"/>
            <a:ext cx="94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142 批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AI單字資料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匯入 · 277 場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使用者單字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 · 2,122 筆熟練度資料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23403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0" name="Rectangle 2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9" name="Rectangle 2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8" name="Rectangle 2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7" name="Rectangle 2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Google Shape;203;p11">
            <a:extLst xmlns:a="http://schemas.openxmlformats.org/drawingml/2006/main">
              <a:ext uri="{FF2B5EF4-FFF2-40B4-BE49-F238E27FC236}">
                <a16:creationId xmlns:a16="http://schemas.microsoft.com/office/drawing/2014/main" id="{96EBB248-C0A0-42C6-B062-D4EDD1C3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>
            <a:extLst xmlns:a="http://schemas.openxmlformats.org/drawingml/2006/main">
              <a:ext uri="{FF2B5EF4-FFF2-40B4-BE49-F238E27FC236}">
                <a16:creationId xmlns:a16="http://schemas.microsoft.com/office/drawing/2014/main" id="{B6EE8E75-4C81-412B-B59B-574D6DEA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ITERATION</a:t>
            </a:r>
            <a:endParaRPr/>
          </a:p>
        </p:txBody>
      </p:sp>
      <p:sp>
        <p:nvSpPr>
          <p:cNvPr id="205" name="Google Shape;205;p11">
            <a:extLst xmlns:a="http://schemas.openxmlformats.org/drawingml/2006/main">
              <a:ext uri="{FF2B5EF4-FFF2-40B4-BE49-F238E27FC236}">
                <a16:creationId xmlns:a16="http://schemas.microsoft.com/office/drawing/2014/main" id="{2EEE03C3-6738-4994-AAD4-464EDC12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以反饋為導向，推動系統持續迭代 </a:t>
            </a:r>
            <a:endParaRPr/>
          </a:p>
        </p:txBody>
      </p:sp>
      <p:sp>
        <p:nvSpPr>
          <p:cNvPr id="206" name="Google Shape;206;p11">
            <a:extLst xmlns:a="http://schemas.openxmlformats.org/drawingml/2006/main">
              <a:ext uri="{FF2B5EF4-FFF2-40B4-BE49-F238E27FC236}">
                <a16:creationId xmlns:a16="http://schemas.microsoft.com/office/drawing/2014/main" id="{3ECAD217-965D-4703-AFDC-EB0848D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我從同學回報與自行測試中找出問題，再把修正納入下一輪版本。</a:t>
            </a:r>
            <a:endParaRPr/>
          </a:p>
        </p:txBody>
      </p:sp>
      <p:sp>
        <p:nvSpPr>
          <p:cNvPr id="207" name="Google Shape;207;p11">
            <a:extLst xmlns:a="http://schemas.openxmlformats.org/drawingml/2006/main">
              <a:ext uri="{FF2B5EF4-FFF2-40B4-BE49-F238E27FC236}">
                <a16:creationId xmlns:a16="http://schemas.microsoft.com/office/drawing/2014/main" id="{9EF89ADD-EB24-4B76-A64F-4792F07D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  <a:endParaRPr/>
          </a:p>
        </p:txBody>
      </p:sp>
      <p:sp>
        <p:nvSpPr>
          <p:cNvPr id="208" name="Google Shape;208;p11">
            <a:extLst xmlns:a="http://schemas.openxmlformats.org/drawingml/2006/main">
              <a:ext uri="{FF2B5EF4-FFF2-40B4-BE49-F238E27FC236}">
                <a16:creationId xmlns:a16="http://schemas.microsoft.com/office/drawing/2014/main" id="{E2F61FFA-82AA-43BD-B813-64B18E3E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>
            <a:extLst xmlns:a="http://schemas.openxmlformats.org/drawingml/2006/main">
              <a:ext uri="{FF2B5EF4-FFF2-40B4-BE49-F238E27FC236}">
                <a16:creationId xmlns:a16="http://schemas.microsoft.com/office/drawing/2014/main" id="{36EAC563-CBEB-4CFB-A06E-29163125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81375"/>
            <a:ext cx="40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語音模型發音不正確</a:t>
            </a:r>
            <a:endParaRPr/>
          </a:p>
        </p:txBody>
      </p:sp>
      <p:sp>
        <p:nvSpPr>
          <p:cNvPr id="210" name="Google Shape;210;p11">
            <a:extLst xmlns:a="http://schemas.openxmlformats.org/drawingml/2006/main">
              <a:ext uri="{FF2B5EF4-FFF2-40B4-BE49-F238E27FC236}">
                <a16:creationId xmlns:a16="http://schemas.microsoft.com/office/drawing/2014/main" id="{3699BF75-C484-44B1-A1F9-6543065A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33825"/>
            <a:ext cx="3429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  <a:endParaRPr/>
          </a:p>
        </p:txBody>
      </p:sp>
      <p:sp>
        <p:nvSpPr>
          <p:cNvPr id="211" name="Google Shape;211;p11">
            <a:extLst xmlns:a="http://schemas.openxmlformats.org/drawingml/2006/main">
              <a:ext uri="{FF2B5EF4-FFF2-40B4-BE49-F238E27FC236}">
                <a16:creationId xmlns:a16="http://schemas.microsoft.com/office/drawing/2014/main" id="{7B7F9132-E49E-4399-A624-E7EECD6E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29125"/>
            <a:ext cx="4095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優先使用 API 字典真人發音；</a:t>
            </a:r>
            <a:endParaRPr sz="1575" b="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無合適來源時，再以 TTS 作為備援。</a:t>
            </a:r>
            <a:endParaRPr/>
          </a:p>
        </p:txBody>
      </p:sp>
      <p:sp>
        <p:nvSpPr>
          <p:cNvPr id="212" name="Google Shape;212;p11">
            <a:extLst xmlns:a="http://schemas.openxmlformats.org/drawingml/2006/main">
              <a:ext uri="{FF2B5EF4-FFF2-40B4-BE49-F238E27FC236}">
                <a16:creationId xmlns:a16="http://schemas.microsoft.com/office/drawing/2014/main" id="{E3B16422-BC2C-4B5B-BB47-CD61B658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0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>
            <a:extLst xmlns:a="http://schemas.openxmlformats.org/drawingml/2006/main">
              <a:ext uri="{FF2B5EF4-FFF2-40B4-BE49-F238E27FC236}">
                <a16:creationId xmlns:a16="http://schemas.microsoft.com/office/drawing/2014/main" id="{AD65A369-F7C6-4EDE-8518-BC2878F8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81375"/>
            <a:ext cx="40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單次生成會留下分析錯誤</a:t>
            </a:r>
            <a:endParaRPr/>
          </a:p>
        </p:txBody>
      </p:sp>
      <p:sp>
        <p:nvSpPr>
          <p:cNvPr id="214" name="Google Shape;214;p11">
            <a:extLst xmlns:a="http://schemas.openxmlformats.org/drawingml/2006/main">
              <a:ext uri="{FF2B5EF4-FFF2-40B4-BE49-F238E27FC236}">
                <a16:creationId xmlns:a16="http://schemas.microsoft.com/office/drawing/2014/main" id="{DF77B60E-B7F3-46A6-BF6F-56BC285D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33825"/>
            <a:ext cx="3429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  <a:endParaRPr/>
          </a:p>
        </p:txBody>
      </p:sp>
      <p:sp>
        <p:nvSpPr>
          <p:cNvPr id="215" name="Google Shape;215;p11">
            <a:extLst xmlns:a="http://schemas.openxmlformats.org/drawingml/2006/main">
              <a:ext uri="{FF2B5EF4-FFF2-40B4-BE49-F238E27FC236}">
                <a16:creationId xmlns:a16="http://schemas.microsoft.com/office/drawing/2014/main" id="{FACC70DD-9042-4E0D-ADD6-D5FA8C3B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29125"/>
            <a:ext cx="4095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拆成生成、複核、仲裁，並用規則驗證與回退避免錯誤直接進入單字庫。</a:t>
            </a:r>
            <a:endParaRPr/>
          </a:p>
        </p:txBody>
      </p:sp>
      <p:sp>
        <p:nvSpPr>
          <p:cNvPr id="216" name="Google Shape;216;p11">
            <a:extLst xmlns:a="http://schemas.openxmlformats.org/drawingml/2006/main">
              <a:ext uri="{FF2B5EF4-FFF2-40B4-BE49-F238E27FC236}">
                <a16:creationId xmlns:a16="http://schemas.microsoft.com/office/drawing/2014/main" id="{37D871E7-789F-4BCE-B66C-956191B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950" y="6100400"/>
            <a:ext cx="4772100" cy="13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8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我透過實際使用、自行測試與同學回報，</a:t>
            </a:r>
            <a:endParaRPr sz="2000"/>
          </a:p>
          <a:p xmlns:a="http://schemas.openxmlformats.org/drawingml/2006/main">
            <a:pPr marL="0" marR="0" lv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8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持續修正前後端，推動下一輪迭代。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45052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35" name="Rectangle 23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4" name="Rectangle 23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3" name="Rectangle 23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2" name="Rectangle 23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Google Shape;222;p12">
            <a:extLst xmlns:a="http://schemas.openxmlformats.org/drawingml/2006/main">
              <a:ext uri="{FF2B5EF4-FFF2-40B4-BE49-F238E27FC236}">
                <a16:creationId xmlns:a16="http://schemas.microsoft.com/office/drawing/2014/main" id="{550FC784-9006-4025-BE02-219011A9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>
            <a:extLst xmlns:a="http://schemas.openxmlformats.org/drawingml/2006/main">
              <a:ext uri="{FF2B5EF4-FFF2-40B4-BE49-F238E27FC236}">
                <a16:creationId xmlns:a16="http://schemas.microsoft.com/office/drawing/2014/main" id="{892A2988-9ED1-479A-848F-763A39B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REFLECTION</a:t>
            </a:r>
            <a:endParaRPr/>
          </a:p>
        </p:txBody>
      </p:sp>
      <p:sp>
        <p:nvSpPr>
          <p:cNvPr id="224" name="Google Shape;224;p12">
            <a:extLst xmlns:a="http://schemas.openxmlformats.org/drawingml/2006/main">
              <a:ext uri="{FF2B5EF4-FFF2-40B4-BE49-F238E27FC236}">
                <a16:creationId xmlns:a16="http://schemas.microsoft.com/office/drawing/2014/main" id="{9E8168C0-0F46-40BC-8B15-58BE9BC5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我學到的，不只是把功能做出來</a:t>
            </a:r>
            <a:endParaRPr/>
          </a:p>
        </p:txBody>
      </p:sp>
      <p:sp>
        <p:nvSpPr>
          <p:cNvPr id="225" name="Google Shape;225;p12">
            <a:extLst xmlns:a="http://schemas.openxmlformats.org/drawingml/2006/main">
              <a:ext uri="{FF2B5EF4-FFF2-40B4-BE49-F238E27FC236}">
                <a16:creationId xmlns:a16="http://schemas.microsoft.com/office/drawing/2014/main" id="{D7DD0AAD-3AB7-40BC-808A-5D31605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51000"/>
            <a:ext cx="10820400" cy="107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一開始，我把開發理解成把功能寫出來；系統真正上線後，我才發現，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定義問題、拆解需求、驗證結果與持續修正，才決定作品是否可靠。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我運用 AI 與 Coding Agent 協助實作，但由我決定要解決什麼、如何驗收，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以及哪些結果不能直接採用。這也讓我學會建立備援、審查與迭代流程。</a:t>
            </a:r>
            <a:endParaRPr/>
          </a:p>
        </p:txBody>
      </p:sp>
      <p:sp>
        <p:nvSpPr>
          <p:cNvPr id="226" name="Google Shape;226;p12">
            <a:extLst xmlns:a="http://schemas.openxmlformats.org/drawingml/2006/main">
              <a:ext uri="{FF2B5EF4-FFF2-40B4-BE49-F238E27FC236}">
                <a16:creationId xmlns:a16="http://schemas.microsoft.com/office/drawing/2014/main" id="{99299112-D2D9-400E-84CC-AFC3BE41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  <a:endParaRPr/>
          </a:p>
        </p:txBody>
      </p:sp>
      <p:sp>
        <p:nvSpPr>
          <p:cNvPr id="227" name="Google Shape;227;p12">
            <a:extLst xmlns:a="http://schemas.openxmlformats.org/drawingml/2006/main">
              <a:ext uri="{FF2B5EF4-FFF2-40B4-BE49-F238E27FC236}">
                <a16:creationId xmlns:a16="http://schemas.microsoft.com/office/drawing/2014/main" id="{40776E84-D3B3-4A89-B2A1-30E8353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1600"/>
            <a:ext cx="1540200" cy="4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702"/>
              <a:buFont typeface="Microsoft JhengHei"/>
              <a:buNone/>
            </a:pPr>
            <a:r>
              <a:rPr sz="1702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  <a:endParaRPr sz="2118"/>
          </a:p>
        </p:txBody>
      </p:sp>
      <p:sp>
        <p:nvSpPr>
          <p:cNvPr id="228" name="Google Shape;228;p12">
            <a:extLst xmlns:a="http://schemas.openxmlformats.org/drawingml/2006/main">
              <a:ext uri="{FF2B5EF4-FFF2-40B4-BE49-F238E27FC236}">
                <a16:creationId xmlns:a16="http://schemas.microsoft.com/office/drawing/2014/main" id="{250B3C1E-7E3C-4C0D-9445-3E2DBE56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43170"/>
            <a:ext cx="3630000" cy="14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會寫程式</a:t>
            </a:r>
            <a:endParaRPr sz="2118"/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做出功能</a:t>
            </a:r>
            <a:endParaRPr sz="2118"/>
          </a:p>
        </p:txBody>
      </p:sp>
      <p:sp>
        <p:nvSpPr>
          <p:cNvPr id="229" name="Google Shape;229;p12">
            <a:extLst xmlns:a="http://schemas.openxmlformats.org/drawingml/2006/main">
              <a:ext uri="{FF2B5EF4-FFF2-40B4-BE49-F238E27FC236}">
                <a16:creationId xmlns:a16="http://schemas.microsoft.com/office/drawing/2014/main" id="{E5B760F6-8092-4A9A-91B4-920A2FFE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796" y="4716063"/>
            <a:ext cx="1100100" cy="10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6126"/>
              <a:buFont typeface="Microsoft JhengHei"/>
              <a:buNone/>
            </a:pPr>
            <a:r>
              <a:rPr sz="6126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  <a:endParaRPr sz="2118"/>
          </a:p>
        </p:txBody>
      </p:sp>
      <p:sp>
        <p:nvSpPr>
          <p:cNvPr id="230" name="Google Shape;230;p12">
            <a:extLst xmlns:a="http://schemas.openxmlformats.org/drawingml/2006/main">
              <a:ext uri="{FF2B5EF4-FFF2-40B4-BE49-F238E27FC236}">
                <a16:creationId xmlns:a16="http://schemas.microsoft.com/office/drawing/2014/main" id="{0777BD17-505E-4036-9B17-04074627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795" y="3851600"/>
            <a:ext cx="1540200" cy="4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702"/>
              <a:buFont typeface="Microsoft JhengHei"/>
              <a:buNone/>
            </a:pPr>
            <a:r>
              <a:rPr sz="1702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NOW</a:t>
            </a:r>
            <a:endParaRPr sz="2118"/>
          </a:p>
        </p:txBody>
      </p:sp>
      <p:sp>
        <p:nvSpPr>
          <p:cNvPr id="231" name="Google Shape;231;p12">
            <a:extLst xmlns:a="http://schemas.openxmlformats.org/drawingml/2006/main">
              <a:ext uri="{FF2B5EF4-FFF2-40B4-BE49-F238E27FC236}">
                <a16:creationId xmlns:a16="http://schemas.microsoft.com/office/drawing/2014/main" id="{2D5379F3-F6AC-4E56-9651-363B84C3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795" y="4543170"/>
            <a:ext cx="6160200" cy="14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定義問題 · 拆解需求</a:t>
            </a:r>
            <a:endParaRPr sz="2118"/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驗證品質 · 承擔結果</a:t>
            </a:r>
            <a:endParaRPr sz="2118"/>
          </a:p>
        </p:txBody>
      </p:sp>
    </p:spTree>
    <p:extLst>
      <p:ext uri="{BB962C8B-B14F-4D97-AF65-F5344CB8AC3E}">
        <p14:creationId xmlns:p14="http://schemas.microsoft.com/office/powerpoint/2010/main" val="1724221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2" name="Rectangle 29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1" name="Rectangle 29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0" name="Rectangle 28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9" name="Rectangle 28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Google Shape;237;p13">
            <a:extLst xmlns:a="http://schemas.openxmlformats.org/drawingml/2006/main">
              <a:ext uri="{FF2B5EF4-FFF2-40B4-BE49-F238E27FC236}">
                <a16:creationId xmlns:a16="http://schemas.microsoft.com/office/drawing/2014/main" id="{01C55CE7-A0A6-479D-AA3C-8096D863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>
            <a:extLst xmlns:a="http://schemas.openxmlformats.org/drawingml/2006/main">
              <a:ext uri="{FF2B5EF4-FFF2-40B4-BE49-F238E27FC236}">
                <a16:creationId xmlns:a16="http://schemas.microsoft.com/office/drawing/2014/main" id="{8E29D238-B549-4797-A01F-A63270FC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123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C</a:t>
            </a:r>
            <a:endParaRPr/>
          </a:p>
        </p:txBody>
      </p:sp>
      <p:sp>
        <p:nvSpPr>
          <p:cNvPr id="239" name="Google Shape;239;p13">
            <a:extLst xmlns:a="http://schemas.openxmlformats.org/drawingml/2006/main">
              <a:ext uri="{FF2B5EF4-FFF2-40B4-BE49-F238E27FC236}">
                <a16:creationId xmlns:a16="http://schemas.microsoft.com/office/drawing/2014/main" id="{0B1130F8-7CCE-4104-8D0F-96523031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47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五項工程選擇，讓系統能持續運作</a:t>
            </a:r>
            <a:endParaRPr/>
          </a:p>
        </p:txBody>
      </p:sp>
      <p:sp>
        <p:nvSpPr>
          <p:cNvPr id="240" name="Google Shape;240;p13">
            <a:extLst xmlns:a="http://schemas.openxmlformats.org/drawingml/2006/main">
              <a:ext uri="{FF2B5EF4-FFF2-40B4-BE49-F238E27FC236}">
                <a16:creationId xmlns:a16="http://schemas.microsoft.com/office/drawing/2014/main" id="{C8A9B6DE-C9CF-44A4-82BD-B588406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96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  <a:endParaRPr/>
          </a:p>
        </p:txBody>
      </p:sp>
      <p:sp>
        <p:nvSpPr>
          <p:cNvPr id="241" name="Google Shape;241;p13">
            <a:extLst xmlns:a="http://schemas.openxmlformats.org/drawingml/2006/main">
              <a:ext uri="{FF2B5EF4-FFF2-40B4-BE49-F238E27FC236}">
                <a16:creationId xmlns:a16="http://schemas.microsoft.com/office/drawing/2014/main" id="{03D77F2E-82EA-4FE2-BD0C-1D21FE35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051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>
            <a:extLst xmlns:a="http://schemas.openxmlformats.org/drawingml/2006/main">
              <a:ext uri="{FF2B5EF4-FFF2-40B4-BE49-F238E27FC236}">
                <a16:creationId xmlns:a16="http://schemas.microsoft.com/office/drawing/2014/main" id="{DB958062-3506-4343-B466-C4EDE790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面向</a:t>
            </a:r>
            <a:endParaRPr/>
          </a:p>
        </p:txBody>
      </p:sp>
      <p:sp>
        <p:nvSpPr>
          <p:cNvPr id="243" name="Google Shape;243;p13">
            <a:extLst xmlns:a="http://schemas.openxmlformats.org/drawingml/2006/main">
              <a:ext uri="{FF2B5EF4-FFF2-40B4-BE49-F238E27FC236}">
                <a16:creationId xmlns:a16="http://schemas.microsoft.com/office/drawing/2014/main" id="{A966912F-ECE7-48DF-9280-30C3680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05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>
            <a:extLst xmlns:a="http://schemas.openxmlformats.org/drawingml/2006/main">
              <a:ext uri="{FF2B5EF4-FFF2-40B4-BE49-F238E27FC236}">
                <a16:creationId xmlns:a16="http://schemas.microsoft.com/office/drawing/2014/main" id="{43E9790E-B1A5-4A82-B3F7-8468B7D9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28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我的選擇</a:t>
            </a:r>
            <a:endParaRPr/>
          </a:p>
        </p:txBody>
      </p:sp>
      <p:sp>
        <p:nvSpPr>
          <p:cNvPr id="245" name="Google Shape;245;p13">
            <a:extLst xmlns:a="http://schemas.openxmlformats.org/drawingml/2006/main">
              <a:ext uri="{FF2B5EF4-FFF2-40B4-BE49-F238E27FC236}">
                <a16:creationId xmlns:a16="http://schemas.microsoft.com/office/drawing/2014/main" id="{113645D6-E973-40E5-A807-3BCF264B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05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>
            <a:extLst xmlns:a="http://schemas.openxmlformats.org/drawingml/2006/main">
              <a:ext uri="{FF2B5EF4-FFF2-40B4-BE49-F238E27FC236}">
                <a16:creationId xmlns:a16="http://schemas.microsoft.com/office/drawing/2014/main" id="{DC8BEAE8-207B-4A88-8A53-4A40851F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289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技術組合</a:t>
            </a:r>
            <a:endParaRPr/>
          </a:p>
        </p:txBody>
      </p:sp>
      <p:sp>
        <p:nvSpPr>
          <p:cNvPr id="247" name="Google Shape;247;p13">
            <a:extLst xmlns:a="http://schemas.openxmlformats.org/drawingml/2006/main">
              <a:ext uri="{FF2B5EF4-FFF2-40B4-BE49-F238E27FC236}">
                <a16:creationId xmlns:a16="http://schemas.microsoft.com/office/drawing/2014/main" id="{BC8907CB-C780-48AB-B232-3ABCAF1F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051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>
            <a:extLst xmlns:a="http://schemas.openxmlformats.org/drawingml/2006/main">
              <a:ext uri="{FF2B5EF4-FFF2-40B4-BE49-F238E27FC236}">
                <a16:creationId xmlns:a16="http://schemas.microsoft.com/office/drawing/2014/main" id="{A85DCE1B-F712-489E-B11C-8273AE67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目的</a:t>
            </a:r>
            <a:endParaRPr/>
          </a:p>
        </p:txBody>
      </p:sp>
      <p:sp>
        <p:nvSpPr>
          <p:cNvPr id="249" name="Google Shape;249;p13">
            <a:extLst xmlns:a="http://schemas.openxmlformats.org/drawingml/2006/main">
              <a:ext uri="{FF2B5EF4-FFF2-40B4-BE49-F238E27FC236}">
                <a16:creationId xmlns:a16="http://schemas.microsoft.com/office/drawing/2014/main" id="{5F4E3E45-CA1E-4EDC-B3B4-586F60F6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>
            <a:extLst xmlns:a="http://schemas.openxmlformats.org/drawingml/2006/main">
              <a:ext uri="{FF2B5EF4-FFF2-40B4-BE49-F238E27FC236}">
                <a16:creationId xmlns:a16="http://schemas.microsoft.com/office/drawing/2014/main" id="{54CFEA73-2F55-42A2-962D-41C80AE1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帳號與權限</a:t>
            </a:r>
            <a:endParaRPr/>
          </a:p>
        </p:txBody>
      </p:sp>
      <p:sp>
        <p:nvSpPr>
          <p:cNvPr id="251" name="Google Shape;251;p13">
            <a:extLst xmlns:a="http://schemas.openxmlformats.org/drawingml/2006/main">
              <a:ext uri="{FF2B5EF4-FFF2-40B4-BE49-F238E27FC236}">
                <a16:creationId xmlns:a16="http://schemas.microsoft.com/office/drawing/2014/main" id="{3EE5A29B-1D00-40E5-9986-7064E222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>
            <a:extLst xmlns:a="http://schemas.openxmlformats.org/drawingml/2006/main">
              <a:ext uri="{FF2B5EF4-FFF2-40B4-BE49-F238E27FC236}">
                <a16:creationId xmlns:a16="http://schemas.microsoft.com/office/drawing/2014/main" id="{66D08D99-5938-4857-947C-E7B57207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依角色控管功能</a:t>
            </a:r>
            <a:endParaRPr/>
          </a:p>
        </p:txBody>
      </p:sp>
      <p:sp>
        <p:nvSpPr>
          <p:cNvPr id="253" name="Google Shape;253;p13">
            <a:extLst xmlns:a="http://schemas.openxmlformats.org/drawingml/2006/main">
              <a:ext uri="{FF2B5EF4-FFF2-40B4-BE49-F238E27FC236}">
                <a16:creationId xmlns:a16="http://schemas.microsoft.com/office/drawing/2014/main" id="{3A16095D-162A-4A73-89F7-626A5CDE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62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>
            <a:extLst xmlns:a="http://schemas.openxmlformats.org/drawingml/2006/main">
              <a:ext uri="{FF2B5EF4-FFF2-40B4-BE49-F238E27FC236}">
                <a16:creationId xmlns:a16="http://schemas.microsoft.com/office/drawing/2014/main" id="{9F4004C3-CC95-40FB-B726-F6F0F892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147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JWT／中介層</a:t>
            </a:r>
            <a:endParaRPr/>
          </a:p>
        </p:txBody>
      </p:sp>
      <p:sp>
        <p:nvSpPr>
          <p:cNvPr id="255" name="Google Shape;255;p13">
            <a:extLst xmlns:a="http://schemas.openxmlformats.org/drawingml/2006/main">
              <a:ext uri="{FF2B5EF4-FFF2-40B4-BE49-F238E27FC236}">
                <a16:creationId xmlns:a16="http://schemas.microsoft.com/office/drawing/2014/main" id="{E2BD9130-7F9C-477E-9B39-584417D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3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>
            <a:extLst xmlns:a="http://schemas.openxmlformats.org/drawingml/2006/main">
              <a:ext uri="{FF2B5EF4-FFF2-40B4-BE49-F238E27FC236}">
                <a16:creationId xmlns:a16="http://schemas.microsoft.com/office/drawing/2014/main" id="{14A4963A-8517-4330-B05D-8B55450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區分學生與管理功能</a:t>
            </a:r>
            <a:endParaRPr/>
          </a:p>
        </p:txBody>
      </p:sp>
      <p:sp>
        <p:nvSpPr>
          <p:cNvPr id="257" name="Google Shape;257;p13">
            <a:extLst xmlns:a="http://schemas.openxmlformats.org/drawingml/2006/main">
              <a:ext uri="{FF2B5EF4-FFF2-40B4-BE49-F238E27FC236}">
                <a16:creationId xmlns:a16="http://schemas.microsoft.com/office/drawing/2014/main" id="{5EE2FDB0-491E-48BA-9609-4D076230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100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>
            <a:extLst xmlns:a="http://schemas.openxmlformats.org/drawingml/2006/main">
              <a:ext uri="{FF2B5EF4-FFF2-40B4-BE49-F238E27FC236}">
                <a16:creationId xmlns:a16="http://schemas.microsoft.com/office/drawing/2014/main" id="{2D12EF1E-A0CE-4592-9BED-AF2F4F34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624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學習資料</a:t>
            </a:r>
            <a:endParaRPr/>
          </a:p>
        </p:txBody>
      </p:sp>
      <p:sp>
        <p:nvSpPr>
          <p:cNvPr id="259" name="Google Shape;259;p13">
            <a:extLst xmlns:a="http://schemas.openxmlformats.org/drawingml/2006/main">
              <a:ext uri="{FF2B5EF4-FFF2-40B4-BE49-F238E27FC236}">
                <a16:creationId xmlns:a16="http://schemas.microsoft.com/office/drawing/2014/main" id="{89D2272F-DF50-4D8A-9B08-3E3B3B72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100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>
            <a:extLst xmlns:a="http://schemas.openxmlformats.org/drawingml/2006/main">
              <a:ext uri="{FF2B5EF4-FFF2-40B4-BE49-F238E27FC236}">
                <a16:creationId xmlns:a16="http://schemas.microsoft.com/office/drawing/2014/main" id="{DECBF243-BACC-4BB4-9457-1BC56684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以三個資料庫分工</a:t>
            </a:r>
            <a:endParaRPr/>
          </a:p>
        </p:txBody>
      </p:sp>
      <p:sp>
        <p:nvSpPr>
          <p:cNvPr id="261" name="Google Shape;261;p13">
            <a:extLst xmlns:a="http://schemas.openxmlformats.org/drawingml/2006/main">
              <a:ext uri="{FF2B5EF4-FFF2-40B4-BE49-F238E27FC236}">
                <a16:creationId xmlns:a16="http://schemas.microsoft.com/office/drawing/2014/main" id="{41240370-5602-44A4-B84F-C097D6B0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100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>
            <a:extLst xmlns:a="http://schemas.openxmlformats.org/drawingml/2006/main">
              <a:ext uri="{FF2B5EF4-FFF2-40B4-BE49-F238E27FC236}">
                <a16:creationId xmlns:a16="http://schemas.microsoft.com/office/drawing/2014/main" id="{62B03D16-2791-46B4-8042-DEA2F7A0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624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SQLite 三庫</a:t>
            </a:r>
            <a:endParaRPr/>
          </a:p>
        </p:txBody>
      </p:sp>
      <p:sp>
        <p:nvSpPr>
          <p:cNvPr id="263" name="Google Shape;263;p13">
            <a:extLst xmlns:a="http://schemas.openxmlformats.org/drawingml/2006/main">
              <a:ext uri="{FF2B5EF4-FFF2-40B4-BE49-F238E27FC236}">
                <a16:creationId xmlns:a16="http://schemas.microsoft.com/office/drawing/2014/main" id="{F5A237C6-B27E-4F7A-AC82-EE9070C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>
            <a:extLst xmlns:a="http://schemas.openxmlformats.org/drawingml/2006/main">
              <a:ext uri="{FF2B5EF4-FFF2-40B4-BE49-F238E27FC236}">
                <a16:creationId xmlns:a16="http://schemas.microsoft.com/office/drawing/2014/main" id="{E6E58A66-611D-4E37-B0F9-729AD53C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快速部署並降低耦合</a:t>
            </a:r>
            <a:endParaRPr/>
          </a:p>
        </p:txBody>
      </p:sp>
      <p:sp>
        <p:nvSpPr>
          <p:cNvPr id="265" name="Google Shape;265;p13">
            <a:extLst xmlns:a="http://schemas.openxmlformats.org/drawingml/2006/main">
              <a:ext uri="{FF2B5EF4-FFF2-40B4-BE49-F238E27FC236}">
                <a16:creationId xmlns:a16="http://schemas.microsoft.com/office/drawing/2014/main" id="{96BDBCCA-ADBE-4A50-BC00-1E5E3EA0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577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>
            <a:extLst xmlns:a="http://schemas.openxmlformats.org/drawingml/2006/main">
              <a:ext uri="{FF2B5EF4-FFF2-40B4-BE49-F238E27FC236}">
                <a16:creationId xmlns:a16="http://schemas.microsoft.com/office/drawing/2014/main" id="{D10FE56B-84BB-4D9F-BB13-D2187BBE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內容匯入</a:t>
            </a:r>
            <a:endParaRPr/>
          </a:p>
        </p:txBody>
      </p:sp>
      <p:sp>
        <p:nvSpPr>
          <p:cNvPr id="267" name="Google Shape;267;p13">
            <a:extLst xmlns:a="http://schemas.openxmlformats.org/drawingml/2006/main">
              <a:ext uri="{FF2B5EF4-FFF2-40B4-BE49-F238E27FC236}">
                <a16:creationId xmlns:a16="http://schemas.microsoft.com/office/drawing/2014/main" id="{F9C260C0-6ED0-4FB8-9612-FC8C7100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57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>
            <a:extLst xmlns:a="http://schemas.openxmlformats.org/drawingml/2006/main">
              <a:ext uri="{FF2B5EF4-FFF2-40B4-BE49-F238E27FC236}">
                <a16:creationId xmlns:a16="http://schemas.microsoft.com/office/drawing/2014/main" id="{B2470172-744D-4240-8D3A-98735A3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辨識後進入三階段審查</a:t>
            </a:r>
            <a:endParaRPr/>
          </a:p>
        </p:txBody>
      </p:sp>
      <p:sp>
        <p:nvSpPr>
          <p:cNvPr id="269" name="Google Shape;269;p13">
            <a:extLst xmlns:a="http://schemas.openxmlformats.org/drawingml/2006/main">
              <a:ext uri="{FF2B5EF4-FFF2-40B4-BE49-F238E27FC236}">
                <a16:creationId xmlns:a16="http://schemas.microsoft.com/office/drawing/2014/main" id="{B67F6C93-0F6F-4BD1-877E-3BA372DF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77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>
            <a:extLst xmlns:a="http://schemas.openxmlformats.org/drawingml/2006/main">
              <a:ext uri="{FF2B5EF4-FFF2-40B4-BE49-F238E27FC236}">
                <a16:creationId xmlns:a16="http://schemas.microsoft.com/office/drawing/2014/main" id="{1BBC4FE1-B021-4AE8-BA9E-C9F96690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OCR／Gemini</a:t>
            </a:r>
            <a:endParaRPr/>
          </a:p>
        </p:txBody>
      </p:sp>
      <p:sp>
        <p:nvSpPr>
          <p:cNvPr id="271" name="Google Shape;271;p13">
            <a:extLst xmlns:a="http://schemas.openxmlformats.org/drawingml/2006/main">
              <a:ext uri="{FF2B5EF4-FFF2-40B4-BE49-F238E27FC236}">
                <a16:creationId xmlns:a16="http://schemas.microsoft.com/office/drawing/2014/main" id="{8AD9CE28-1659-41BB-A0DD-86121355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577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>
            <a:extLst xmlns:a="http://schemas.openxmlformats.org/drawingml/2006/main">
              <a:ext uri="{FF2B5EF4-FFF2-40B4-BE49-F238E27FC236}">
                <a16:creationId xmlns:a16="http://schemas.microsoft.com/office/drawing/2014/main" id="{00FBCE27-EF25-419A-A2BA-A7E5CD71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101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多資料來源，審查後再入庫</a:t>
            </a:r>
            <a:endParaRPr/>
          </a:p>
        </p:txBody>
      </p:sp>
      <p:sp>
        <p:nvSpPr>
          <p:cNvPr id="273" name="Google Shape;273;p13">
            <a:extLst xmlns:a="http://schemas.openxmlformats.org/drawingml/2006/main">
              <a:ext uri="{FF2B5EF4-FFF2-40B4-BE49-F238E27FC236}">
                <a16:creationId xmlns:a16="http://schemas.microsoft.com/office/drawing/2014/main" id="{3F441EB6-AA31-411E-B60F-9A9E22B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>
            <a:extLst xmlns:a="http://schemas.openxmlformats.org/drawingml/2006/main">
              <a:ext uri="{FF2B5EF4-FFF2-40B4-BE49-F238E27FC236}">
                <a16:creationId xmlns:a16="http://schemas.microsoft.com/office/drawing/2014/main" id="{DB89A8DD-585F-4AF4-99D3-CAB5580D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發音服務</a:t>
            </a:r>
            <a:endParaRPr/>
          </a:p>
        </p:txBody>
      </p:sp>
      <p:sp>
        <p:nvSpPr>
          <p:cNvPr id="275" name="Google Shape;275;p13">
            <a:extLst xmlns:a="http://schemas.openxmlformats.org/drawingml/2006/main">
              <a:ext uri="{FF2B5EF4-FFF2-40B4-BE49-F238E27FC236}">
                <a16:creationId xmlns:a16="http://schemas.microsoft.com/office/drawing/2014/main" id="{46F993C6-0E8C-4B98-A928-A73A95A0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05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>
            <a:extLst xmlns:a="http://schemas.openxmlformats.org/drawingml/2006/main">
              <a:ext uri="{FF2B5EF4-FFF2-40B4-BE49-F238E27FC236}">
                <a16:creationId xmlns:a16="http://schemas.microsoft.com/office/drawing/2014/main" id="{7E1AF132-2313-462F-B45F-A481B37D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578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字典音源優先，TTS 備援</a:t>
            </a:r>
            <a:endParaRPr/>
          </a:p>
        </p:txBody>
      </p:sp>
      <p:sp>
        <p:nvSpPr>
          <p:cNvPr id="277" name="Google Shape;277;p13">
            <a:extLst xmlns:a="http://schemas.openxmlformats.org/drawingml/2006/main">
              <a:ext uri="{FF2B5EF4-FFF2-40B4-BE49-F238E27FC236}">
                <a16:creationId xmlns:a16="http://schemas.microsoft.com/office/drawing/2014/main" id="{D130032C-D8DE-4491-A89E-2835F709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054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>
            <a:extLst xmlns:a="http://schemas.openxmlformats.org/drawingml/2006/main">
              <a:ext uri="{FF2B5EF4-FFF2-40B4-BE49-F238E27FC236}">
                <a16:creationId xmlns:a16="http://schemas.microsoft.com/office/drawing/2014/main" id="{216B34B9-2A4A-4FE6-932D-C1F5DE2B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快取／fallback</a:t>
            </a:r>
            <a:endParaRPr/>
          </a:p>
        </p:txBody>
      </p:sp>
      <p:sp>
        <p:nvSpPr>
          <p:cNvPr id="279" name="Google Shape;279;p13">
            <a:extLst xmlns:a="http://schemas.openxmlformats.org/drawingml/2006/main">
              <a:ext uri="{FF2B5EF4-FFF2-40B4-BE49-F238E27FC236}">
                <a16:creationId xmlns:a16="http://schemas.microsoft.com/office/drawing/2014/main" id="{6FFB4266-17D5-474F-8534-F73CB241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054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>
            <a:extLst xmlns:a="http://schemas.openxmlformats.org/drawingml/2006/main">
              <a:ext uri="{FF2B5EF4-FFF2-40B4-BE49-F238E27FC236}">
                <a16:creationId xmlns:a16="http://schemas.microsoft.com/office/drawing/2014/main" id="{13EE818B-E990-4059-8397-9AFA16F6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兼顧正確性與可用性</a:t>
            </a:r>
            <a:endParaRPr/>
          </a:p>
        </p:txBody>
      </p:sp>
      <p:sp>
        <p:nvSpPr>
          <p:cNvPr id="281" name="Google Shape;281;p13">
            <a:extLst xmlns:a="http://schemas.openxmlformats.org/drawingml/2006/main">
              <a:ext uri="{FF2B5EF4-FFF2-40B4-BE49-F238E27FC236}">
                <a16:creationId xmlns:a16="http://schemas.microsoft.com/office/drawing/2014/main" id="{8606648C-FFC9-4280-B7B8-ABB71E5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531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>
            <a:extLst xmlns:a="http://schemas.openxmlformats.org/drawingml/2006/main">
              <a:ext uri="{FF2B5EF4-FFF2-40B4-BE49-F238E27FC236}">
                <a16:creationId xmlns:a16="http://schemas.microsoft.com/office/drawing/2014/main" id="{5B4A30B8-9B39-477B-B98A-1CA582C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公開部署</a:t>
            </a:r>
            <a:endParaRPr/>
          </a:p>
        </p:txBody>
      </p:sp>
      <p:sp>
        <p:nvSpPr>
          <p:cNvPr id="283" name="Google Shape;283;p13">
            <a:extLst xmlns:a="http://schemas.openxmlformats.org/drawingml/2006/main">
              <a:ext uri="{FF2B5EF4-FFF2-40B4-BE49-F238E27FC236}">
                <a16:creationId xmlns:a16="http://schemas.microsoft.com/office/drawing/2014/main" id="{A2AD2C85-904B-4E1E-9532-7B5F6DC5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531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>
            <a:extLst xmlns:a="http://schemas.openxmlformats.org/drawingml/2006/main">
              <a:ext uri="{FF2B5EF4-FFF2-40B4-BE49-F238E27FC236}">
                <a16:creationId xmlns:a16="http://schemas.microsoft.com/office/drawing/2014/main" id="{EAB67592-16E8-4FCE-A262-9E84B0A6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05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將服務部署至公開網域</a:t>
            </a:r>
            <a:endParaRPr/>
          </a:p>
        </p:txBody>
      </p:sp>
      <p:sp>
        <p:nvSpPr>
          <p:cNvPr id="285" name="Google Shape;285;p13">
            <a:extLst xmlns:a="http://schemas.openxmlformats.org/drawingml/2006/main">
              <a:ext uri="{FF2B5EF4-FFF2-40B4-BE49-F238E27FC236}">
                <a16:creationId xmlns:a16="http://schemas.microsoft.com/office/drawing/2014/main" id="{F077DEB7-EF3D-4E41-9F2F-BA31C426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7531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>
            <a:extLst xmlns:a="http://schemas.openxmlformats.org/drawingml/2006/main">
              <a:ext uri="{FF2B5EF4-FFF2-40B4-BE49-F238E27FC236}">
                <a16:creationId xmlns:a16="http://schemas.microsoft.com/office/drawing/2014/main" id="{C05D4EE3-EEBC-4F5B-A63C-B36DF43F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055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Nginx</a:t>
            </a: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／DuckDNS</a:t>
            </a:r>
            <a:endParaRPr/>
          </a:p>
        </p:txBody>
      </p:sp>
      <p:sp>
        <p:nvSpPr>
          <p:cNvPr id="287" name="Google Shape;287;p13">
            <a:extLst xmlns:a="http://schemas.openxmlformats.org/drawingml/2006/main">
              <a:ext uri="{FF2B5EF4-FFF2-40B4-BE49-F238E27FC236}">
                <a16:creationId xmlns:a16="http://schemas.microsoft.com/office/drawing/2014/main" id="{4DDBED11-B5F0-4C43-95D8-C4EFA6CC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531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>
            <a:extLst xmlns:a="http://schemas.openxmlformats.org/drawingml/2006/main">
              <a:ext uri="{FF2B5EF4-FFF2-40B4-BE49-F238E27FC236}">
                <a16:creationId xmlns:a16="http://schemas.microsoft.com/office/drawing/2014/main" id="{DA6EE686-41DB-4646-8B28-A34C9C11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支援多裝置使用與快速迭代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1348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3" name="Rectangle 4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F182B30-DE8F-465F-84A1-AFEA96F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14978FD9-9454-4AEC-A6BB-EFAC41B0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" name="Google Shape;1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d4ea0e7a6c4830">
            <a:alphaModFix/>
          </a:blip>
          <a:srcRect xmlns:a="http://schemas.openxmlformats.org/drawingml/2006/main" l="9676" t="10268" r="11528" b="12583"/>
          <a:stretch xmlns:a="http://schemas.openxmlformats.org/drawingml/2006/main"/>
        </p:blipFill>
        <p:spPr>
          <a:xfrm xmlns:a="http://schemas.openxmlformats.org/drawingml/2006/main">
            <a:off x="2171925" y="2675013"/>
            <a:ext cx="1275900" cy="12492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C6682B19-CDED-4555-BCA0-462F38E0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75" y="3972000"/>
            <a:ext cx="1885800" cy="4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  <a:endParaRPr/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29FC837-9834-4F3D-BC6D-759F24F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9225" y="4410000"/>
            <a:ext cx="10413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EE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公開服務</a:t>
            </a:r>
            <a:endParaRPr/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48C22397-1CF3-4641-80E7-F1030312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81200"/>
            <a:ext cx="6875700" cy="17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歡迎實際使用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cxnSp>
        <p:nvCxnSpPr>
          <p:cNvPr id="39" name="Google Shape;22;p3"/>
          <p:cNvCxnSpPr/>
          <p:nvPr/>
        </p:nvCxnSpPr>
        <p:spPr>
          <a:xfrm xmlns:a="http://schemas.openxmlformats.org/drawingml/2006/main">
            <a:off x="5562600" y="5257800"/>
            <a:ext cx="581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373A7D9B-64A0-4957-9BD5-2325938F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72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 u="sng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  <a:hlinkClick xmlns:r="http://schemas.openxmlformats.org/officeDocument/2006/relationships" r:id="Re9fa26aec1b34eed"/>
              </a:rPr>
              <a:t>words.ytconch.duckdns.org</a:t>
            </a:r>
            <a:endParaRPr/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點擊網址，體驗完整學習流程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2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2026-08-18T05:17:13.7880000Z</dcterms:created>
  <dcterms:modified xsi:type="dcterms:W3CDTF">2026-08-18T05:17:13.7880000Z</dcterms:modified>
</coreProperties>
</file>