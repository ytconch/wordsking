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38173968374972" /><Relationship Type="http://schemas.openxmlformats.org/officeDocument/2006/relationships/extended-properties" Target="/docProps/app.xml" Id="R004b9e0a786f421c" /><Relationship Type="http://schemas.openxmlformats.org/officeDocument/2006/relationships/officeDocument" Target="/ppt/presentation.xml" Id="R39f472e41bb946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365751c9724cf9"/>
  </p:sldMasterIdLst>
  <p:notesMasterIdLst>
    <p:notesMasterId xmlns:r="http://schemas.openxmlformats.org/officeDocument/2006/relationships" r:id="Rd81de93c6fe74d55"/>
  </p:notesMasterIdLst>
  <p:sldIdLst>
    <p:sldId xmlns:r="http://schemas.openxmlformats.org/officeDocument/2006/relationships" id="256" r:id="R148050ce9dbc4f25"/>
    <p:sldId xmlns:r="http://schemas.openxmlformats.org/officeDocument/2006/relationships" id="257" r:id="R99b20464ee244746"/>
    <p:sldId xmlns:r="http://schemas.openxmlformats.org/officeDocument/2006/relationships" id="258" r:id="Rd4b20760db8f4984"/>
    <p:sldId xmlns:r="http://schemas.openxmlformats.org/officeDocument/2006/relationships" id="259" r:id="Rf8f01b112e14406d"/>
    <p:sldId xmlns:r="http://schemas.openxmlformats.org/officeDocument/2006/relationships" id="260" r:id="R03d08e59798142ac"/>
    <p:sldId xmlns:r="http://schemas.openxmlformats.org/officeDocument/2006/relationships" id="261" r:id="R367931eba7444817"/>
    <p:sldId xmlns:r="http://schemas.openxmlformats.org/officeDocument/2006/relationships" id="262" r:id="Rbf579a66f3b147d9"/>
    <p:sldId xmlns:r="http://schemas.openxmlformats.org/officeDocument/2006/relationships" id="263" r:id="R1c69d810027f441f"/>
    <p:sldId xmlns:r="http://schemas.openxmlformats.org/officeDocument/2006/relationships" id="264" r:id="R39232138c3e44950"/>
    <p:sldId xmlns:r="http://schemas.openxmlformats.org/officeDocument/2006/relationships" id="265" r:id="Rf358bbf936bb495b"/>
    <p:sldId xmlns:r="http://schemas.openxmlformats.org/officeDocument/2006/relationships" id="266" r:id="R5ed37441bc7745dd"/>
    <p:sldId xmlns:r="http://schemas.openxmlformats.org/officeDocument/2006/relationships" id="267" r:id="R4297365d1d71492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99359abd7a40f6" /><Relationship Type="http://schemas.openxmlformats.org/officeDocument/2006/relationships/slideMaster" Target="/ppt/slideMasters/slideMaster1.xml" Id="R07365751c9724cf9" /><Relationship Type="http://schemas.openxmlformats.org/officeDocument/2006/relationships/notesMaster" Target="/ppt/notesMasters/notesMaster1.xml" Id="Rd81de93c6fe74d55" /><Relationship Type="http://schemas.openxmlformats.org/officeDocument/2006/relationships/presProps" Target="/ppt/presProps.xml" Id="R01fc92e4196948a0" /><Relationship Type="http://schemas.openxmlformats.org/officeDocument/2006/relationships/tableStyles" Target="/ppt/tableStyles.xml" Id="Rcfc9808cbeed4f72" /><Relationship Type="http://schemas.openxmlformats.org/officeDocument/2006/relationships/slide" Target="/ppt/slides/slide1.xml" Id="R148050ce9dbc4f25" /><Relationship Type="http://schemas.openxmlformats.org/officeDocument/2006/relationships/slide" Target="/ppt/slides/slide2.xml" Id="R99b20464ee244746" /><Relationship Type="http://schemas.openxmlformats.org/officeDocument/2006/relationships/slide" Target="/ppt/slides/slide3.xml" Id="Rd4b20760db8f4984" /><Relationship Type="http://schemas.openxmlformats.org/officeDocument/2006/relationships/slide" Target="/ppt/slides/slide4.xml" Id="Rf8f01b112e14406d" /><Relationship Type="http://schemas.openxmlformats.org/officeDocument/2006/relationships/slide" Target="/ppt/slides/slide5.xml" Id="R03d08e59798142ac" /><Relationship Type="http://schemas.openxmlformats.org/officeDocument/2006/relationships/slide" Target="/ppt/slides/slide6.xml" Id="R367931eba7444817" /><Relationship Type="http://schemas.openxmlformats.org/officeDocument/2006/relationships/slide" Target="/ppt/slides/slide7.xml" Id="Rbf579a66f3b147d9" /><Relationship Type="http://schemas.openxmlformats.org/officeDocument/2006/relationships/slide" Target="/ppt/slides/slide8.xml" Id="R1c69d810027f441f" /><Relationship Type="http://schemas.openxmlformats.org/officeDocument/2006/relationships/slide" Target="/ppt/slides/slide9.xml" Id="R39232138c3e44950" /><Relationship Type="http://schemas.openxmlformats.org/officeDocument/2006/relationships/slide" Target="/ppt/slides/slide10.xml" Id="Rf358bbf936bb495b" /><Relationship Type="http://schemas.openxmlformats.org/officeDocument/2006/relationships/slide" Target="/ppt/slides/slide11.xml" Id="R5ed37441bc7745dd" /><Relationship Type="http://schemas.openxmlformats.org/officeDocument/2006/relationships/slide" Target="/ppt/slides/slide12.xml" Id="R4297365d1d71492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e6586ca24c48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327b4603694760" /><Relationship Type="http://schemas.openxmlformats.org/officeDocument/2006/relationships/notesMaster" Target="/ppt/notesMasters/notesMaster1.xml" Id="R12a3d1e2bae549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11d8bc648864694" /><Relationship Type="http://schemas.openxmlformats.org/officeDocument/2006/relationships/notesMaster" Target="/ppt/notesMasters/notesMaster1.xml" Id="R536be0e9eb2c44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e9238cea794353" /><Relationship Type="http://schemas.openxmlformats.org/officeDocument/2006/relationships/notesMaster" Target="/ppt/notesMasters/notesMaster1.xml" Id="Rac1566aa218540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cf2b132be04003" /><Relationship Type="http://schemas.openxmlformats.org/officeDocument/2006/relationships/notesMaster" Target="/ppt/notesMasters/notesMaster1.xml" Id="R4aff2e8ef3b648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b80ec6a83440fc" /><Relationship Type="http://schemas.openxmlformats.org/officeDocument/2006/relationships/notesMaster" Target="/ppt/notesMasters/notesMaster1.xml" Id="R36bffadcd20943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a2d153322f840f6" /><Relationship Type="http://schemas.openxmlformats.org/officeDocument/2006/relationships/notesMaster" Target="/ppt/notesMasters/notesMaster1.xml" Id="Rd16630beeb5e4e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0bd568fa524198" /><Relationship Type="http://schemas.openxmlformats.org/officeDocument/2006/relationships/notesMaster" Target="/ppt/notesMasters/notesMaster1.xml" Id="R51265ac8d2c643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06e2e0c2bd4a43" /><Relationship Type="http://schemas.openxmlformats.org/officeDocument/2006/relationships/notesMaster" Target="/ppt/notesMasters/notesMaster1.xml" Id="R2ce24db0a44342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06706450664fce" /><Relationship Type="http://schemas.openxmlformats.org/officeDocument/2006/relationships/notesMaster" Target="/ppt/notesMasters/notesMaster1.xml" Id="R823d6825235746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c84125bb76f4f79" /><Relationship Type="http://schemas.openxmlformats.org/officeDocument/2006/relationships/notesMaster" Target="/ppt/notesMasters/notesMaster1.xml" Id="R4a324e4d5d94400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0669f244ece4f4d" /><Relationship Type="http://schemas.openxmlformats.org/officeDocument/2006/relationships/notesMaster" Target="/ppt/notesMasters/notesMaster1.xml" Id="R1057b0873db74a2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90a7356b5894c99" /><Relationship Type="http://schemas.openxmlformats.org/officeDocument/2006/relationships/notesMaster" Target="/ppt/notesMasters/notesMaster1.xml" Id="R6d25ef019d5a45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本專案識別與申請人資料。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Merriam-Webster — https://www.merriam-webster.com/dictionary/distribute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Oxford Advanced Learner's Dictionary — https://www.oxfordlearnersdictionaries.com/definition/english/distribute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本專案開發動機。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本專案開發紀錄。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本專案原始碼：server.js、src/routes、src/db、src/middleware、src/utils、public。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本專案展示畫面。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本專案功能流程與資料結構。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本專案 AI 匯入流程：scripts/image_word_pipeline.py、src/routes/import.js。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本專案資料庫統計，2026/08/15。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本專案發音服務與內容審查功能。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本專案學習反思、公開服務與未來規劃。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https://words.ytconch.duckdns.org/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本專案原始碼、資料庫分工與部署架構。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/>
              <a:t>- 本專案識別與申請人資料。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a40b7cf2194bc7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f7723f020c46af" /><Relationship Type="http://schemas.openxmlformats.org/officeDocument/2006/relationships/slideLayout" Target="/ppt/slideLayouts/slideLayout1.xml" Id="R0d0b1372a8eb4349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0b1372a8eb4349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1c576cb9ec46c1" /><Relationship Type="http://schemas.openxmlformats.org/officeDocument/2006/relationships/image" Target="/ppt/media/image.png" Id="R98a7012d63c7462b" /><Relationship Type="http://schemas.openxmlformats.org/officeDocument/2006/relationships/notesSlide" Target="/ppt/notesSlides/notesSlide1.xml" Id="R0a27bc06a73b4d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e51bc96874513" /><Relationship Type="http://schemas.openxmlformats.org/officeDocument/2006/relationships/notesSlide" Target="/ppt/notesSlides/notesSlide2.xml" Id="Rb8259dcc75924d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417fc045004e89" /><Relationship Type="http://schemas.openxmlformats.org/officeDocument/2006/relationships/notesSlide" Target="/ppt/notesSlides/notesSlide3.xml" Id="Ra7c8661cc9454a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3e3abde0d04d00" /><Relationship Type="http://schemas.openxmlformats.org/officeDocument/2006/relationships/notesSlide" Target="/ppt/notesSlides/notesSlide4.xml" Id="Racb7dcb299a94d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45e3af1bd4a8f" /><Relationship Type="http://schemas.openxmlformats.org/officeDocument/2006/relationships/image" Target="/ppt/media/image2.png" Id="R406eeb8e8d5c43a0" /><Relationship Type="http://schemas.openxmlformats.org/officeDocument/2006/relationships/image" Target="/ppt/media/image3.png" Id="R6a8961a5b1af47bf" /><Relationship Type="http://schemas.openxmlformats.org/officeDocument/2006/relationships/image" Target="/ppt/media/image4.png" Id="R8dfad4077b8746b3" /><Relationship Type="http://schemas.openxmlformats.org/officeDocument/2006/relationships/notesSlide" Target="/ppt/notesSlides/notesSlide5.xml" Id="Re0d11601c93140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23799b63e945c9" /><Relationship Type="http://schemas.openxmlformats.org/officeDocument/2006/relationships/notesSlide" Target="/ppt/notesSlides/notesSlide6.xml" Id="R4466fc5848104d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e7c2de7774d46" /><Relationship Type="http://schemas.openxmlformats.org/officeDocument/2006/relationships/image" Target="/ppt/media/image5.png" Id="R4a6ecdb6a1d841d6" /><Relationship Type="http://schemas.openxmlformats.org/officeDocument/2006/relationships/notesSlide" Target="/ppt/notesSlides/notesSlide7.xml" Id="R01b99283b63d44e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6f6ab5c19c43df" /><Relationship Type="http://schemas.openxmlformats.org/officeDocument/2006/relationships/notesSlide" Target="/ppt/notesSlides/notesSlide8.xml" Id="Rc10c488a44e14c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0099074994b9b" /><Relationship Type="http://schemas.openxmlformats.org/officeDocument/2006/relationships/notesSlide" Target="/ppt/notesSlides/notesSlide9.xml" Id="R96c3adfa8b3b43a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c579c5e0e14666" /><Relationship Type="http://schemas.openxmlformats.org/officeDocument/2006/relationships/notesSlide" Target="/ppt/notesSlides/notesSlide10.xml" Id="Rb9935a53286e49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e6781b9dc44edc" /><Relationship Type="http://schemas.openxmlformats.org/officeDocument/2006/relationships/notesSlide" Target="/ppt/notesSlides/notesSlide11.xml" Id="R88140503d05d44a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864fe623654f54" /><Relationship Type="http://schemas.openxmlformats.org/officeDocument/2006/relationships/image" Target="/ppt/media/image.png" Id="R1481ff7d8efd4c70" /><Relationship Type="http://schemas.openxmlformats.org/officeDocument/2006/relationships/notesSlide" Target="/ppt/notesSlides/notesSlide12.xml" Id="R76b563f5269141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EF182B30-DE8F-465F-84A1-AFEA96F0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14978FD9-9454-4AEC-A6BB-EFAC41B0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609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94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" name="Google Shape;18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8a7012d63c7462b">
            <a:alphaModFix/>
          </a:blip>
          <a:srcRect xmlns:a="http://schemas.openxmlformats.org/drawingml/2006/main" l="9676" t="10268" r="11528" b="12583"/>
          <a:stretch xmlns:a="http://schemas.openxmlformats.org/drawingml/2006/main"/>
        </p:blipFill>
        <p:spPr>
          <a:xfrm xmlns:a="http://schemas.openxmlformats.org/drawingml/2006/main">
            <a:off x="1409925" y="1913013"/>
            <a:ext cx="1275900" cy="124928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C6682B19-CDED-4555-BCA0-462F38E0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75" y="3210000"/>
            <a:ext cx="1885800" cy="4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Microsoft JhengHei"/>
              <a:buNone/>
            </a:pPr>
            <a:r>
              <a:rPr sz="21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WORDS KING</a:t>
            </a:r>
            <a:endParaRPr/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E29FC837-9834-4F3D-BC6D-759F24F9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225" y="3648000"/>
            <a:ext cx="10413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5EE"/>
              </a:buClr>
              <a:buSzPts val="1350"/>
              <a:buFont typeface="Microsoft JhengHei"/>
              <a:buNone/>
            </a:pPr>
            <a:r>
              <a:rPr sz="1350" b="0">
                <a:solidFill>
                  <a:srgbClr val="DCE5EE"/>
                </a:solidFill>
                <a:latin typeface="Microsoft JhengHei"/>
                <a:ea typeface="Microsoft JhengHei"/>
                <a:cs typeface="Microsoft JhengHei"/>
              </a:rPr>
              <a:t>專案作品報告</a:t>
            </a:r>
            <a:endParaRPr/>
          </a:p>
        </p:txBody>
      </p:sp>
      <p:sp>
        <p:nvSp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48C22397-1CF3-4641-80E7-F1030312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19200"/>
            <a:ext cx="6875700" cy="17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4575"/>
              <a:buFont typeface="Microsoft JhengHei"/>
              <a:buNone/>
            </a:pPr>
            <a:r>
              <a:rPr sz="45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從學習痛點出發</a:t>
            </a:r>
            <a:endParaRPr sz="4575" b="1">
              <a:solidFill>
                <a:srgbClr val="1F2D25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marL="0" marR="0" lv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4575"/>
              <a:buFont typeface="Microsoft JhengHei"/>
              <a:buNone/>
            </a:pPr>
            <a:r>
              <a:rPr sz="45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	建立單字學習網站。</a:t>
            </a:r>
            <a:endParaRPr sz="4575" b="1">
              <a:solidFill>
                <a:srgbClr val="1F2D25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marL="0" marR="0" lv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4575"/>
              <a:buFont typeface="Microsoft JhengHei"/>
              <a:buNone/>
            </a:pPr>
            <a:r>
              <a:t/>
            </a:r>
            <a:endParaRPr/>
          </a:p>
        </p:txBody>
      </p:sp>
      <p:cxnSp>
        <p:nvCxnSpPr>
          <p:cNvPr id="31" name="Google Shape;22;p3"/>
          <p:cNvCxnSpPr/>
          <p:nvPr/>
        </p:nvCxnSpPr>
        <p:spPr>
          <a:xfrm xmlns:a="http://schemas.openxmlformats.org/drawingml/2006/main">
            <a:off x="4800600" y="4495800"/>
            <a:ext cx="5810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CBD6C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" name="Google Shape;23;p3">
            <a:extLst xmlns:a="http://schemas.openxmlformats.org/drawingml/2006/main">
              <a:ext uri="{FF2B5EF4-FFF2-40B4-BE49-F238E27FC236}">
                <a16:creationId xmlns:a16="http://schemas.microsoft.com/office/drawing/2014/main" id="{373A7D9B-64A0-4957-9BD5-2325938F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10125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725"/>
              <a:buFont typeface="Microsoft JhengHei"/>
              <a:buNone/>
            </a:pPr>
            <a:r>
              <a: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詹秉睿</a:t>
            </a:r>
            <a:endParaRPr/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725"/>
              <a:buFont typeface="Microsoft JhengHei"/>
              <a:buNone/>
            </a:pPr>
            <a:r>
              <a: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清水高中 · 高三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8021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4">
            <a:extLst xmlns:a="http://schemas.openxmlformats.org/drawingml/2006/main">
              <a:ext uri="{FF2B5EF4-FFF2-40B4-BE49-F238E27FC236}">
                <a16:creationId xmlns:a16="http://schemas.microsoft.com/office/drawing/2014/main" id="{3350CDCD-2F4C-45D4-A0E1-86508A1A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>
            <a:extLst xmlns:a="http://schemas.openxmlformats.org/drawingml/2006/main">
              <a:ext uri="{FF2B5EF4-FFF2-40B4-BE49-F238E27FC236}">
                <a16:creationId xmlns:a16="http://schemas.microsoft.com/office/drawing/2014/main" id="{8B82BAAD-B14E-4A2B-8316-B0AE01B5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125"/>
              <a:buFont typeface="Microsoft JhengHei"/>
              <a:buNone/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ORIGIN</a:t>
            </a:r>
            <a:endParaRPr/>
          </a:p>
        </p:txBody>
      </p:sp>
      <p:sp>
        <p:nvSpPr>
          <p:cNvPr id="31" name="Google Shape;31;p4">
            <a:extLst xmlns:a="http://schemas.openxmlformats.org/drawingml/2006/main">
              <a:ext uri="{FF2B5EF4-FFF2-40B4-BE49-F238E27FC236}">
                <a16:creationId xmlns:a16="http://schemas.microsoft.com/office/drawing/2014/main" id="{8C656883-9603-4A5C-B28E-6F6AC524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3225"/>
              <a:buFont typeface="Microsoft JhengHei"/>
              <a:buNone/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我不想再逐字詢問 AI</a:t>
            </a:r>
            <a:endParaRPr/>
          </a:p>
        </p:txBody>
      </p:sp>
      <p:sp>
        <p:nvSpPr>
          <p:cNvPr id="32" name="Google Shape;32;p4">
            <a:extLst xmlns:a="http://schemas.openxmlformats.org/drawingml/2006/main">
              <a:ext uri="{FF2B5EF4-FFF2-40B4-BE49-F238E27FC236}">
                <a16:creationId xmlns:a16="http://schemas.microsoft.com/office/drawing/2014/main" id="{BA8082D0-4374-4A3C-B5A6-770CD49F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975"/>
              <a:buFont typeface="Microsoft JhengHei"/>
              <a:buNone/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  <a:endParaRPr/>
          </a:p>
        </p:txBody>
      </p:sp>
      <p:sp>
        <p:nvSpPr>
          <p:cNvPr id="33" name="Google Shape;33;p4">
            <a:extLst xmlns:a="http://schemas.openxmlformats.org/drawingml/2006/main">
              <a:ext uri="{FF2B5EF4-FFF2-40B4-BE49-F238E27FC236}">
                <a16:creationId xmlns:a16="http://schemas.microsoft.com/office/drawing/2014/main" id="{28009F63-77DA-4A13-AFD9-C1B0AD56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02B4E"/>
              </a:buClr>
              <a:buSzPts val="2175"/>
              <a:buFont typeface="Microsoft JhengHei"/>
              <a:buNone/>
            </a:pPr>
            <a:r>
              <a:rPr sz="217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以前，我會把每個單字逐一問 AI：</a:t>
            </a:r>
            <a:endParaRPr/>
          </a:p>
          <a:p xmlns:a="http://schemas.openxmlformats.org/drawingml/2006/main">
            <a:pPr marL="0" marR="0" lvl="0" indent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02B4E"/>
              </a:buClr>
              <a:buSzPts val="2175"/>
              <a:buFont typeface="Microsoft JhengHei"/>
              <a:buNone/>
            </a:pPr>
            <a:r>
              <a:rPr sz="217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它的拉丁字根是什麼？詞源如何演變？</a:t>
            </a:r>
            <a:endParaRPr/>
          </a:p>
        </p:txBody>
      </p:sp>
      <p:sp>
        <p:nvSpPr>
          <p:cNvPr id="34" name="Google Shape;34;p4">
            <a:extLst xmlns:a="http://schemas.openxmlformats.org/drawingml/2006/main">
              <a:ext uri="{FF2B5EF4-FFF2-40B4-BE49-F238E27FC236}">
                <a16:creationId xmlns:a16="http://schemas.microsoft.com/office/drawing/2014/main" id="{B2E91261-6974-4A96-A625-28F976DC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52800"/>
            <a:ext cx="4857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75"/>
              <a:buFont typeface="Microsoft JhengHei"/>
              <a:buNone/>
            </a:pPr>
            <a:r>
              <a: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這種方法能讓我理解單字，卻無法規模化；</a:t>
            </a:r>
            <a:br/>
            <a:r>
              <a: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我也觀察到，同學多半仍靠重複背誦</a:t>
            </a:r>
            <a:r>
              <a:rPr sz="157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來記憶單字</a:t>
            </a:r>
            <a:r>
              <a: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  <a:endParaRPr sz="1575" b="0">
              <a:solidFill>
                <a:srgbClr val="5D6B62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75"/>
              <a:buFont typeface="Microsoft JhengHei"/>
              <a:buNone/>
            </a:pPr>
            <a:r>
              <a: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於是我把個人的查詢流程，</a:t>
            </a:r>
            <a:endParaRPr sz="1575" b="0">
              <a:solidFill>
                <a:srgbClr val="5D6B62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marL="0" marR="0" lvl="0" indent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75"/>
              <a:buFont typeface="Microsoft JhengHei"/>
              <a:buNone/>
            </a:pPr>
            <a:r>
              <a: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改造成可以整理、練習與追蹤的系統。</a:t>
            </a:r>
            <a:endParaRPr/>
          </a:p>
        </p:txBody>
      </p:sp>
      <p:sp>
        <p:nvSpPr>
          <p:cNvPr id="35" name="Google Shape;35;p4">
            <a:extLst xmlns:a="http://schemas.openxmlformats.org/drawingml/2006/main">
              <a:ext uri="{FF2B5EF4-FFF2-40B4-BE49-F238E27FC236}">
                <a16:creationId xmlns:a16="http://schemas.microsoft.com/office/drawing/2014/main" id="{EE7736BF-9A50-4D7E-AA45-DF84DA7A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28800"/>
            <a:ext cx="4667250" cy="3333750"/>
          </a:xfrm>
          <a:prstGeom xmlns:a="http://schemas.openxmlformats.org/drawingml/2006/main" prst="roundRect">
            <a:avLst>
              <a:gd name="adj" fmla="val 6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>
            <a:extLst xmlns:a="http://schemas.openxmlformats.org/drawingml/2006/main">
              <a:ext uri="{FF2B5EF4-FFF2-40B4-BE49-F238E27FC236}">
                <a16:creationId xmlns:a16="http://schemas.microsoft.com/office/drawing/2014/main" id="{A9BBFBAE-63C4-40B5-BC93-5190A99C6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325" y="2108575"/>
            <a:ext cx="3714900" cy="5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3525"/>
              <a:buFont typeface="Microsoft JhengHei"/>
              <a:buNone/>
            </a:pPr>
            <a:r>
              <a:rPr sz="35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distribute</a:t>
            </a:r>
            <a:endParaRPr/>
          </a:p>
        </p:txBody>
      </p:sp>
      <p:sp>
        <p:nvSpPr>
          <p:cNvPr id="37" name="Google Shape;37;p4">
            <a:extLst xmlns:a="http://schemas.openxmlformats.org/drawingml/2006/main">
              <a:ext uri="{FF2B5EF4-FFF2-40B4-BE49-F238E27FC236}">
                <a16:creationId xmlns:a16="http://schemas.microsoft.com/office/drawing/2014/main" id="{502E520B-64AF-4F71-AEFC-849E1FAE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700" y="3100463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2325"/>
              <a:buFont typeface="Microsoft JhengHei"/>
              <a:buNone/>
            </a:pPr>
            <a:r>
              <a:rPr sz="23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dis-</a:t>
            </a:r>
            <a:endParaRPr/>
          </a:p>
        </p:txBody>
      </p:sp>
      <p:sp>
        <p:nvSpPr>
          <p:cNvPr id="38" name="Google Shape;38;p4">
            <a:extLst xmlns:a="http://schemas.openxmlformats.org/drawingml/2006/main">
              <a:ext uri="{FF2B5EF4-FFF2-40B4-BE49-F238E27FC236}">
                <a16:creationId xmlns:a16="http://schemas.microsoft.com/office/drawing/2014/main" id="{A8ED0F95-9DED-4047-84A4-19D1DABF6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6325" y="3110063"/>
            <a:ext cx="362100" cy="39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94E"/>
              </a:buClr>
              <a:buSzPts val="2175"/>
              <a:buFont typeface="Microsoft JhengHei"/>
              <a:buNone/>
            </a:pPr>
            <a:r>
              <a:rPr sz="2175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rPr>
              <a:t>+</a:t>
            </a:r>
            <a:endParaRPr/>
          </a:p>
        </p:txBody>
      </p:sp>
      <p:sp>
        <p:nvSpPr>
          <p:cNvPr id="39" name="Google Shape;39;p4">
            <a:extLst xmlns:a="http://schemas.openxmlformats.org/drawingml/2006/main">
              <a:ext uri="{FF2B5EF4-FFF2-40B4-BE49-F238E27FC236}">
                <a16:creationId xmlns:a16="http://schemas.microsoft.com/office/drawing/2014/main" id="{B19292F9-F72F-4903-A52A-4AFFA952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0450" y="3100463"/>
            <a:ext cx="18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B4E"/>
              </a:buClr>
              <a:buSzPts val="2325"/>
              <a:buFont typeface="Microsoft JhengHei"/>
              <a:buNone/>
            </a:pPr>
            <a:r>
              <a:rPr sz="23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tribuere</a:t>
            </a:r>
            <a:endParaRPr/>
          </a:p>
        </p:txBody>
      </p:sp>
      <p:sp>
        <p:nvSpPr>
          <p:cNvPr id="40" name="Google Shape;40;p4">
            <a:extLst xmlns:a="http://schemas.openxmlformats.org/drawingml/2006/main">
              <a:ext uri="{FF2B5EF4-FFF2-40B4-BE49-F238E27FC236}">
                <a16:creationId xmlns:a16="http://schemas.microsoft.com/office/drawing/2014/main" id="{45BC3746-108A-4925-9967-6F7D392B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1600" y="3657600"/>
            <a:ext cx="13812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350"/>
              <a:buFont typeface="Microsoft JhengHei"/>
              <a:buNone/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apart／分開</a:t>
            </a:r>
            <a:endParaRPr/>
          </a:p>
        </p:txBody>
      </p:sp>
      <p:sp>
        <p:nvSpPr>
          <p:cNvPr id="41" name="Google Shape;41;p4">
            <a:extLst xmlns:a="http://schemas.openxmlformats.org/drawingml/2006/main">
              <a:ext uri="{FF2B5EF4-FFF2-40B4-BE49-F238E27FC236}">
                <a16:creationId xmlns:a16="http://schemas.microsoft.com/office/drawing/2014/main" id="{0E9FFB18-EED8-406E-B7D4-A1843CDE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1350" y="3657600"/>
            <a:ext cx="20478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350"/>
              <a:buFont typeface="Microsoft JhengHei"/>
              <a:buNone/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assign／分配</a:t>
            </a:r>
            <a:endParaRPr/>
          </a:p>
        </p:txBody>
      </p:sp>
      <p:sp>
        <p:nvSpPr>
          <p:cNvPr id="42" name="Google Shape;42;p4">
            <a:extLst xmlns:a="http://schemas.openxmlformats.org/drawingml/2006/main">
              <a:ext uri="{FF2B5EF4-FFF2-40B4-BE49-F238E27FC236}">
                <a16:creationId xmlns:a16="http://schemas.microsoft.com/office/drawing/2014/main" id="{944AEFF7-AE4B-4D23-86A3-2111F862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325" y="4233725"/>
            <a:ext cx="3714900" cy="4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425"/>
              <a:buFont typeface="Microsoft JhengHei"/>
              <a:buNone/>
            </a:pPr>
            <a:r>
              <a:rPr sz="14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拉丁字跟的背誦與搭配，使的記憶量減少與英語單字邏輯化。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81256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Google Shape;48;p5">
            <a:extLst xmlns:a="http://schemas.openxmlformats.org/drawingml/2006/main">
              <a:ext uri="{FF2B5EF4-FFF2-40B4-BE49-F238E27FC236}">
                <a16:creationId xmlns:a16="http://schemas.microsoft.com/office/drawing/2014/main" id="{D36D5933-E733-4AD7-BFF2-AD48D119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>
            <a:extLst xmlns:a="http://schemas.openxmlformats.org/drawingml/2006/main">
              <a:ext uri="{FF2B5EF4-FFF2-40B4-BE49-F238E27FC236}">
                <a16:creationId xmlns:a16="http://schemas.microsoft.com/office/drawing/2014/main" id="{927C5388-FBC5-4F1B-80B1-4FB775D7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125"/>
              <a:buFont typeface="Microsoft JhengHei"/>
              <a:buNone/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EVOLUTION</a:t>
            </a:r>
            <a:endParaRPr/>
          </a:p>
        </p:txBody>
      </p:sp>
      <p:sp>
        <p:nvSpPr>
          <p:cNvPr id="50" name="Google Shape;50;p5">
            <a:extLst xmlns:a="http://schemas.openxmlformats.org/drawingml/2006/main">
              <a:ext uri="{FF2B5EF4-FFF2-40B4-BE49-F238E27FC236}">
                <a16:creationId xmlns:a16="http://schemas.microsoft.com/office/drawing/2014/main" id="{E348FC6C-CD87-45CE-8366-7FB88A3C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3225"/>
              <a:buFont typeface="Microsoft JhengHei"/>
              <a:buNone/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四個月內，把</a:t>
            </a: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想法架構</a:t>
            </a: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做成公開服務</a:t>
            </a:r>
            <a:endParaRPr/>
          </a:p>
        </p:txBody>
      </p:sp>
      <p:sp>
        <p:nvSpPr>
          <p:cNvPr id="51" name="Google Shape;51;p5">
            <a:extLst xmlns:a="http://schemas.openxmlformats.org/drawingml/2006/main">
              <a:ext uri="{FF2B5EF4-FFF2-40B4-BE49-F238E27FC236}">
                <a16:creationId xmlns:a16="http://schemas.microsoft.com/office/drawing/2014/main" id="{8B6F43FE-BBC0-41EF-9A62-93612683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975"/>
              <a:buFont typeface="Microsoft JhengHei"/>
              <a:buNone/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</a:t>
            </a: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3</a:t>
            </a:r>
            <a:endParaRPr/>
          </a:p>
        </p:txBody>
      </p:sp>
      <p:cxnSp>
        <p:nvCxnSpPr>
          <p:cNvPr id="77" name="Google Shape;52;p5"/>
          <p:cNvCxnSpPr/>
          <p:nvPr/>
        </p:nvCxnSpPr>
        <p:spPr>
          <a:xfrm xmlns:a="http://schemas.openxmlformats.org/drawingml/2006/main">
            <a:off x="990600" y="3257550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CBD6C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" name="Google Shape;53;p5">
            <a:extLst xmlns:a="http://schemas.openxmlformats.org/drawingml/2006/main">
              <a:ext uri="{FF2B5EF4-FFF2-40B4-BE49-F238E27FC236}">
                <a16:creationId xmlns:a16="http://schemas.microsoft.com/office/drawing/2014/main" id="{DD14D4CF-0307-4EA3-AEFF-28A00B82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1146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>
            <a:extLst xmlns:a="http://schemas.openxmlformats.org/drawingml/2006/main">
              <a:ext uri="{FF2B5EF4-FFF2-40B4-BE49-F238E27FC236}">
                <a16:creationId xmlns:a16="http://schemas.microsoft.com/office/drawing/2014/main" id="{E237033F-D33A-49A8-8D27-F97F3B6E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419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2100"/>
              <a:buFont typeface="Microsoft JhengHei"/>
              <a:buNone/>
            </a:pPr>
            <a:r>
              <a: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04/24</a:t>
            </a:r>
            <a:endParaRPr/>
          </a:p>
        </p:txBody>
      </p:sp>
      <p:sp>
        <p:nvSpPr>
          <p:cNvPr id="55" name="Google Shape;55;p5">
            <a:extLst xmlns:a="http://schemas.openxmlformats.org/drawingml/2006/main">
              <a:ext uri="{FF2B5EF4-FFF2-40B4-BE49-F238E27FC236}">
                <a16:creationId xmlns:a16="http://schemas.microsoft.com/office/drawing/2014/main" id="{288C2856-A386-469F-A425-BCCE5D00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6385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500"/>
              <a:buFont typeface="Microsoft JhengHei"/>
              <a:buNone/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開始開發</a:t>
            </a:r>
            <a:endParaRPr/>
          </a:p>
        </p:txBody>
      </p:sp>
      <p:sp>
        <p:nvSpPr>
          <p:cNvPr id="56" name="Google Shape;56;p5">
            <a:extLst xmlns:a="http://schemas.openxmlformats.org/drawingml/2006/main">
              <a:ext uri="{FF2B5EF4-FFF2-40B4-BE49-F238E27FC236}">
                <a16:creationId xmlns:a16="http://schemas.microsoft.com/office/drawing/2014/main" id="{92A04741-E8D1-4016-93FA-20FD746C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2100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200"/>
              <a:buFont typeface="Microsoft JhengHei"/>
              <a:buNone/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完成專案骨架</a:t>
            </a:r>
            <a:endParaRPr/>
          </a:p>
        </p:txBody>
      </p:sp>
      <p:sp>
        <p:nvSpPr>
          <p:cNvPr id="57" name="Google Shape;57;p5">
            <a:extLst xmlns:a="http://schemas.openxmlformats.org/drawingml/2006/main">
              <a:ext uri="{FF2B5EF4-FFF2-40B4-BE49-F238E27FC236}">
                <a16:creationId xmlns:a16="http://schemas.microsoft.com/office/drawing/2014/main" id="{BB687320-CF9C-4B5E-869C-107C4F431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1146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>
            <a:extLst xmlns:a="http://schemas.openxmlformats.org/drawingml/2006/main">
              <a:ext uri="{FF2B5EF4-FFF2-40B4-BE49-F238E27FC236}">
                <a16:creationId xmlns:a16="http://schemas.microsoft.com/office/drawing/2014/main" id="{03F3F345-02FE-4697-BF17-8823B2C8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419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2100"/>
              <a:buFont typeface="Microsoft JhengHei"/>
              <a:buNone/>
            </a:pPr>
            <a:r>
              <a: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04/25</a:t>
            </a:r>
            <a:endParaRPr/>
          </a:p>
        </p:txBody>
      </p:sp>
      <p:sp>
        <p:nvSpPr>
          <p:cNvPr id="59" name="Google Shape;59;p5">
            <a:extLst xmlns:a="http://schemas.openxmlformats.org/drawingml/2006/main">
              <a:ext uri="{FF2B5EF4-FFF2-40B4-BE49-F238E27FC236}">
                <a16:creationId xmlns:a16="http://schemas.microsoft.com/office/drawing/2014/main" id="{03F8B919-70F7-42D6-BB8F-D89066DD3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9100" y="3567113"/>
            <a:ext cx="1714500" cy="4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500"/>
              <a:buFont typeface="Microsoft JhengHei"/>
              <a:buNone/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beta版本釋出</a:t>
            </a:r>
            <a:br/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基本單字功能與練習</a:t>
            </a:r>
            <a:endParaRPr/>
          </a:p>
        </p:txBody>
      </p:sp>
      <p:sp>
        <p:nvSpPr>
          <p:cNvPr id="60" name="Google Shape;60;p5">
            <a:extLst xmlns:a="http://schemas.openxmlformats.org/drawingml/2006/main">
              <a:ext uri="{FF2B5EF4-FFF2-40B4-BE49-F238E27FC236}">
                <a16:creationId xmlns:a16="http://schemas.microsoft.com/office/drawing/2014/main" id="{F3DB0D99-D224-43F2-A740-EF76218C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2100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200"/>
              <a:buFont typeface="Microsoft JhengHei"/>
              <a:buNone/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開始累積練習紀錄</a:t>
            </a:r>
            <a:endParaRPr/>
          </a:p>
        </p:txBody>
      </p:sp>
      <p:sp>
        <p:nvSpPr>
          <p:cNvPr id="61" name="Google Shape;61;p5">
            <a:extLst xmlns:a="http://schemas.openxmlformats.org/drawingml/2006/main">
              <a:ext uri="{FF2B5EF4-FFF2-40B4-BE49-F238E27FC236}">
                <a16:creationId xmlns:a16="http://schemas.microsoft.com/office/drawing/2014/main" id="{CF696CDB-6D3F-4AEE-9980-D39CA1EE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1146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>
            <a:extLst xmlns:a="http://schemas.openxmlformats.org/drawingml/2006/main">
              <a:ext uri="{FF2B5EF4-FFF2-40B4-BE49-F238E27FC236}">
                <a16:creationId xmlns:a16="http://schemas.microsoft.com/office/drawing/2014/main" id="{E2CA5241-299A-49CE-8426-C37E188A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419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2100"/>
              <a:buFont typeface="Microsoft JhengHei"/>
              <a:buNone/>
            </a:pPr>
            <a:r>
              <a: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04/29</a:t>
            </a:r>
            <a:endParaRPr/>
          </a:p>
        </p:txBody>
      </p:sp>
      <p:sp>
        <p:nvSpPr>
          <p:cNvPr id="63" name="Google Shape;63;p5">
            <a:extLst xmlns:a="http://schemas.openxmlformats.org/drawingml/2006/main">
              <a:ext uri="{FF2B5EF4-FFF2-40B4-BE49-F238E27FC236}">
                <a16:creationId xmlns:a16="http://schemas.microsoft.com/office/drawing/2014/main" id="{86AE0AE1-6B55-4C5E-BFCC-F7C03658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725" y="3567188"/>
            <a:ext cx="1942200" cy="47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500"/>
              <a:buFont typeface="Microsoft JhengHei"/>
              <a:buNone/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OCR掃描資料</a:t>
            </a:r>
            <a:br/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AI</a:t>
            </a: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擬合分析資料</a:t>
            </a: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匯入</a:t>
            </a:r>
            <a:endParaRPr/>
          </a:p>
        </p:txBody>
      </p:sp>
      <p:sp>
        <p:nvSpPr>
          <p:cNvPr id="64" name="Google Shape;64;p5">
            <a:extLst xmlns:a="http://schemas.openxmlformats.org/drawingml/2006/main">
              <a:ext uri="{FF2B5EF4-FFF2-40B4-BE49-F238E27FC236}">
                <a16:creationId xmlns:a16="http://schemas.microsoft.com/office/drawing/2014/main" id="{6A94E182-BF1E-46B8-B382-EE810A2B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2100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200"/>
              <a:buFont typeface="Microsoft JhengHei"/>
              <a:buNone/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建立內容處理管線</a:t>
            </a:r>
            <a:endParaRPr/>
          </a:p>
        </p:txBody>
      </p:sp>
      <p:sp>
        <p:nvSpPr>
          <p:cNvPr id="65" name="Google Shape;65;p5">
            <a:extLst xmlns:a="http://schemas.openxmlformats.org/drawingml/2006/main">
              <a:ext uri="{FF2B5EF4-FFF2-40B4-BE49-F238E27FC236}">
                <a16:creationId xmlns:a16="http://schemas.microsoft.com/office/drawing/2014/main" id="{4D99C547-F1C2-4E00-9591-9E83AD76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146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94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>
            <a:extLst xmlns:a="http://schemas.openxmlformats.org/drawingml/2006/main">
              <a:ext uri="{FF2B5EF4-FFF2-40B4-BE49-F238E27FC236}">
                <a16:creationId xmlns:a16="http://schemas.microsoft.com/office/drawing/2014/main" id="{1BDDDF4E-A837-4E15-86C2-25E69B87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419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641F"/>
              </a:buClr>
              <a:buSzPts val="2100"/>
              <a:buFont typeface="Microsoft JhengHei"/>
              <a:buNone/>
            </a:pPr>
            <a:r>
              <a:rPr sz="2100" b="1">
                <a:solidFill>
                  <a:srgbClr val="8B641F"/>
                </a:solidFill>
                <a:latin typeface="Microsoft JhengHei"/>
                <a:ea typeface="Microsoft JhengHei"/>
                <a:cs typeface="Microsoft JhengHei"/>
              </a:rPr>
              <a:t>05/25</a:t>
            </a:r>
            <a:endParaRPr/>
          </a:p>
        </p:txBody>
      </p:sp>
      <p:sp>
        <p:nvSpPr>
          <p:cNvPr id="67" name="Google Shape;67;p5">
            <a:extLst xmlns:a="http://schemas.openxmlformats.org/drawingml/2006/main">
              <a:ext uri="{FF2B5EF4-FFF2-40B4-BE49-F238E27FC236}">
                <a16:creationId xmlns:a16="http://schemas.microsoft.com/office/drawing/2014/main" id="{9F041F44-9C85-4E70-A483-0625A974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6385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500"/>
              <a:buFont typeface="Microsoft JhengHei"/>
              <a:buNone/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公測版本發布</a:t>
            </a:r>
            <a:endParaRPr/>
          </a:p>
        </p:txBody>
      </p:sp>
      <p:sp>
        <p:nvSpPr>
          <p:cNvPr id="68" name="Google Shape;68;p5">
            <a:extLst xmlns:a="http://schemas.openxmlformats.org/drawingml/2006/main">
              <a:ext uri="{FF2B5EF4-FFF2-40B4-BE49-F238E27FC236}">
                <a16:creationId xmlns:a16="http://schemas.microsoft.com/office/drawing/2014/main" id="{8A42448A-8AAC-4686-9B5C-234E1101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100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200"/>
              <a:buFont typeface="Microsoft JhengHei"/>
              <a:buNone/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同學可透過</a:t>
            </a:r>
            <a:r>
              <a:rPr sz="12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公網</a:t>
            </a:r>
            <a:r>
              <a:rPr sz="12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鏈結</a:t>
            </a: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使用</a:t>
            </a:r>
            <a:endParaRPr/>
          </a:p>
        </p:txBody>
      </p:sp>
      <p:sp>
        <p:nvSpPr>
          <p:cNvPr id="69" name="Google Shape;69;p5">
            <a:extLst xmlns:a="http://schemas.openxmlformats.org/drawingml/2006/main">
              <a:ext uri="{FF2B5EF4-FFF2-40B4-BE49-F238E27FC236}">
                <a16:creationId xmlns:a16="http://schemas.microsoft.com/office/drawing/2014/main" id="{5D7872EE-DFC6-418C-9C01-301C4F2F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146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>
            <a:extLst xmlns:a="http://schemas.openxmlformats.org/drawingml/2006/main">
              <a:ext uri="{FF2B5EF4-FFF2-40B4-BE49-F238E27FC236}">
                <a16:creationId xmlns:a16="http://schemas.microsoft.com/office/drawing/2014/main" id="{56BF1236-3EB9-4E2F-9B12-E4EF30F4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41935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2100"/>
              <a:buFont typeface="Microsoft JhengHei"/>
              <a:buNone/>
            </a:pPr>
            <a:r>
              <a:rPr sz="21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08/15</a:t>
            </a:r>
            <a:endParaRPr/>
          </a:p>
        </p:txBody>
      </p:sp>
      <p:sp>
        <p:nvSpPr>
          <p:cNvPr id="71" name="Google Shape;71;p5">
            <a:extLst xmlns:a="http://schemas.openxmlformats.org/drawingml/2006/main">
              <a:ext uri="{FF2B5EF4-FFF2-40B4-BE49-F238E27FC236}">
                <a16:creationId xmlns:a16="http://schemas.microsoft.com/office/drawing/2014/main" id="{02F09CBE-9653-4654-B02B-309EE9D3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6385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500"/>
              <a:buFont typeface="Microsoft JhengHei"/>
              <a:buNone/>
            </a:pPr>
            <a:r>
              <a:rPr sz="15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持續維運</a:t>
            </a:r>
            <a:endParaRPr/>
          </a:p>
        </p:txBody>
      </p:sp>
      <p:sp>
        <p:nvSpPr>
          <p:cNvPr id="72" name="Google Shape;72;p5">
            <a:extLst xmlns:a="http://schemas.openxmlformats.org/drawingml/2006/main">
              <a:ext uri="{FF2B5EF4-FFF2-40B4-BE49-F238E27FC236}">
                <a16:creationId xmlns:a16="http://schemas.microsoft.com/office/drawing/2014/main" id="{D75B4DA1-5768-4D1C-A919-E0E2F8D4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21005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200"/>
              <a:buFont typeface="Microsoft JhengHei"/>
              <a:buNone/>
            </a:pPr>
            <a:r>
              <a:rPr sz="12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持續補充內容與功能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087522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Google Shape;78;p6">
            <a:extLst xmlns:a="http://schemas.openxmlformats.org/drawingml/2006/main">
              <a:ext uri="{FF2B5EF4-FFF2-40B4-BE49-F238E27FC236}">
                <a16:creationId xmlns:a16="http://schemas.microsoft.com/office/drawing/2014/main" id="{F954E67D-EDE6-4516-A81D-D22C6B09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>
            <a:extLst xmlns:a="http://schemas.openxmlformats.org/drawingml/2006/main">
              <a:ext uri="{FF2B5EF4-FFF2-40B4-BE49-F238E27FC236}">
                <a16:creationId xmlns:a16="http://schemas.microsoft.com/office/drawing/2014/main" id="{4BB3F04A-602B-4A2D-9A1B-FCC150E6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125"/>
              <a:buFont typeface="Microsoft JhengHei"/>
              <a:buNone/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ENGINEERING</a:t>
            </a:r>
            <a:endParaRPr/>
          </a:p>
        </p:txBody>
      </p:sp>
      <p:sp>
        <p:nvSpPr>
          <p:cNvPr id="80" name="Google Shape;80;p6">
            <a:extLst xmlns:a="http://schemas.openxmlformats.org/drawingml/2006/main">
              <a:ext uri="{FF2B5EF4-FFF2-40B4-BE49-F238E27FC236}">
                <a16:creationId xmlns:a16="http://schemas.microsoft.com/office/drawing/2014/main" id="{7AED2D14-A31E-457F-8780-7CB18D6B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3225"/>
              <a:buFont typeface="Microsoft JhengHei"/>
              <a:buNone/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我把重複化的查詢學習做成了高效且方便的網頁</a:t>
            </a:r>
            <a:endParaRPr/>
          </a:p>
        </p:txBody>
      </p:sp>
      <p:sp>
        <p:nvSpPr>
          <p:cNvPr id="81" name="Google Shape;81;p6">
            <a:extLst xmlns:a="http://schemas.openxmlformats.org/drawingml/2006/main">
              <a:ext uri="{FF2B5EF4-FFF2-40B4-BE49-F238E27FC236}">
                <a16:creationId xmlns:a16="http://schemas.microsoft.com/office/drawing/2014/main" id="{149E63CA-FFFC-4513-8D8C-BAAE4B27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975"/>
              <a:buFont typeface="Microsoft JhengHei"/>
              <a:buNone/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</a:t>
            </a: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4</a:t>
            </a:r>
            <a:endParaRPr/>
          </a:p>
        </p:txBody>
      </p:sp>
      <p:cxnSp>
        <p:nvCxnSpPr>
          <p:cNvPr id="106" name="Google Shape;82;p6"/>
          <p:cNvCxnSpPr/>
          <p:nvPr/>
        </p:nvCxnSpPr>
        <p:spPr>
          <a:xfrm xmlns:a="http://schemas.openxmlformats.org/drawingml/2006/main">
            <a:off x="3219450" y="31432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CBD6C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7" name="Google Shape;83;p6"/>
          <p:cNvCxnSpPr/>
          <p:nvPr/>
        </p:nvCxnSpPr>
        <p:spPr>
          <a:xfrm xmlns:a="http://schemas.openxmlformats.org/drawingml/2006/main">
            <a:off x="7505700" y="314325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CBD6C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4" name="Google Shape;84;p6">
            <a:extLst xmlns:a="http://schemas.openxmlformats.org/drawingml/2006/main">
              <a:ext uri="{FF2B5EF4-FFF2-40B4-BE49-F238E27FC236}">
                <a16:creationId xmlns:a16="http://schemas.microsoft.com/office/drawing/2014/main" id="{A8EB080C-75BD-4908-8BCA-3BB81375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2495550" cy="3105150"/>
          </a:xfrm>
          <a:prstGeom xmlns:a="http://schemas.openxmlformats.org/drawingml/2006/main" prst="roundRect">
            <a:avLst>
              <a:gd name="adj" fmla="val 83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>
            <a:extLst xmlns:a="http://schemas.openxmlformats.org/drawingml/2006/main">
              <a:ext uri="{FF2B5EF4-FFF2-40B4-BE49-F238E27FC236}">
                <a16:creationId xmlns:a16="http://schemas.microsoft.com/office/drawing/2014/main" id="{7D82A42A-3B82-4686-B82D-30F4E469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24955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B4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>
            <a:extLst xmlns:a="http://schemas.openxmlformats.org/drawingml/2006/main">
              <a:ext uri="{FF2B5EF4-FFF2-40B4-BE49-F238E27FC236}">
                <a16:creationId xmlns:a16="http://schemas.microsoft.com/office/drawing/2014/main" id="{19B9C3BC-38E3-4817-BE11-78C8F976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7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>
            <a:extLst xmlns:a="http://schemas.openxmlformats.org/drawingml/2006/main">
              <a:ext uri="{FF2B5EF4-FFF2-40B4-BE49-F238E27FC236}">
                <a16:creationId xmlns:a16="http://schemas.microsoft.com/office/drawing/2014/main" id="{37978291-0FC7-4F3D-9587-C0C566DA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3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B4E"/>
              </a:buClr>
              <a:buSzPts val="1275"/>
              <a:buFont typeface="Microsoft JhengHei"/>
              <a:buNone/>
            </a:pPr>
            <a:r>
              <a:rPr sz="127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  <a:endParaRPr/>
          </a:p>
        </p:txBody>
      </p:sp>
      <p:sp>
        <p:nvSpPr>
          <p:cNvPr id="88" name="Google Shape;88;p6">
            <a:extLst xmlns:a="http://schemas.openxmlformats.org/drawingml/2006/main">
              <a:ext uri="{FF2B5EF4-FFF2-40B4-BE49-F238E27FC236}">
                <a16:creationId xmlns:a16="http://schemas.microsoft.com/office/drawing/2014/main" id="{C39C3625-40F3-466B-AC89-80B5CF75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00400"/>
            <a:ext cx="1962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2025"/>
              <a:buFont typeface="Microsoft JhengHei"/>
              <a:buNone/>
            </a:pP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使用者體驗</a:t>
            </a:r>
            <a:endParaRPr/>
          </a:p>
        </p:txBody>
      </p:sp>
      <p:sp>
        <p:nvSpPr>
          <p:cNvPr id="89" name="Google Shape;89;p6">
            <a:extLst xmlns:a="http://schemas.openxmlformats.org/drawingml/2006/main">
              <a:ext uri="{FF2B5EF4-FFF2-40B4-BE49-F238E27FC236}">
                <a16:creationId xmlns:a16="http://schemas.microsoft.com/office/drawing/2014/main" id="{C138ED77-A313-4DB7-B6D6-13B4F3FB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19621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425"/>
              <a:buFont typeface="Microsoft JhengHei"/>
              <a:buNone/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單字庫</a:t>
            </a:r>
            <a:endParaRPr/>
          </a:p>
          <a:p xmlns:a="http://schemas.openxmlformats.org/drawingml/2006/main">
            <a:pPr marL="0" marR="0" lvl="0" indent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425"/>
              <a:buFont typeface="Microsoft JhengHei"/>
              <a:buNone/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多模式練習</a:t>
            </a:r>
            <a:endParaRPr/>
          </a:p>
          <a:p xmlns:a="http://schemas.openxmlformats.org/drawingml/2006/main">
            <a:pPr marL="0" marR="0" lvl="0" indent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425"/>
              <a:buFont typeface="Microsoft JhengHei"/>
              <a:buNone/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趨勢與排行榜</a:t>
            </a:r>
            <a:endParaRPr/>
          </a:p>
        </p:txBody>
      </p:sp>
      <p:sp>
        <p:nvSpPr>
          <p:cNvPr id="90" name="Google Shape;90;p6">
            <a:extLst xmlns:a="http://schemas.openxmlformats.org/drawingml/2006/main">
              <a:ext uri="{FF2B5EF4-FFF2-40B4-BE49-F238E27FC236}">
                <a16:creationId xmlns:a16="http://schemas.microsoft.com/office/drawing/2014/main" id="{FA1693EA-B4E0-46BA-8EBC-2C3DB26F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00250"/>
            <a:ext cx="3429000" cy="3105150"/>
          </a:xfrm>
          <a:prstGeom xmlns:a="http://schemas.openxmlformats.org/drawingml/2006/main" prst="roundRect">
            <a:avLst>
              <a:gd name="adj" fmla="val 67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>
            <a:extLst xmlns:a="http://schemas.openxmlformats.org/drawingml/2006/main">
              <a:ext uri="{FF2B5EF4-FFF2-40B4-BE49-F238E27FC236}">
                <a16:creationId xmlns:a16="http://schemas.microsoft.com/office/drawing/2014/main" id="{414CD254-A410-46D2-A4FF-37E8D8DD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000250"/>
            <a:ext cx="34290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>
            <a:extLst xmlns:a="http://schemas.openxmlformats.org/drawingml/2006/main">
              <a:ext uri="{FF2B5EF4-FFF2-40B4-BE49-F238E27FC236}">
                <a16:creationId xmlns:a16="http://schemas.microsoft.com/office/drawing/2014/main" id="{8EDA6C8F-B17D-4F7E-B18A-D47DE387D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>
            <a:extLst xmlns:a="http://schemas.openxmlformats.org/drawingml/2006/main">
              <a:ext uri="{FF2B5EF4-FFF2-40B4-BE49-F238E27FC236}">
                <a16:creationId xmlns:a16="http://schemas.microsoft.com/office/drawing/2014/main" id="{1F606EDF-962E-4647-9200-6452D5085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3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275"/>
              <a:buFont typeface="Microsoft JhengHei"/>
              <a:buNone/>
            </a:pPr>
            <a:r>
              <a:rPr sz="127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  <a:endParaRPr/>
          </a:p>
        </p:txBody>
      </p:sp>
      <p:sp>
        <p:nvSpPr>
          <p:cNvPr id="94" name="Google Shape;94;p6">
            <a:extLst xmlns:a="http://schemas.openxmlformats.org/drawingml/2006/main">
              <a:ext uri="{FF2B5EF4-FFF2-40B4-BE49-F238E27FC236}">
                <a16:creationId xmlns:a16="http://schemas.microsoft.com/office/drawing/2014/main" id="{7FA5FCF7-70B9-4F57-B1B2-305E30CB5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200400"/>
            <a:ext cx="289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2025"/>
              <a:buFont typeface="Microsoft JhengHei"/>
              <a:buNone/>
            </a:pP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服務與資料</a:t>
            </a:r>
            <a:endParaRPr/>
          </a:p>
        </p:txBody>
      </p:sp>
      <p:sp>
        <p:nvSpPr>
          <p:cNvPr id="95" name="Google Shape;95;p6">
            <a:extLst xmlns:a="http://schemas.openxmlformats.org/drawingml/2006/main">
              <a:ext uri="{FF2B5EF4-FFF2-40B4-BE49-F238E27FC236}">
                <a16:creationId xmlns:a16="http://schemas.microsoft.com/office/drawing/2014/main" id="{EB3E973C-8E19-4D90-94C5-82BF97EFA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86200"/>
            <a:ext cx="2895600" cy="10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425"/>
              <a:buFont typeface="Microsoft JhengHei"/>
              <a:buNone/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Express API／JWT 權限</a:t>
            </a:r>
            <a:endParaRPr/>
          </a:p>
          <a:p xmlns:a="http://schemas.openxmlformats.org/drawingml/2006/main">
            <a:pPr marL="0" marR="0" lvl="0" indent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425"/>
              <a:buFont typeface="Microsoft JhengHei"/>
              <a:buNone/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SQLite 三庫分工</a:t>
            </a:r>
            <a:endParaRPr/>
          </a:p>
          <a:p xmlns:a="http://schemas.openxmlformats.org/drawingml/2006/main">
            <a:pPr marL="0" marR="0" lvl="0" indent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425"/>
              <a:buFont typeface="Microsoft JhengHei"/>
              <a:buNone/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學習同步、通知</a:t>
            </a:r>
            <a:endParaRPr/>
          </a:p>
        </p:txBody>
      </p:sp>
      <p:sp>
        <p:nvSpPr>
          <p:cNvPr id="96" name="Google Shape;96;p6">
            <a:extLst xmlns:a="http://schemas.openxmlformats.org/drawingml/2006/main">
              <a:ext uri="{FF2B5EF4-FFF2-40B4-BE49-F238E27FC236}">
                <a16:creationId xmlns:a16="http://schemas.microsoft.com/office/drawing/2014/main" id="{F4B2EE08-C396-4B55-B928-C64A7746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3105150" cy="3105150"/>
          </a:xfrm>
          <a:prstGeom xmlns:a="http://schemas.openxmlformats.org/drawingml/2006/main" prst="roundRect">
            <a:avLst>
              <a:gd name="adj" fmla="val 67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>
            <a:extLst xmlns:a="http://schemas.openxmlformats.org/drawingml/2006/main">
              <a:ext uri="{FF2B5EF4-FFF2-40B4-BE49-F238E27FC236}">
                <a16:creationId xmlns:a16="http://schemas.microsoft.com/office/drawing/2014/main" id="{50BE9041-23F6-4834-A9E2-7727E7C6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31051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641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6">
            <a:extLst xmlns:a="http://schemas.openxmlformats.org/drawingml/2006/main">
              <a:ext uri="{FF2B5EF4-FFF2-40B4-BE49-F238E27FC236}">
                <a16:creationId xmlns:a16="http://schemas.microsoft.com/office/drawing/2014/main" id="{AFF9C159-5925-4BAD-B72A-D0D0F07A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8125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9D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>
            <a:extLst xmlns:a="http://schemas.openxmlformats.org/drawingml/2006/main">
              <a:ext uri="{FF2B5EF4-FFF2-40B4-BE49-F238E27FC236}">
                <a16:creationId xmlns:a16="http://schemas.microsoft.com/office/drawing/2014/main" id="{4F54E8F2-D715-40FA-AA61-9FFDB6C7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33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641F"/>
              </a:buClr>
              <a:buSzPts val="1275"/>
              <a:buFont typeface="Microsoft JhengHei"/>
              <a:buNone/>
            </a:pPr>
            <a:r>
              <a:rPr sz="1275" b="1">
                <a:solidFill>
                  <a:srgbClr val="8B641F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  <a:endParaRPr/>
          </a:p>
        </p:txBody>
      </p:sp>
      <p:sp>
        <p:nvSpPr>
          <p:cNvPr id="100" name="Google Shape;100;p6">
            <a:extLst xmlns:a="http://schemas.openxmlformats.org/drawingml/2006/main">
              <a:ext uri="{FF2B5EF4-FFF2-40B4-BE49-F238E27FC236}">
                <a16:creationId xmlns:a16="http://schemas.microsoft.com/office/drawing/2014/main" id="{86820D1A-EDC9-4712-B8C1-528FBD111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004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2025"/>
              <a:buFont typeface="Microsoft JhengHei"/>
              <a:buNone/>
            </a:pP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內容與維運</a:t>
            </a:r>
            <a:endParaRPr/>
          </a:p>
        </p:txBody>
      </p:sp>
      <p:sp>
        <p:nvSpPr>
          <p:cNvPr id="101" name="Google Shape;101;p6">
            <a:extLst xmlns:a="http://schemas.openxmlformats.org/drawingml/2006/main">
              <a:ext uri="{FF2B5EF4-FFF2-40B4-BE49-F238E27FC236}">
                <a16:creationId xmlns:a16="http://schemas.microsoft.com/office/drawing/2014/main" id="{9F67E9E2-4FE8-474A-8027-02C8F2508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48100"/>
            <a:ext cx="257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425"/>
              <a:buFont typeface="Microsoft JhengHei"/>
              <a:buNone/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OCR／Gemini 匯入</a:t>
            </a:r>
            <a:endParaRPr/>
          </a:p>
          <a:p xmlns:a="http://schemas.openxmlformats.org/drawingml/2006/main">
            <a:pPr marL="0" marR="0" lvl="0" indent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425"/>
              <a:buFont typeface="Microsoft JhengHei"/>
              <a:buNone/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管理後台與人工審核</a:t>
            </a:r>
            <a:endParaRPr/>
          </a:p>
          <a:p xmlns:a="http://schemas.openxmlformats.org/drawingml/2006/main">
            <a:pPr marL="0" marR="0" lvl="0" indent="0"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425"/>
              <a:buFont typeface="Microsoft JhengHei"/>
              <a:buNone/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發音快取與 fallback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373865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Google Shape;107;p7">
            <a:extLst xmlns:a="http://schemas.openxmlformats.org/drawingml/2006/main">
              <a:ext uri="{FF2B5EF4-FFF2-40B4-BE49-F238E27FC236}">
                <a16:creationId xmlns:a16="http://schemas.microsoft.com/office/drawing/2014/main" id="{DBE3AA94-2730-4383-A27E-3DB720E8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>
            <a:extLst xmlns:a="http://schemas.openxmlformats.org/drawingml/2006/main">
              <a:ext uri="{FF2B5EF4-FFF2-40B4-BE49-F238E27FC236}">
                <a16:creationId xmlns:a16="http://schemas.microsoft.com/office/drawing/2014/main" id="{2A265CBF-C057-430F-B3D0-5A11C12FD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125"/>
              <a:buFont typeface="Microsoft JhengHei"/>
              <a:buNone/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PRODUCT</a:t>
            </a:r>
            <a:endParaRPr/>
          </a:p>
        </p:txBody>
      </p:sp>
      <p:sp>
        <p:nvSpPr>
          <p:cNvPr id="109" name="Google Shape;109;p7">
            <a:extLst xmlns:a="http://schemas.openxmlformats.org/drawingml/2006/main">
              <a:ext uri="{FF2B5EF4-FFF2-40B4-BE49-F238E27FC236}">
                <a16:creationId xmlns:a16="http://schemas.microsoft.com/office/drawing/2014/main" id="{E2EBEDF6-0487-4D50-9015-050AAA48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3225"/>
              <a:buFont typeface="Microsoft JhengHei"/>
              <a:buNone/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完整的學習功能與監測</a:t>
            </a:r>
            <a:endParaRPr/>
          </a:p>
        </p:txBody>
      </p:sp>
      <p:sp>
        <p:nvSpPr>
          <p:cNvPr id="110" name="Google Shape;110;p7">
            <a:extLst xmlns:a="http://schemas.openxmlformats.org/drawingml/2006/main">
              <a:ext uri="{FF2B5EF4-FFF2-40B4-BE49-F238E27FC236}">
                <a16:creationId xmlns:a16="http://schemas.microsoft.com/office/drawing/2014/main" id="{849D436B-9A5B-4F18-BFDE-18F82524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975"/>
              <a:buFont typeface="Microsoft JhengHei"/>
              <a:buNone/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</a:t>
            </a: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5</a:t>
            </a:r>
            <a:endParaRPr/>
          </a:p>
        </p:txBody>
      </p:sp>
      <p:pic>
        <p:nvPicPr>
          <p:cNvPr id="128" name="Google Shape;111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06eeb8e8d5c43a0">
            <a:alphaModFix/>
          </a:blip>
          <a:srcRect xmlns:a="http://schemas.openxmlformats.org/drawingml/2006/main" l="30" t="0" r="30" b="0"/>
          <a:stretch xmlns:a="http://schemas.openxmlformats.org/drawingml/2006/main"/>
        </p:blipFill>
        <p:spPr>
          <a:xfrm xmlns:a="http://schemas.openxmlformats.org/drawingml/2006/main">
            <a:off x="26" y="2509325"/>
            <a:ext cx="3815400" cy="2147400"/>
          </a:xfrm>
          <a:prstGeom xmlns:a="http://schemas.openxmlformats.org/drawingml/2006/main" prst="roundRect">
            <a:avLst>
              <a:gd name="adj" fmla="val 8000"/>
            </a:avLst>
          </a:prstGeom>
          <a:ln xmlns:a="http://schemas.openxmlformats.org/drawingml/2006/main">
            <a:noFill/>
          </a:ln>
        </p:spPr>
      </p:pic>
      <p:pic>
        <p:nvPicPr>
          <p:cNvPr id="129" name="Google Shape;112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a8961a5b1af47bf">
            <a:alphaModFix/>
          </a:blip>
          <a:srcRect xmlns:a="http://schemas.openxmlformats.org/drawingml/2006/main" l="30" t="0" r="30" b="0"/>
          <a:stretch xmlns:a="http://schemas.openxmlformats.org/drawingml/2006/main"/>
        </p:blipFill>
        <p:spPr>
          <a:xfrm xmlns:a="http://schemas.openxmlformats.org/drawingml/2006/main">
            <a:off x="4187687" y="2509325"/>
            <a:ext cx="3815400" cy="2147400"/>
          </a:xfrm>
          <a:prstGeom xmlns:a="http://schemas.openxmlformats.org/drawingml/2006/main" prst="roundRect">
            <a:avLst>
              <a:gd name="adj" fmla="val 8000"/>
            </a:avLst>
          </a:prstGeom>
          <a:ln xmlns:a="http://schemas.openxmlformats.org/drawingml/2006/main">
            <a:noFill/>
          </a:ln>
        </p:spPr>
      </p:pic>
      <p:pic>
        <p:nvPicPr>
          <p:cNvPr id="130" name="Google Shape;113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dfad4077b8746b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374177" y="2509325"/>
            <a:ext cx="3817800" cy="2147400"/>
          </a:xfrm>
          <a:prstGeom xmlns:a="http://schemas.openxmlformats.org/drawingml/2006/main" prst="roundRect">
            <a:avLst>
              <a:gd name="adj" fmla="val 8000"/>
            </a:avLst>
          </a:prstGeom>
          <a:ln xmlns:a="http://schemas.openxmlformats.org/drawingml/2006/main">
            <a:noFill/>
          </a:ln>
        </p:spPr>
      </p:pic>
      <p:sp>
        <p:nvSpPr>
          <p:cNvPr id="114" name="Google Shape;114;p7">
            <a:extLst xmlns:a="http://schemas.openxmlformats.org/drawingml/2006/main">
              <a:ext uri="{FF2B5EF4-FFF2-40B4-BE49-F238E27FC236}">
                <a16:creationId xmlns:a16="http://schemas.microsoft.com/office/drawing/2014/main" id="{4575E237-53CD-48BF-8036-E3363AEE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623" y="4978974"/>
            <a:ext cx="2362200" cy="322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3075" tIns="103075" rIns="103075" bIns="1030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>
            <a:extLst xmlns:a="http://schemas.openxmlformats.org/drawingml/2006/main">
              <a:ext uri="{FF2B5EF4-FFF2-40B4-BE49-F238E27FC236}">
                <a16:creationId xmlns:a16="http://schemas.microsoft.com/office/drawing/2014/main" id="{EE005F60-0914-49AF-A856-4773B0DA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623" y="5021924"/>
            <a:ext cx="2362200" cy="23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268"/>
              <a:buFont typeface="Microsoft JhengHei"/>
              <a:buNone/>
            </a:pPr>
            <a:r>
              <a:rPr sz="1268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理解：單字庫</a:t>
            </a:r>
            <a:endParaRPr sz="1578"/>
          </a:p>
        </p:txBody>
      </p:sp>
      <p:sp>
        <p:nvSpPr>
          <p:cNvPr id="116" name="Google Shape;116;p7">
            <a:extLst xmlns:a="http://schemas.openxmlformats.org/drawingml/2006/main">
              <a:ext uri="{FF2B5EF4-FFF2-40B4-BE49-F238E27FC236}">
                <a16:creationId xmlns:a16="http://schemas.microsoft.com/office/drawing/2014/main" id="{45E9E687-5504-4D1E-B00D-68B1F688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6909" y="4978974"/>
            <a:ext cx="2577000" cy="322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3075" tIns="103075" rIns="103075" bIns="1030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>
            <a:extLst xmlns:a="http://schemas.openxmlformats.org/drawingml/2006/main">
              <a:ext uri="{FF2B5EF4-FFF2-40B4-BE49-F238E27FC236}">
                <a16:creationId xmlns:a16="http://schemas.microsoft.com/office/drawing/2014/main" id="{E87AB986-E193-4E2D-A175-459BF1C8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6909" y="5021924"/>
            <a:ext cx="2577000" cy="23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268"/>
              <a:buFont typeface="Microsoft JhengHei"/>
              <a:buNone/>
            </a:pPr>
            <a:r>
              <a:rPr sz="1268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練習</a:t>
            </a:r>
            <a:r>
              <a:rPr sz="1268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：</a:t>
            </a:r>
            <a:r>
              <a:rPr sz="1268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三模式訓練</a:t>
            </a:r>
            <a:endParaRPr sz="1578"/>
          </a:p>
        </p:txBody>
      </p:sp>
      <p:sp>
        <p:nvSpPr>
          <p:cNvPr id="118" name="Google Shape;118;p7">
            <a:extLst xmlns:a="http://schemas.openxmlformats.org/drawingml/2006/main">
              <a:ext uri="{FF2B5EF4-FFF2-40B4-BE49-F238E27FC236}">
                <a16:creationId xmlns:a16="http://schemas.microsoft.com/office/drawing/2014/main" id="{F82B26A3-720D-4029-9651-515F039B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472" y="4978974"/>
            <a:ext cx="2362200" cy="322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03075" tIns="103075" rIns="103075" bIns="1030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>
            <a:extLst xmlns:a="http://schemas.openxmlformats.org/drawingml/2006/main">
              <a:ext uri="{FF2B5EF4-FFF2-40B4-BE49-F238E27FC236}">
                <a16:creationId xmlns:a16="http://schemas.microsoft.com/office/drawing/2014/main" id="{BB01C699-3BAE-44CB-93C2-7E939D7A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472" y="5021924"/>
            <a:ext cx="2362200" cy="23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268"/>
              <a:buFont typeface="Microsoft JhengHei"/>
              <a:buNone/>
            </a:pPr>
            <a:r>
              <a:rPr sz="1268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追蹤：學習趨勢</a:t>
            </a:r>
            <a:endParaRPr sz="1578"/>
          </a:p>
        </p:txBody>
      </p:sp>
      <p:sp>
        <p:nvSpPr>
          <p:cNvPr id="120" name="Google Shape;120;p7">
            <a:extLst xmlns:a="http://schemas.openxmlformats.org/drawingml/2006/main">
              <a:ext uri="{FF2B5EF4-FFF2-40B4-BE49-F238E27FC236}">
                <a16:creationId xmlns:a16="http://schemas.microsoft.com/office/drawing/2014/main" id="{6735BEAC-BA97-4FF5-8C92-787CA2D0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5138"/>
            <a:ext cx="9951900" cy="105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sz="19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Words King 的核心目的並非單純提供單字庫，</a:t>
            </a:r>
            <a:endParaRPr sz="1900">
              <a:solidFill>
                <a:srgbClr val="5D6B62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sz="19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而是引導使用者透過實作練習發現個人學習盲點。</a:t>
            </a:r>
            <a:endParaRPr sz="1900">
              <a:solidFill>
                <a:srgbClr val="5D6B62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sz="19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系統隨後進行數據分析並提供精準練題，協助使用者徹底克服難點、提升學習效率。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900138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Google Shape;126;p8">
            <a:extLst xmlns:a="http://schemas.openxmlformats.org/drawingml/2006/main">
              <a:ext uri="{FF2B5EF4-FFF2-40B4-BE49-F238E27FC236}">
                <a16:creationId xmlns:a16="http://schemas.microsoft.com/office/drawing/2014/main" id="{8DD88E46-5516-4714-AB17-37D9247D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8">
            <a:extLst xmlns:a="http://schemas.openxmlformats.org/drawingml/2006/main">
              <a:ext uri="{FF2B5EF4-FFF2-40B4-BE49-F238E27FC236}">
                <a16:creationId xmlns:a16="http://schemas.microsoft.com/office/drawing/2014/main" id="{3F5B4F98-0CF7-42FB-A78B-CD395456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125"/>
              <a:buFont typeface="Microsoft JhengHei"/>
              <a:buNone/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PROBLEM FRAMING</a:t>
            </a:r>
            <a:endParaRPr/>
          </a:p>
        </p:txBody>
      </p:sp>
      <p:sp>
        <p:nvSpPr>
          <p:cNvPr id="128" name="Google Shape;128;p8">
            <a:extLst xmlns:a="http://schemas.openxmlformats.org/drawingml/2006/main">
              <a:ext uri="{FF2B5EF4-FFF2-40B4-BE49-F238E27FC236}">
                <a16:creationId xmlns:a16="http://schemas.microsoft.com/office/drawing/2014/main" id="{7C3272B7-4CA5-4413-8B9D-98CE282F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3225"/>
              <a:buFont typeface="Microsoft JhengHei"/>
              <a:buNone/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趨勢功能</a:t>
            </a: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把『會背』</a:t>
            </a: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變</a:t>
            </a: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成</a:t>
            </a: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能看見的</a:t>
            </a: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『掌握程度』</a:t>
            </a:r>
            <a:endParaRPr/>
          </a:p>
        </p:txBody>
      </p:sp>
      <p:sp>
        <p:nvSpPr>
          <p:cNvPr id="129" name="Google Shape;129;p8">
            <a:extLst xmlns:a="http://schemas.openxmlformats.org/drawingml/2006/main">
              <a:ext uri="{FF2B5EF4-FFF2-40B4-BE49-F238E27FC236}">
                <a16:creationId xmlns:a16="http://schemas.microsoft.com/office/drawing/2014/main" id="{45E66A83-E273-46A5-A086-81F9154D5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6250"/>
            <a:ext cx="10820400" cy="146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sz="19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使用者於單字庫完成單字複習後，</a:t>
            </a:r>
            <a:endParaRPr sz="1900">
              <a:solidFill>
                <a:srgbClr val="5D6B62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sz="19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可進入練習區選擇單元與模式進行測驗。</a:t>
            </a:r>
            <a:endParaRPr sz="1900">
              <a:solidFill>
                <a:srgbClr val="5D6B62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sz="19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測驗完畢後，系統會彙整答題數據並傳送至後端儲存。</a:t>
            </a:r>
            <a:endParaRPr sz="1900">
              <a:solidFill>
                <a:srgbClr val="5D6B62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sz="19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下次使用者再次測驗時，系統將依據先前的答題表現，</a:t>
            </a:r>
            <a:endParaRPr sz="1900">
              <a:solidFill>
                <a:srgbClr val="5D6B62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sz="19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結合錯題演算法精準推送並調整題目。</a:t>
            </a:r>
            <a:r>
              <a:rPr sz="15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endParaRPr/>
          </a:p>
        </p:txBody>
      </p:sp>
      <p:sp>
        <p:nvSpPr>
          <p:cNvPr id="130" name="Google Shape;130;p8">
            <a:extLst xmlns:a="http://schemas.openxmlformats.org/drawingml/2006/main">
              <a:ext uri="{FF2B5EF4-FFF2-40B4-BE49-F238E27FC236}">
                <a16:creationId xmlns:a16="http://schemas.microsoft.com/office/drawing/2014/main" id="{B6406077-526D-48AD-A21A-37E4334D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975"/>
              <a:buFont typeface="Microsoft JhengHei"/>
              <a:buNone/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</a:t>
            </a: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6</a:t>
            </a:r>
            <a:endParaRPr/>
          </a:p>
        </p:txBody>
      </p:sp>
      <p:cxnSp>
        <p:nvCxnSpPr>
          <p:cNvPr id="153" name="Google Shape;131;p8"/>
          <p:cNvCxnSpPr/>
          <p:nvPr/>
        </p:nvCxnSpPr>
        <p:spPr>
          <a:xfrm xmlns:a="http://schemas.openxmlformats.org/drawingml/2006/main">
            <a:off x="3390900" y="3657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CBD6C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54" name="Google Shape;132;p8"/>
          <p:cNvCxnSpPr/>
          <p:nvPr/>
        </p:nvCxnSpPr>
        <p:spPr>
          <a:xfrm xmlns:a="http://schemas.openxmlformats.org/drawingml/2006/main">
            <a:off x="7105650" y="3657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 cap="flat">
            <a:solidFill>
              <a:srgbClr val="CBD6C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3" name="Google Shape;133;p8">
            <a:extLst xmlns:a="http://schemas.openxmlformats.org/drawingml/2006/main">
              <a:ext uri="{FF2B5EF4-FFF2-40B4-BE49-F238E27FC236}">
                <a16:creationId xmlns:a16="http://schemas.microsoft.com/office/drawing/2014/main" id="{423F6E8A-311A-40BA-A370-DA8E4C00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61925"/>
            <a:ext cx="2667000" cy="2362200"/>
          </a:xfrm>
          <a:prstGeom xmlns:a="http://schemas.openxmlformats.org/drawingml/2006/main" prst="roundRect">
            <a:avLst>
              <a:gd name="adj" fmla="val 8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">
            <a:extLst xmlns:a="http://schemas.openxmlformats.org/drawingml/2006/main">
              <a:ext uri="{FF2B5EF4-FFF2-40B4-BE49-F238E27FC236}">
                <a16:creationId xmlns:a16="http://schemas.microsoft.com/office/drawing/2014/main" id="{AE36B599-7370-4BC8-8766-7EB14120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90525"/>
            <a:ext cx="514500" cy="5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7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>
            <a:extLst xmlns:a="http://schemas.openxmlformats.org/drawingml/2006/main">
              <a:ext uri="{FF2B5EF4-FFF2-40B4-BE49-F238E27FC236}">
                <a16:creationId xmlns:a16="http://schemas.microsoft.com/office/drawing/2014/main" id="{071FE151-A94B-4B33-A2DF-9E89CDB7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04825"/>
            <a:ext cx="5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B4E"/>
              </a:buClr>
              <a:buSzPts val="1350"/>
              <a:buFont typeface="Microsoft JhengHei"/>
              <a:buNone/>
            </a:pPr>
            <a:r>
              <a:rPr sz="135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  <a:endParaRPr/>
          </a:p>
        </p:txBody>
      </p:sp>
      <p:sp>
        <p:nvSpPr>
          <p:cNvPr id="136" name="Google Shape;136;p8">
            <a:extLst xmlns:a="http://schemas.openxmlformats.org/drawingml/2006/main">
              <a:ext uri="{FF2B5EF4-FFF2-40B4-BE49-F238E27FC236}">
                <a16:creationId xmlns:a16="http://schemas.microsoft.com/office/drawing/2014/main" id="{687C2835-5BF9-44EB-BE93-C1D043A9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52525"/>
            <a:ext cx="220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2400"/>
              <a:buFont typeface="Microsoft JhengHei"/>
              <a:buNone/>
            </a:pPr>
            <a:r>
              <a:rPr sz="24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理解</a:t>
            </a:r>
            <a:endParaRPr/>
          </a:p>
        </p:txBody>
      </p:sp>
      <p:sp>
        <p:nvSpPr>
          <p:cNvPr id="137" name="Google Shape;137;p8">
            <a:extLst xmlns:a="http://schemas.openxmlformats.org/drawingml/2006/main">
              <a:ext uri="{FF2B5EF4-FFF2-40B4-BE49-F238E27FC236}">
                <a16:creationId xmlns:a16="http://schemas.microsoft.com/office/drawing/2014/main" id="{DDC53BA6-7EDD-44F6-BA06-9D9CF1201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24025"/>
            <a:ext cx="220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425"/>
              <a:buFont typeface="Microsoft JhengHei"/>
              <a:buNone/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以字根、詞源、詞義與例句建立記憶線索。</a:t>
            </a:r>
            <a:endParaRPr/>
          </a:p>
        </p:txBody>
      </p:sp>
      <p:sp>
        <p:nvSpPr>
          <p:cNvPr id="138" name="Google Shape;138;p8">
            <a:extLst xmlns:a="http://schemas.openxmlformats.org/drawingml/2006/main">
              <a:ext uri="{FF2B5EF4-FFF2-40B4-BE49-F238E27FC236}">
                <a16:creationId xmlns:a16="http://schemas.microsoft.com/office/drawing/2014/main" id="{83E38438-AA77-4F4B-9FFB-C02E727D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961925"/>
            <a:ext cx="2952900" cy="2362200"/>
          </a:xfrm>
          <a:prstGeom xmlns:a="http://schemas.openxmlformats.org/drawingml/2006/main" prst="roundRect">
            <a:avLst>
              <a:gd name="adj" fmla="val 8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>
            <a:extLst xmlns:a="http://schemas.openxmlformats.org/drawingml/2006/main">
              <a:ext uri="{FF2B5EF4-FFF2-40B4-BE49-F238E27FC236}">
                <a16:creationId xmlns:a16="http://schemas.microsoft.com/office/drawing/2014/main" id="{33EB7B87-AAFC-4432-BC03-7750577D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90525"/>
            <a:ext cx="514500" cy="5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8">
            <a:extLst xmlns:a="http://schemas.openxmlformats.org/drawingml/2006/main">
              <a:ext uri="{FF2B5EF4-FFF2-40B4-BE49-F238E27FC236}">
                <a16:creationId xmlns:a16="http://schemas.microsoft.com/office/drawing/2014/main" id="{D2D38504-0DF1-4276-9E26-F643D92C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04825"/>
            <a:ext cx="5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350"/>
              <a:buFont typeface="Microsoft JhengHei"/>
              <a:buNone/>
            </a:pPr>
            <a:r>
              <a:rPr sz="13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  <a:endParaRPr/>
          </a:p>
        </p:txBody>
      </p:sp>
      <p:sp>
        <p:nvSpPr>
          <p:cNvPr id="141" name="Google Shape;141;p8">
            <a:extLst xmlns:a="http://schemas.openxmlformats.org/drawingml/2006/main">
              <a:ext uri="{FF2B5EF4-FFF2-40B4-BE49-F238E27FC236}">
                <a16:creationId xmlns:a16="http://schemas.microsoft.com/office/drawing/2014/main" id="{822A6438-E116-4468-8DD5-8ED39BD8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52525"/>
            <a:ext cx="2495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2400"/>
              <a:buFont typeface="Microsoft JhengHei"/>
              <a:buNone/>
            </a:pPr>
            <a:r>
              <a:rPr sz="24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練習</a:t>
            </a:r>
            <a:endParaRPr/>
          </a:p>
        </p:txBody>
      </p:sp>
      <p:sp>
        <p:nvSpPr>
          <p:cNvPr id="142" name="Google Shape;142;p8">
            <a:extLst xmlns:a="http://schemas.openxmlformats.org/drawingml/2006/main">
              <a:ext uri="{FF2B5EF4-FFF2-40B4-BE49-F238E27FC236}">
                <a16:creationId xmlns:a16="http://schemas.microsoft.com/office/drawing/2014/main" id="{5DF627D6-C6C4-45F4-B9C3-D4DBFF5C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24025"/>
            <a:ext cx="24957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425"/>
              <a:buFont typeface="Microsoft JhengHei"/>
              <a:buNone/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用中選英、看中打英、克漏字等模式</a:t>
            </a:r>
            <a:r>
              <a:rPr sz="142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練習</a:t>
            </a: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  <a:endParaRPr/>
          </a:p>
        </p:txBody>
      </p:sp>
      <p:sp>
        <p:nvSpPr>
          <p:cNvPr id="143" name="Google Shape;143;p8">
            <a:extLst xmlns:a="http://schemas.openxmlformats.org/drawingml/2006/main">
              <a:ext uri="{FF2B5EF4-FFF2-40B4-BE49-F238E27FC236}">
                <a16:creationId xmlns:a16="http://schemas.microsoft.com/office/drawing/2014/main" id="{7FC0D494-A689-48D3-A04E-D799EDE9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961925"/>
            <a:ext cx="3600600" cy="2362200"/>
          </a:xfrm>
          <a:prstGeom xmlns:a="http://schemas.openxmlformats.org/drawingml/2006/main" prst="roundRect">
            <a:avLst>
              <a:gd name="adj" fmla="val 88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>
            <a:extLst xmlns:a="http://schemas.openxmlformats.org/drawingml/2006/main">
              <a:ext uri="{FF2B5EF4-FFF2-40B4-BE49-F238E27FC236}">
                <a16:creationId xmlns:a16="http://schemas.microsoft.com/office/drawing/2014/main" id="{9986FC45-BF40-444D-B03C-A8529BA8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90525"/>
            <a:ext cx="514500" cy="514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9D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>
            <a:extLst xmlns:a="http://schemas.openxmlformats.org/drawingml/2006/main">
              <a:ext uri="{FF2B5EF4-FFF2-40B4-BE49-F238E27FC236}">
                <a16:creationId xmlns:a16="http://schemas.microsoft.com/office/drawing/2014/main" id="{64F8FCA7-E097-4329-A9A9-046CEF81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04825"/>
            <a:ext cx="5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5620"/>
              </a:buClr>
              <a:buSzPts val="1350"/>
              <a:buFont typeface="Microsoft JhengHei"/>
              <a:buNone/>
            </a:pPr>
            <a:r>
              <a:rPr sz="1350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  <a:endParaRPr/>
          </a:p>
        </p:txBody>
      </p:sp>
      <p:sp>
        <p:nvSpPr>
          <p:cNvPr id="146" name="Google Shape;146;p8">
            <a:extLst xmlns:a="http://schemas.openxmlformats.org/drawingml/2006/main">
              <a:ext uri="{FF2B5EF4-FFF2-40B4-BE49-F238E27FC236}">
                <a16:creationId xmlns:a16="http://schemas.microsoft.com/office/drawing/2014/main" id="{D072C838-6DF7-40F0-9966-32964BC9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52525"/>
            <a:ext cx="314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2400"/>
              <a:buFont typeface="Microsoft JhengHei"/>
              <a:buNone/>
            </a:pPr>
            <a:r>
              <a:rPr sz="24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追蹤</a:t>
            </a:r>
            <a:endParaRPr/>
          </a:p>
        </p:txBody>
      </p:sp>
      <p:sp>
        <p:nvSpPr>
          <p:cNvPr id="147" name="Google Shape;147;p8">
            <a:extLst xmlns:a="http://schemas.openxmlformats.org/drawingml/2006/main">
              <a:ext uri="{FF2B5EF4-FFF2-40B4-BE49-F238E27FC236}">
                <a16:creationId xmlns:a16="http://schemas.microsoft.com/office/drawing/2014/main" id="{6BB84C55-3209-428A-82F5-F7A091EC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24025"/>
            <a:ext cx="3143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425"/>
              <a:buFont typeface="Microsoft JhengHei"/>
              <a:buNone/>
            </a:pP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保留作答、錯題與熟練度，讓下一次複習</a:t>
            </a:r>
            <a:r>
              <a:rPr sz="142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可以做出更精準的題目推送</a:t>
            </a:r>
            <a:r>
              <a:rPr sz="142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994452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" name="Google Shape;153;p9">
            <a:extLst xmlns:a="http://schemas.openxmlformats.org/drawingml/2006/main">
              <a:ext uri="{FF2B5EF4-FFF2-40B4-BE49-F238E27FC236}">
                <a16:creationId xmlns:a16="http://schemas.microsoft.com/office/drawing/2014/main" id="{7A3156E6-913A-44ED-95F0-9E160D24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">
            <a:extLst xmlns:a="http://schemas.openxmlformats.org/drawingml/2006/main">
              <a:ext uri="{FF2B5EF4-FFF2-40B4-BE49-F238E27FC236}">
                <a16:creationId xmlns:a16="http://schemas.microsoft.com/office/drawing/2014/main" id="{624C0532-8C13-4F64-8431-F8B83C4D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125"/>
              <a:buFont typeface="Microsoft JhengHei"/>
              <a:buNone/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AI RELIABILITY</a:t>
            </a:r>
            <a:endParaRPr/>
          </a:p>
        </p:txBody>
      </p:sp>
      <p:sp>
        <p:nvSpPr>
          <p:cNvPr id="155" name="Google Shape;155;p9">
            <a:extLst xmlns:a="http://schemas.openxmlformats.org/drawingml/2006/main">
              <a:ext uri="{FF2B5EF4-FFF2-40B4-BE49-F238E27FC236}">
                <a16:creationId xmlns:a16="http://schemas.microsoft.com/office/drawing/2014/main" id="{20D26C95-94DC-4299-86E1-471CE8CD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3225"/>
              <a:buFont typeface="Microsoft JhengHei"/>
              <a:buNone/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單字庫入庫</a:t>
            </a: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品質控制讓</a:t>
            </a: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優質</a:t>
            </a: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 AI 內容</a:t>
            </a: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才</a:t>
            </a: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能進入</a:t>
            </a: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資料</a:t>
            </a: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系統</a:t>
            </a:r>
            <a:endParaRPr/>
          </a:p>
        </p:txBody>
      </p:sp>
      <p:sp>
        <p:nvSpPr>
          <p:cNvPr id="156" name="Google Shape;156;p9">
            <a:extLst xmlns:a="http://schemas.openxmlformats.org/drawingml/2006/main">
              <a:ext uri="{FF2B5EF4-FFF2-40B4-BE49-F238E27FC236}">
                <a16:creationId xmlns:a16="http://schemas.microsoft.com/office/drawing/2014/main" id="{7476C1A1-FA99-4DA1-9932-409F0E2A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2052"/>
            <a:ext cx="10820400" cy="98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sz="15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針對 AI 輸出內容的不確定性，我們設計了「AI 自我核查」與「人工最終把關」的雙重防線。</a:t>
            </a:r>
            <a:endParaRPr sz="1500">
              <a:solidFill>
                <a:srgbClr val="5D6B62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sz="15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資料經由 AI 內部的「初審、複審、最終仲裁」三重自我審查與格式過濾，能有效收斂異常；</a:t>
            </a:r>
            <a:endParaRPr sz="1500">
              <a:solidFill>
                <a:srgbClr val="5D6B62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sz="15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最終再經由人工專業審核，確保進入資料庫的每一筆資料皆具備高穩定度與檢索價值。 </a:t>
            </a:r>
            <a:endParaRPr/>
          </a:p>
        </p:txBody>
      </p:sp>
      <p:sp>
        <p:nvSpPr>
          <p:cNvPr id="157" name="Google Shape;157;p9">
            <a:extLst xmlns:a="http://schemas.openxmlformats.org/drawingml/2006/main">
              <a:ext uri="{FF2B5EF4-FFF2-40B4-BE49-F238E27FC236}">
                <a16:creationId xmlns:a16="http://schemas.microsoft.com/office/drawing/2014/main" id="{4639FCBA-D760-4B17-9DE5-75811759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975"/>
              <a:buFont typeface="Microsoft JhengHei"/>
              <a:buNone/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  <a:endParaRPr/>
          </a:p>
        </p:txBody>
      </p:sp>
      <p:cxnSp>
        <p:nvCxnSpPr>
          <p:cNvPr id="179" name="Google Shape;158;p9"/>
          <p:cNvCxnSpPr/>
          <p:nvPr/>
        </p:nvCxnSpPr>
        <p:spPr>
          <a:xfrm xmlns:a="http://schemas.openxmlformats.org/drawingml/2006/main">
            <a:off x="6057900" y="3124200"/>
            <a:ext cx="47625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 cap="flat">
            <a:solidFill>
              <a:srgbClr val="CBD6C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9" name="Google Shape;159;p9">
            <a:extLst xmlns:a="http://schemas.openxmlformats.org/drawingml/2006/main">
              <a:ext uri="{FF2B5EF4-FFF2-40B4-BE49-F238E27FC236}">
                <a16:creationId xmlns:a16="http://schemas.microsoft.com/office/drawing/2014/main" id="{02612991-A67A-492A-8BB5-ADEE3C1A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67000"/>
            <a:ext cx="9144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7F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">
            <a:extLst xmlns:a="http://schemas.openxmlformats.org/drawingml/2006/main">
              <a:ext uri="{FF2B5EF4-FFF2-40B4-BE49-F238E27FC236}">
                <a16:creationId xmlns:a16="http://schemas.microsoft.com/office/drawing/2014/main" id="{BF398BF5-2A69-40A4-AAE3-9824643B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9560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B4E"/>
              </a:buClr>
              <a:buSzPts val="2325"/>
              <a:buFont typeface="Microsoft JhengHei"/>
              <a:buNone/>
            </a:pPr>
            <a:r>
              <a:rPr sz="2325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1</a:t>
            </a:r>
            <a:endParaRPr/>
          </a:p>
        </p:txBody>
      </p:sp>
      <p:sp>
        <p:nvSpPr>
          <p:cNvPr id="161" name="Google Shape;161;p9">
            <a:extLst xmlns:a="http://schemas.openxmlformats.org/drawingml/2006/main">
              <a:ext uri="{FF2B5EF4-FFF2-40B4-BE49-F238E27FC236}">
                <a16:creationId xmlns:a16="http://schemas.microsoft.com/office/drawing/2014/main" id="{B0317F48-4DD5-42A0-B63C-731667E0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7909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725"/>
              <a:buFont typeface="Microsoft JhengHei"/>
              <a:buNone/>
            </a:pPr>
            <a:r>
              <a: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生成</a:t>
            </a:r>
            <a:endParaRPr/>
          </a:p>
        </p:txBody>
      </p:sp>
      <p:sp>
        <p:nvSpPr>
          <p:cNvPr id="162" name="Google Shape;162;p9">
            <a:extLst xmlns:a="http://schemas.openxmlformats.org/drawingml/2006/main">
              <a:ext uri="{FF2B5EF4-FFF2-40B4-BE49-F238E27FC236}">
                <a16:creationId xmlns:a16="http://schemas.microsoft.com/office/drawing/2014/main" id="{964E8A61-36B0-47EC-B516-B0D57A13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2100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275"/>
              <a:buFont typeface="Microsoft JhengHei"/>
              <a:buNone/>
            </a:pPr>
            <a:r>
              <a: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建立初稿</a:t>
            </a:r>
            <a:endParaRPr/>
          </a:p>
        </p:txBody>
      </p:sp>
      <p:sp>
        <p:nvSpPr>
          <p:cNvPr id="163" name="Google Shape;163;p9">
            <a:extLst xmlns:a="http://schemas.openxmlformats.org/drawingml/2006/main">
              <a:ext uri="{FF2B5EF4-FFF2-40B4-BE49-F238E27FC236}">
                <a16:creationId xmlns:a16="http://schemas.microsoft.com/office/drawing/2014/main" id="{EB0DD88F-D775-46C5-A839-0780FFC6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67000"/>
            <a:ext cx="9144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9D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>
            <a:extLst xmlns:a="http://schemas.openxmlformats.org/drawingml/2006/main">
              <a:ext uri="{FF2B5EF4-FFF2-40B4-BE49-F238E27FC236}">
                <a16:creationId xmlns:a16="http://schemas.microsoft.com/office/drawing/2014/main" id="{93DED767-5820-4ABD-B9D7-9170434D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9560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2325"/>
              <a:buFont typeface="Microsoft JhengHei"/>
              <a:buNone/>
            </a:pPr>
            <a:r>
              <a:rPr sz="23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2</a:t>
            </a:r>
            <a:endParaRPr/>
          </a:p>
        </p:txBody>
      </p:sp>
      <p:sp>
        <p:nvSpPr>
          <p:cNvPr id="165" name="Google Shape;165;p9">
            <a:extLst xmlns:a="http://schemas.openxmlformats.org/drawingml/2006/main">
              <a:ext uri="{FF2B5EF4-FFF2-40B4-BE49-F238E27FC236}">
                <a16:creationId xmlns:a16="http://schemas.microsoft.com/office/drawing/2014/main" id="{68F989F5-F48E-4974-919B-428560E8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909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725"/>
              <a:buFont typeface="Microsoft JhengHei"/>
              <a:buNone/>
            </a:pPr>
            <a:r>
              <a: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兩次</a:t>
            </a:r>
            <a:r>
              <a: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複核</a:t>
            </a:r>
            <a:endParaRPr/>
          </a:p>
        </p:txBody>
      </p:sp>
      <p:sp>
        <p:nvSpPr>
          <p:cNvPr id="166" name="Google Shape;166;p9">
            <a:extLst xmlns:a="http://schemas.openxmlformats.org/drawingml/2006/main">
              <a:ext uri="{FF2B5EF4-FFF2-40B4-BE49-F238E27FC236}">
                <a16:creationId xmlns:a16="http://schemas.microsoft.com/office/drawing/2014/main" id="{F1515B04-18EA-475D-B7EE-CF4A5A16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2100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275"/>
              <a:buFont typeface="Microsoft JhengHei"/>
              <a:buNone/>
            </a:pPr>
            <a:r>
              <a: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檢查缺漏</a:t>
            </a:r>
            <a:endParaRPr/>
          </a:p>
        </p:txBody>
      </p:sp>
      <p:sp>
        <p:nvSpPr>
          <p:cNvPr id="167" name="Google Shape;167;p9">
            <a:extLst xmlns:a="http://schemas.openxmlformats.org/drawingml/2006/main">
              <a:ext uri="{FF2B5EF4-FFF2-40B4-BE49-F238E27FC236}">
                <a16:creationId xmlns:a16="http://schemas.microsoft.com/office/drawing/2014/main" id="{9F669583-4A25-4420-B751-ABA296D3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67000"/>
            <a:ext cx="914400" cy="914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E9D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>
            <a:extLst xmlns:a="http://schemas.openxmlformats.org/drawingml/2006/main">
              <a:ext uri="{FF2B5EF4-FFF2-40B4-BE49-F238E27FC236}">
                <a16:creationId xmlns:a16="http://schemas.microsoft.com/office/drawing/2014/main" id="{151C4ED8-D5C8-4C38-980B-4FE69082C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895600"/>
            <a:ext cx="91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5620"/>
              </a:buClr>
              <a:buSzPts val="2325"/>
              <a:buFont typeface="Microsoft JhengHei"/>
              <a:buNone/>
            </a:pPr>
            <a:r>
              <a:rPr sz="2325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rPr>
              <a:t>3</a:t>
            </a:r>
            <a:endParaRPr/>
          </a:p>
        </p:txBody>
      </p:sp>
      <p:sp>
        <p:nvSpPr>
          <p:cNvPr id="169" name="Google Shape;169;p9">
            <a:extLst xmlns:a="http://schemas.openxmlformats.org/drawingml/2006/main">
              <a:ext uri="{FF2B5EF4-FFF2-40B4-BE49-F238E27FC236}">
                <a16:creationId xmlns:a16="http://schemas.microsoft.com/office/drawing/2014/main" id="{EDC98E73-893F-4C13-9ABC-98DD2806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790950"/>
            <a:ext cx="1447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725"/>
              <a:buFont typeface="Microsoft JhengHei"/>
              <a:buNone/>
            </a:pPr>
            <a:r>
              <a:rPr sz="17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仲裁</a:t>
            </a:r>
            <a:endParaRPr/>
          </a:p>
        </p:txBody>
      </p:sp>
      <p:sp>
        <p:nvSpPr>
          <p:cNvPr id="170" name="Google Shape;170;p9">
            <a:extLst xmlns:a="http://schemas.openxmlformats.org/drawingml/2006/main">
              <a:ext uri="{FF2B5EF4-FFF2-40B4-BE49-F238E27FC236}">
                <a16:creationId xmlns:a16="http://schemas.microsoft.com/office/drawing/2014/main" id="{744F9117-D303-4638-A1EA-78EEFEEC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21005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275"/>
              <a:buFont typeface="Microsoft JhengHei"/>
              <a:buNone/>
            </a:pPr>
            <a:r>
              <a:rPr sz="12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決定最終稿</a:t>
            </a:r>
            <a:endParaRPr/>
          </a:p>
        </p:txBody>
      </p:sp>
      <p:sp>
        <p:nvSpPr>
          <p:cNvPr id="171" name="Google Shape;171;p9">
            <a:extLst xmlns:a="http://schemas.openxmlformats.org/drawingml/2006/main">
              <a:ext uri="{FF2B5EF4-FFF2-40B4-BE49-F238E27FC236}">
                <a16:creationId xmlns:a16="http://schemas.microsoft.com/office/drawing/2014/main" id="{972EC77E-5C67-4D96-9A8E-A0E41C88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857750"/>
            <a:ext cx="476250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9">
            <a:extLst xmlns:a="http://schemas.openxmlformats.org/drawingml/2006/main">
              <a:ext uri="{FF2B5EF4-FFF2-40B4-BE49-F238E27FC236}">
                <a16:creationId xmlns:a16="http://schemas.microsoft.com/office/drawing/2014/main" id="{B1EB3C1C-3FC0-458C-993E-6C5D8808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350" y="4972050"/>
            <a:ext cx="4743600" cy="5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350"/>
              <a:buFont typeface="Microsoft JhengHei"/>
              <a:buNone/>
            </a:pPr>
            <a:r>
              <a:rPr sz="15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最後仍要通過：</a:t>
            </a:r>
            <a:endParaRPr sz="1550" b="1">
              <a:solidFill>
                <a:srgbClr val="315F45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marL="0" marR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350"/>
              <a:buFont typeface="Microsoft JhengHei"/>
              <a:buNone/>
            </a:pPr>
            <a:r>
              <a:rPr sz="155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json格式驗證 · 詞性規則 · 漏字／重複檢查 · 失敗回退</a:t>
            </a:r>
            <a:endParaRPr sz="1600"/>
          </a:p>
        </p:txBody>
      </p:sp>
      <p:pic>
        <p:nvPicPr>
          <p:cNvPr id="194" name="Google Shape;173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a6ecdb6a1d841d6">
            <a:alphaModFix/>
          </a:blip>
          <a:srcRect xmlns:a="http://schemas.openxmlformats.org/drawingml/2006/main" l="0" t="0" r="4689" b="23530"/>
          <a:stretch xmlns:a="http://schemas.openxmlformats.org/drawingml/2006/main"/>
        </p:blipFill>
        <p:spPr>
          <a:xfrm xmlns:a="http://schemas.openxmlformats.org/drawingml/2006/main">
            <a:off x="197600" y="2378275"/>
            <a:ext cx="5747222" cy="259377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2428567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9" name="Google Shape;179;p10">
            <a:extLst xmlns:a="http://schemas.openxmlformats.org/drawingml/2006/main">
              <a:ext uri="{FF2B5EF4-FFF2-40B4-BE49-F238E27FC236}">
                <a16:creationId xmlns:a16="http://schemas.microsoft.com/office/drawing/2014/main" id="{94ABCA70-7CF9-41CA-A58F-8D78F998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">
            <a:extLst xmlns:a="http://schemas.openxmlformats.org/drawingml/2006/main">
              <a:ext uri="{FF2B5EF4-FFF2-40B4-BE49-F238E27FC236}">
                <a16:creationId xmlns:a16="http://schemas.microsoft.com/office/drawing/2014/main" id="{473D54E1-51E2-4D63-B65E-34ADD464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125"/>
              <a:buFont typeface="Microsoft JhengHei"/>
              <a:buNone/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EVIDENCE</a:t>
            </a:r>
            <a:endParaRPr/>
          </a:p>
        </p:txBody>
      </p:sp>
      <p:sp>
        <p:nvSpPr>
          <p:cNvPr id="181" name="Google Shape;181;p10">
            <a:extLst xmlns:a="http://schemas.openxmlformats.org/drawingml/2006/main">
              <a:ext uri="{FF2B5EF4-FFF2-40B4-BE49-F238E27FC236}">
                <a16:creationId xmlns:a16="http://schemas.microsoft.com/office/drawing/2014/main" id="{132D085E-E91B-4D7A-87BA-E3A9555C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3225"/>
              <a:buFont typeface="Microsoft JhengHei"/>
              <a:buNone/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Words King 已累積真實使用紀錄</a:t>
            </a:r>
            <a:endParaRPr/>
          </a:p>
        </p:txBody>
      </p:sp>
      <p:sp>
        <p:nvSpPr>
          <p:cNvPr id="182" name="Google Shape;182;p10">
            <a:extLst xmlns:a="http://schemas.openxmlformats.org/drawingml/2006/main">
              <a:ext uri="{FF2B5EF4-FFF2-40B4-BE49-F238E27FC236}">
                <a16:creationId xmlns:a16="http://schemas.microsoft.com/office/drawing/2014/main" id="{7A97C1B1-F429-4F3B-9348-BE7BC588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0492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sz="150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內容規模與作答資料，讓我能觀察系統運作並持續調整功能。</a:t>
            </a:r>
            <a:endParaRPr/>
          </a:p>
        </p:txBody>
      </p:sp>
      <p:sp>
        <p:nvSpPr>
          <p:cNvPr id="183" name="Google Shape;183;p10">
            <a:extLst xmlns:a="http://schemas.openxmlformats.org/drawingml/2006/main">
              <a:ext uri="{FF2B5EF4-FFF2-40B4-BE49-F238E27FC236}">
                <a16:creationId xmlns:a16="http://schemas.microsoft.com/office/drawing/2014/main" id="{527D7E4C-E47C-46B1-8F87-A012D328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975"/>
              <a:buFont typeface="Microsoft JhengHei"/>
              <a:buNone/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  <a:endParaRPr/>
          </a:p>
        </p:txBody>
      </p:sp>
      <p:sp>
        <p:nvSpPr>
          <p:cNvPr id="184" name="Google Shape;184;p10">
            <a:extLst xmlns:a="http://schemas.openxmlformats.org/drawingml/2006/main">
              <a:ext uri="{FF2B5EF4-FFF2-40B4-BE49-F238E27FC236}">
                <a16:creationId xmlns:a16="http://schemas.microsoft.com/office/drawing/2014/main" id="{30157EFA-AF74-4180-BAD4-A58E4947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190900" cy="5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B4E"/>
              </a:buClr>
              <a:buSzPts val="3600"/>
              <a:buFont typeface="Microsoft JhengHei"/>
              <a:buNone/>
            </a:pPr>
            <a:r>
              <a:rPr sz="360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3,</a:t>
            </a:r>
            <a:r>
              <a:rPr sz="3600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684 </a:t>
            </a:r>
            <a:endParaRPr/>
          </a:p>
        </p:txBody>
      </p:sp>
      <p:cxnSp>
        <p:nvCxnSpPr>
          <p:cNvPr id="204" name="Google Shape;185;p10"/>
          <p:cNvCxnSpPr/>
          <p:nvPr/>
        </p:nvCxnSpPr>
        <p:spPr>
          <a:xfrm xmlns:a="http://schemas.openxmlformats.org/drawingml/2006/main">
            <a:off x="742950" y="2819400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CBD6C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6" name="Google Shape;186;p10">
            <a:extLst xmlns:a="http://schemas.openxmlformats.org/drawingml/2006/main">
              <a:ext uri="{FF2B5EF4-FFF2-40B4-BE49-F238E27FC236}">
                <a16:creationId xmlns:a16="http://schemas.microsoft.com/office/drawing/2014/main" id="{469489FE-3FC2-4974-A5CF-D40D403D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350"/>
              <a:buFont typeface="Microsoft JhengHei"/>
              <a:buNone/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個</a:t>
            </a: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單字</a:t>
            </a:r>
            <a:endParaRPr/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350"/>
              <a:buFont typeface="Microsoft JhengHei"/>
              <a:buNone/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分布於 71 個單元</a:t>
            </a:r>
            <a:endParaRPr/>
          </a:p>
        </p:txBody>
      </p:sp>
      <p:sp>
        <p:nvSpPr>
          <p:cNvPr id="187" name="Google Shape;187;p10">
            <a:extLst xmlns:a="http://schemas.openxmlformats.org/drawingml/2006/main">
              <a:ext uri="{FF2B5EF4-FFF2-40B4-BE49-F238E27FC236}">
                <a16:creationId xmlns:a16="http://schemas.microsoft.com/office/drawing/2014/main" id="{A1341FAD-52D7-4F44-A181-4D49B79D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907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3600"/>
              <a:buFont typeface="Microsoft JhengHei"/>
              <a:buNone/>
            </a:pPr>
            <a:r>
              <a:rPr sz="3600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38</a:t>
            </a:r>
            <a:endParaRPr/>
          </a:p>
        </p:txBody>
      </p:sp>
      <p:cxnSp>
        <p:nvCxnSpPr>
          <p:cNvPr id="207" name="Google Shape;188;p10"/>
          <p:cNvCxnSpPr/>
          <p:nvPr/>
        </p:nvCxnSpPr>
        <p:spPr>
          <a:xfrm xmlns:a="http://schemas.openxmlformats.org/drawingml/2006/main">
            <a:off x="3448050" y="2819400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CBD6C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9" name="Google Shape;189;p10">
            <a:extLst xmlns:a="http://schemas.openxmlformats.org/drawingml/2006/main">
              <a:ext uri="{FF2B5EF4-FFF2-40B4-BE49-F238E27FC236}">
                <a16:creationId xmlns:a16="http://schemas.microsoft.com/office/drawing/2014/main" id="{B0FFB4FB-6867-4814-9CBA-3E330E35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337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350"/>
              <a:buFont typeface="Microsoft JhengHei"/>
              <a:buNone/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位造訪者</a:t>
            </a:r>
            <a:endParaRPr/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350"/>
              <a:buFont typeface="Microsoft JhengHei"/>
              <a:buNone/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公開服務使用紀錄</a:t>
            </a:r>
            <a:endParaRPr/>
          </a:p>
        </p:txBody>
      </p:sp>
      <p:sp>
        <p:nvSpPr>
          <p:cNvPr id="190" name="Google Shape;190;p10">
            <a:extLst xmlns:a="http://schemas.openxmlformats.org/drawingml/2006/main">
              <a:ext uri="{FF2B5EF4-FFF2-40B4-BE49-F238E27FC236}">
                <a16:creationId xmlns:a16="http://schemas.microsoft.com/office/drawing/2014/main" id="{7E922683-2F0A-4A56-9438-0F0E4A16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907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5620"/>
              </a:buClr>
              <a:buSzPts val="3600"/>
              <a:buFont typeface="Microsoft JhengHei"/>
              <a:buNone/>
            </a:pPr>
            <a:r>
              <a:rPr sz="3600" b="1">
                <a:solidFill>
                  <a:srgbClr val="7A5620"/>
                </a:solidFill>
                <a:latin typeface="Microsoft JhengHei"/>
                <a:ea typeface="Microsoft JhengHei"/>
                <a:cs typeface="Microsoft JhengHei"/>
              </a:rPr>
              <a:t>37</a:t>
            </a:r>
            <a:endParaRPr/>
          </a:p>
        </p:txBody>
      </p:sp>
      <p:cxnSp>
        <p:nvCxnSpPr>
          <p:cNvPr id="210" name="Google Shape;191;p10"/>
          <p:cNvCxnSpPr/>
          <p:nvPr/>
        </p:nvCxnSpPr>
        <p:spPr>
          <a:xfrm xmlns:a="http://schemas.openxmlformats.org/drawingml/2006/main">
            <a:off x="6153150" y="2819400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CBD6C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2" name="Google Shape;192;p10">
            <a:extLst xmlns:a="http://schemas.openxmlformats.org/drawingml/2006/main">
              <a:ext uri="{FF2B5EF4-FFF2-40B4-BE49-F238E27FC236}">
                <a16:creationId xmlns:a16="http://schemas.microsoft.com/office/drawing/2014/main" id="{F156EB08-4023-47C0-BB64-C914BE88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33700"/>
            <a:ext cx="219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350"/>
              <a:buFont typeface="Microsoft JhengHei"/>
              <a:buNone/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位產生作答紀錄者</a:t>
            </a:r>
            <a:endParaRPr/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350"/>
              <a:buFont typeface="Microsoft JhengHei"/>
              <a:buNone/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已留下實際學習資料</a:t>
            </a:r>
            <a:endParaRPr/>
          </a:p>
        </p:txBody>
      </p:sp>
      <p:sp>
        <p:nvSpPr>
          <p:cNvPr id="193" name="Google Shape;193;p10">
            <a:extLst xmlns:a="http://schemas.openxmlformats.org/drawingml/2006/main">
              <a:ext uri="{FF2B5EF4-FFF2-40B4-BE49-F238E27FC236}">
                <a16:creationId xmlns:a16="http://schemas.microsoft.com/office/drawing/2014/main" id="{7F9216ED-1FC8-4655-BF5C-C89C7051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90750"/>
            <a:ext cx="2647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8753A"/>
              </a:buClr>
              <a:buSzPts val="3600"/>
              <a:buFont typeface="Microsoft JhengHei"/>
              <a:buNone/>
            </a:pPr>
            <a:r>
              <a:rPr sz="3600" b="1">
                <a:solidFill>
                  <a:srgbClr val="C8753A"/>
                </a:solidFill>
                <a:latin typeface="Microsoft JhengHei"/>
                <a:ea typeface="Microsoft JhengHei"/>
                <a:cs typeface="Microsoft JhengHei"/>
              </a:rPr>
              <a:t>10,011</a:t>
            </a:r>
            <a:endParaRPr/>
          </a:p>
        </p:txBody>
      </p:sp>
      <p:cxnSp>
        <p:nvCxnSpPr>
          <p:cNvPr id="213" name="Google Shape;194;p10"/>
          <p:cNvCxnSpPr/>
          <p:nvPr/>
        </p:nvCxnSpPr>
        <p:spPr>
          <a:xfrm xmlns:a="http://schemas.openxmlformats.org/drawingml/2006/main">
            <a:off x="8858250" y="2819400"/>
            <a:ext cx="26479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CBD6C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5" name="Google Shape;195;p10">
            <a:extLst xmlns:a="http://schemas.openxmlformats.org/drawingml/2006/main">
              <a:ext uri="{FF2B5EF4-FFF2-40B4-BE49-F238E27FC236}">
                <a16:creationId xmlns:a16="http://schemas.microsoft.com/office/drawing/2014/main" id="{8EB3F6BE-9918-421B-91A9-7552600D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33700"/>
            <a:ext cx="26479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350"/>
              <a:buFont typeface="Microsoft JhengHei"/>
              <a:buNone/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筆作答紀錄</a:t>
            </a:r>
            <a:endParaRPr/>
          </a:p>
          <a:p xmlns:a="http://schemas.openxmlformats.org/drawingml/2006/main">
            <a:pPr marL="0" marR="0" lv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350"/>
              <a:buFont typeface="Microsoft JhengHei"/>
              <a:buNone/>
            </a:pPr>
            <a:r>
              <a:rPr sz="1350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可追蹤錯題與熟練度</a:t>
            </a:r>
            <a:endParaRPr/>
          </a:p>
        </p:txBody>
      </p:sp>
      <p:sp>
        <p:nvSpPr>
          <p:cNvPr id="196" name="Google Shape;196;p10">
            <a:extLst xmlns:a="http://schemas.openxmlformats.org/drawingml/2006/main">
              <a:ext uri="{FF2B5EF4-FFF2-40B4-BE49-F238E27FC236}">
                <a16:creationId xmlns:a16="http://schemas.microsoft.com/office/drawing/2014/main" id="{F5C64B24-872B-46AF-ADD1-F78E58C8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10687050" cy="971550"/>
          </a:xfrm>
          <a:prstGeom xmlns:a="http://schemas.openxmlformats.org/drawingml/2006/main" prst="roundRect">
            <a:avLst>
              <a:gd name="adj" fmla="val 196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>
            <a:extLst xmlns:a="http://schemas.openxmlformats.org/drawingml/2006/main">
              <a:ext uri="{FF2B5EF4-FFF2-40B4-BE49-F238E27FC236}">
                <a16:creationId xmlns:a16="http://schemas.microsoft.com/office/drawing/2014/main" id="{43FC7175-1E20-4B18-B38E-0AFD1AFC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43450"/>
            <a:ext cx="9486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2025"/>
              <a:buFont typeface="Microsoft JhengHei"/>
              <a:buNone/>
            </a:pP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142 批</a:t>
            </a: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AI單字資料</a:t>
            </a: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匯入 · 277 場</a:t>
            </a: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使用者單字</a:t>
            </a:r>
            <a:r>
              <a:rPr sz="20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練習 · 2,122 筆熟練度資料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923403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3" name="Google Shape;203;p11">
            <a:extLst xmlns:a="http://schemas.openxmlformats.org/drawingml/2006/main">
              <a:ext uri="{FF2B5EF4-FFF2-40B4-BE49-F238E27FC236}">
                <a16:creationId xmlns:a16="http://schemas.microsoft.com/office/drawing/2014/main" id="{96EBB248-C0A0-42C6-B062-D4EDD1C3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">
            <a:extLst xmlns:a="http://schemas.openxmlformats.org/drawingml/2006/main">
              <a:ext uri="{FF2B5EF4-FFF2-40B4-BE49-F238E27FC236}">
                <a16:creationId xmlns:a16="http://schemas.microsoft.com/office/drawing/2014/main" id="{B6EE8E75-4C81-412B-B59B-574D6DEA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125"/>
              <a:buFont typeface="Microsoft JhengHei"/>
              <a:buNone/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ITERATION</a:t>
            </a:r>
            <a:endParaRPr/>
          </a:p>
        </p:txBody>
      </p:sp>
      <p:sp>
        <p:nvSpPr>
          <p:cNvPr id="205" name="Google Shape;205;p11">
            <a:extLst xmlns:a="http://schemas.openxmlformats.org/drawingml/2006/main">
              <a:ext uri="{FF2B5EF4-FFF2-40B4-BE49-F238E27FC236}">
                <a16:creationId xmlns:a16="http://schemas.microsoft.com/office/drawing/2014/main" id="{2EEE03C3-6738-4994-AAD4-464EDC12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3225"/>
              <a:buFont typeface="Microsoft JhengHei"/>
              <a:buNone/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以反饋為導向，推動系統持續迭代 </a:t>
            </a:r>
            <a:endParaRPr/>
          </a:p>
        </p:txBody>
      </p:sp>
      <p:sp>
        <p:nvSpPr>
          <p:cNvPr id="206" name="Google Shape;206;p11">
            <a:extLst xmlns:a="http://schemas.openxmlformats.org/drawingml/2006/main">
              <a:ext uri="{FF2B5EF4-FFF2-40B4-BE49-F238E27FC236}">
                <a16:creationId xmlns:a16="http://schemas.microsoft.com/office/drawing/2014/main" id="{3ECAD217-965D-4703-AFDC-EB0848D8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sz="15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結合使用者回報與自主邊界測試精準定位問題，並導入工程化標準流程進行修復與版本更新。 </a:t>
            </a:r>
            <a:endParaRPr/>
          </a:p>
        </p:txBody>
      </p:sp>
      <p:sp>
        <p:nvSpPr>
          <p:cNvPr id="207" name="Google Shape;207;p11">
            <a:extLst xmlns:a="http://schemas.openxmlformats.org/drawingml/2006/main">
              <a:ext uri="{FF2B5EF4-FFF2-40B4-BE49-F238E27FC236}">
                <a16:creationId xmlns:a16="http://schemas.microsoft.com/office/drawing/2014/main" id="{9EF89ADD-EB24-4B76-A64F-4792F07D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975"/>
              <a:buFont typeface="Microsoft JhengHei"/>
              <a:buNone/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  <a:endParaRPr/>
          </a:p>
        </p:txBody>
      </p:sp>
      <p:sp>
        <p:nvSpPr>
          <p:cNvPr id="208" name="Google Shape;208;p11">
            <a:extLst xmlns:a="http://schemas.openxmlformats.org/drawingml/2006/main">
              <a:ext uri="{FF2B5EF4-FFF2-40B4-BE49-F238E27FC236}">
                <a16:creationId xmlns:a16="http://schemas.microsoft.com/office/drawing/2014/main" id="{E2F61FFA-82AA-43BD-B813-64B18E3E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5029200" cy="3162300"/>
          </a:xfrm>
          <a:prstGeom xmlns:a="http://schemas.openxmlformats.org/drawingml/2006/main" prst="roundRect">
            <a:avLst>
              <a:gd name="adj" fmla="val 6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">
            <a:extLst xmlns:a="http://schemas.openxmlformats.org/drawingml/2006/main">
              <a:ext uri="{FF2B5EF4-FFF2-40B4-BE49-F238E27FC236}">
                <a16:creationId xmlns:a16="http://schemas.microsoft.com/office/drawing/2014/main" id="{36EAC563-CBEB-4CFB-A06E-29163125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19375"/>
            <a:ext cx="409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2175"/>
              <a:buFont typeface="Microsoft JhengHei"/>
              <a:buNone/>
            </a:pPr>
            <a:r>
              <a:rPr sz="21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語音模型發音不正確</a:t>
            </a:r>
            <a:endParaRPr/>
          </a:p>
        </p:txBody>
      </p:sp>
      <p:sp>
        <p:nvSpPr>
          <p:cNvPr id="210" name="Google Shape;210;p11">
            <a:extLst xmlns:a="http://schemas.openxmlformats.org/drawingml/2006/main">
              <a:ext uri="{FF2B5EF4-FFF2-40B4-BE49-F238E27FC236}">
                <a16:creationId xmlns:a16="http://schemas.microsoft.com/office/drawing/2014/main" id="{3699BF75-C484-44B1-A1F9-6543065A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71825"/>
            <a:ext cx="3429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94E"/>
              </a:buClr>
              <a:buSzPts val="2100"/>
              <a:buFont typeface="Microsoft JhengHei"/>
              <a:buNone/>
            </a:pPr>
            <a:r>
              <a:rPr sz="210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rPr>
              <a:t>↓</a:t>
            </a:r>
            <a:endParaRPr/>
          </a:p>
        </p:txBody>
      </p:sp>
      <p:sp>
        <p:nvSpPr>
          <p:cNvPr id="211" name="Google Shape;211;p11">
            <a:extLst xmlns:a="http://schemas.openxmlformats.org/drawingml/2006/main">
              <a:ext uri="{FF2B5EF4-FFF2-40B4-BE49-F238E27FC236}">
                <a16:creationId xmlns:a16="http://schemas.microsoft.com/office/drawing/2014/main" id="{7B7F9132-E49E-4399-A624-E7EECD6E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67125"/>
            <a:ext cx="4095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75"/>
              <a:buFont typeface="Microsoft JhengHei"/>
              <a:buNone/>
            </a:pPr>
            <a:r>
              <a: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優先抓取</a:t>
            </a:r>
            <a:r>
              <a:rPr sz="157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API</a:t>
            </a:r>
            <a:r>
              <a: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字典真人發音；</a:t>
            </a:r>
            <a:endParaRPr sz="1575" b="0">
              <a:solidFill>
                <a:srgbClr val="5D6B62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marL="0" marR="0" lvl="0" indent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75"/>
              <a:buFont typeface="Microsoft JhengHei"/>
              <a:buNone/>
            </a:pPr>
            <a:r>
              <a: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無合適來源時，再以 TTS</a:t>
            </a:r>
            <a:r>
              <a:rPr sz="1575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模組</a:t>
            </a:r>
            <a:r>
              <a: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 作為 fallback。</a:t>
            </a:r>
            <a:endParaRPr/>
          </a:p>
        </p:txBody>
      </p:sp>
      <p:sp>
        <p:nvSpPr>
          <p:cNvPr id="212" name="Google Shape;212;p11">
            <a:extLst xmlns:a="http://schemas.openxmlformats.org/drawingml/2006/main">
              <a:ext uri="{FF2B5EF4-FFF2-40B4-BE49-F238E27FC236}">
                <a16:creationId xmlns:a16="http://schemas.microsoft.com/office/drawing/2014/main" id="{E3B16422-BC2C-4B5B-BB47-CD61B6588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38350"/>
            <a:ext cx="5029200" cy="3162300"/>
          </a:xfrm>
          <a:prstGeom xmlns:a="http://schemas.openxmlformats.org/drawingml/2006/main" prst="roundRect">
            <a:avLst>
              <a:gd name="adj" fmla="val 66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">
            <a:extLst xmlns:a="http://schemas.openxmlformats.org/drawingml/2006/main">
              <a:ext uri="{FF2B5EF4-FFF2-40B4-BE49-F238E27FC236}">
                <a16:creationId xmlns:a16="http://schemas.microsoft.com/office/drawing/2014/main" id="{AD65A369-F7C6-4EDE-8518-BC2878F8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19375"/>
            <a:ext cx="4095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2175"/>
              <a:buFont typeface="Microsoft JhengHei"/>
              <a:buNone/>
            </a:pPr>
            <a:r>
              <a:rPr sz="21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單次生成會留下分析錯誤</a:t>
            </a:r>
            <a:endParaRPr/>
          </a:p>
        </p:txBody>
      </p:sp>
      <p:sp>
        <p:nvSpPr>
          <p:cNvPr id="214" name="Google Shape;214;p11">
            <a:extLst xmlns:a="http://schemas.openxmlformats.org/drawingml/2006/main">
              <a:ext uri="{FF2B5EF4-FFF2-40B4-BE49-F238E27FC236}">
                <a16:creationId xmlns:a16="http://schemas.microsoft.com/office/drawing/2014/main" id="{DF77B60E-B7F3-46A6-BF6F-56BC285D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71825"/>
            <a:ext cx="3429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94E"/>
              </a:buClr>
              <a:buSzPts val="2100"/>
              <a:buFont typeface="Microsoft JhengHei"/>
              <a:buNone/>
            </a:pPr>
            <a:r>
              <a:rPr sz="2100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rPr>
              <a:t>↓</a:t>
            </a:r>
            <a:endParaRPr/>
          </a:p>
        </p:txBody>
      </p:sp>
      <p:sp>
        <p:nvSpPr>
          <p:cNvPr id="215" name="Google Shape;215;p11">
            <a:extLst xmlns:a="http://schemas.openxmlformats.org/drawingml/2006/main">
              <a:ext uri="{FF2B5EF4-FFF2-40B4-BE49-F238E27FC236}">
                <a16:creationId xmlns:a16="http://schemas.microsoft.com/office/drawing/2014/main" id="{FACC70DD-9042-4E0D-ADD6-D5FA8C3B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67125"/>
            <a:ext cx="4095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75"/>
              <a:buFont typeface="Microsoft JhengHei"/>
              <a:buNone/>
            </a:pPr>
            <a:r>
              <a:rPr sz="1575" b="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拆成生成、複核、仲裁，並用規則驗證與回退避免錯誤直接進入單字庫。</a:t>
            </a:r>
            <a:endParaRPr/>
          </a:p>
        </p:txBody>
      </p:sp>
      <p:sp>
        <p:nvSpPr>
          <p:cNvPr id="216" name="Google Shape;216;p11">
            <a:extLst xmlns:a="http://schemas.openxmlformats.org/drawingml/2006/main">
              <a:ext uri="{FF2B5EF4-FFF2-40B4-BE49-F238E27FC236}">
                <a16:creationId xmlns:a16="http://schemas.microsoft.com/office/drawing/2014/main" id="{37D871E7-789F-4BCE-B66C-956191BE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9950" y="5338400"/>
            <a:ext cx="4772100" cy="13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200"/>
              <a:buFont typeface="Microsoft JhengHei"/>
              <a:buNone/>
            </a:pPr>
            <a:r>
              <a:rPr sz="180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我透過實際使用與自行測試</a:t>
            </a:r>
            <a:endParaRPr sz="2000"/>
          </a:p>
          <a:p xmlns:a="http://schemas.openxmlformats.org/drawingml/2006/main">
            <a:pPr marL="0" marR="0" lvl="0" indent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200"/>
              <a:buFont typeface="Microsoft JhengHei"/>
              <a:buNone/>
            </a:pPr>
            <a:r>
              <a:rPr sz="180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持續推動下一輪迭代</a:t>
            </a:r>
            <a:br/>
            <a:r>
              <a:rPr sz="180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公測發布後我也持續的蒐集使用者回饋</a:t>
            </a:r>
            <a:br/>
            <a:r>
              <a:rPr sz="180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來持續的優化前後端</a:t>
            </a:r>
            <a:endParaRPr sz="2000"/>
          </a:p>
        </p:txBody>
      </p:sp>
    </p:spTree>
    <p:extLst>
      <p:ext uri="{BB962C8B-B14F-4D97-AF65-F5344CB8AC3E}">
        <p14:creationId xmlns:p14="http://schemas.microsoft.com/office/powerpoint/2010/main" val="1450527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2" name="Google Shape;222;p12">
            <a:extLst xmlns:a="http://schemas.openxmlformats.org/drawingml/2006/main">
              <a:ext uri="{FF2B5EF4-FFF2-40B4-BE49-F238E27FC236}">
                <a16:creationId xmlns:a16="http://schemas.microsoft.com/office/drawing/2014/main" id="{550FC784-9006-4025-BE02-219011A9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2">
            <a:extLst xmlns:a="http://schemas.openxmlformats.org/drawingml/2006/main">
              <a:ext uri="{FF2B5EF4-FFF2-40B4-BE49-F238E27FC236}">
                <a16:creationId xmlns:a16="http://schemas.microsoft.com/office/drawing/2014/main" id="{892A2988-9ED1-479A-848F-763A39B0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125"/>
              <a:buFont typeface="Microsoft JhengHei"/>
              <a:buNone/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REFLECTION</a:t>
            </a:r>
            <a:endParaRPr/>
          </a:p>
        </p:txBody>
      </p:sp>
      <p:sp>
        <p:nvSpPr>
          <p:cNvPr id="224" name="Google Shape;224;p12">
            <a:extLst xmlns:a="http://schemas.openxmlformats.org/drawingml/2006/main">
              <a:ext uri="{FF2B5EF4-FFF2-40B4-BE49-F238E27FC236}">
                <a16:creationId xmlns:a16="http://schemas.microsoft.com/office/drawing/2014/main" id="{9E8168C0-0F46-40BC-8B15-58BE9BC57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3225"/>
              <a:buFont typeface="Microsoft JhengHei"/>
              <a:buNone/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從寫程式到做系統決策</a:t>
            </a:r>
            <a:endParaRPr/>
          </a:p>
        </p:txBody>
      </p:sp>
      <p:sp>
        <p:nvSpPr>
          <p:cNvPr id="225" name="Google Shape;225;p12">
            <a:extLst xmlns:a="http://schemas.openxmlformats.org/drawingml/2006/main">
              <a:ext uri="{FF2B5EF4-FFF2-40B4-BE49-F238E27FC236}">
                <a16:creationId xmlns:a16="http://schemas.microsoft.com/office/drawing/2014/main" id="{D7DD0AAD-3AB7-40BC-808A-5D31605E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9000"/>
            <a:ext cx="10820400" cy="107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sz="15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過往我主要運用 C++ 與 TypeScript 開發基礎專案；</a:t>
            </a:r>
            <a:endParaRPr sz="1500">
              <a:solidFill>
                <a:srgbClr val="5D6B62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sz="15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如今隨著 AI 工具的普及，我將開發重點從單純的「寫碼」轉化為「工程大局觀」的展現。</a:t>
            </a:r>
            <a:endParaRPr sz="1500">
              <a:solidFill>
                <a:srgbClr val="5D6B62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sz="15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結合對系統架構的理解與程式扎實度，我不僅能快速整合新技術，</a:t>
            </a:r>
            <a:endParaRPr sz="1500">
              <a:solidFill>
                <a:srgbClr val="5D6B62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500"/>
              <a:buFont typeface="Microsoft JhengHei"/>
              <a:buNone/>
            </a:pPr>
            <a:r>
              <a:rPr sz="15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更能在注重</a:t>
            </a:r>
            <a:r>
              <a:rPr sz="150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可用</a:t>
            </a:r>
            <a:r>
              <a:rPr sz="150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性</a:t>
            </a:r>
            <a:r>
              <a:rPr sz="15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與</a:t>
            </a:r>
            <a:r>
              <a:rPr sz="1500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資訊安全</a:t>
            </a:r>
            <a:r>
              <a:rPr sz="1500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的前提下，獨立建構出高品質、高穩定度的 Web 應用程式。</a:t>
            </a:r>
            <a:endParaRPr/>
          </a:p>
        </p:txBody>
      </p:sp>
      <p:sp>
        <p:nvSpPr>
          <p:cNvPr id="226" name="Google Shape;226;p12">
            <a:extLst xmlns:a="http://schemas.openxmlformats.org/drawingml/2006/main">
              <a:ext uri="{FF2B5EF4-FFF2-40B4-BE49-F238E27FC236}">
                <a16:creationId xmlns:a16="http://schemas.microsoft.com/office/drawing/2014/main" id="{99299112-D2D9-400E-84CC-AFC3BE414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975"/>
              <a:buFont typeface="Microsoft JhengHei"/>
              <a:buNone/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  <a:endParaRPr/>
          </a:p>
        </p:txBody>
      </p:sp>
      <p:sp>
        <p:nvSpPr>
          <p:cNvPr id="227" name="Google Shape;227;p12">
            <a:extLst xmlns:a="http://schemas.openxmlformats.org/drawingml/2006/main">
              <a:ext uri="{FF2B5EF4-FFF2-40B4-BE49-F238E27FC236}">
                <a16:creationId xmlns:a16="http://schemas.microsoft.com/office/drawing/2014/main" id="{40776E84-D3B3-4A89-B2A1-30E83531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9600"/>
            <a:ext cx="1540200" cy="4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702"/>
              <a:buFont typeface="Microsoft JhengHei"/>
              <a:buNone/>
            </a:pPr>
            <a:r>
              <a:rPr sz="1702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BEFORE</a:t>
            </a:r>
            <a:endParaRPr sz="2118"/>
          </a:p>
        </p:txBody>
      </p:sp>
      <p:sp>
        <p:nvSpPr>
          <p:cNvPr id="228" name="Google Shape;228;p12">
            <a:extLst xmlns:a="http://schemas.openxmlformats.org/drawingml/2006/main">
              <a:ext uri="{FF2B5EF4-FFF2-40B4-BE49-F238E27FC236}">
                <a16:creationId xmlns:a16="http://schemas.microsoft.com/office/drawing/2014/main" id="{250B3C1E-7E3C-4C0D-9445-3E2DBE56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170"/>
            <a:ext cx="3630000" cy="14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B4E"/>
              </a:buClr>
              <a:buSzPts val="3857"/>
              <a:buFont typeface="Microsoft JhengHei"/>
              <a:buNone/>
            </a:pPr>
            <a:r>
              <a:rPr sz="3857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具備程式基礎</a:t>
            </a:r>
            <a:endParaRPr sz="2118"/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B4E"/>
              </a:buClr>
              <a:buSzPts val="3857"/>
              <a:buFont typeface="Microsoft JhengHei"/>
              <a:buNone/>
            </a:pPr>
            <a:r>
              <a:rPr sz="3857" b="1">
                <a:solidFill>
                  <a:srgbClr val="102B4E"/>
                </a:solidFill>
                <a:latin typeface="Microsoft JhengHei"/>
                <a:ea typeface="Microsoft JhengHei"/>
                <a:cs typeface="Microsoft JhengHei"/>
              </a:rPr>
              <a:t>做過小型專案</a:t>
            </a:r>
            <a:endParaRPr sz="2118"/>
          </a:p>
        </p:txBody>
      </p:sp>
      <p:sp>
        <p:nvSpPr>
          <p:cNvPr id="229" name="Google Shape;229;p12">
            <a:extLst xmlns:a="http://schemas.openxmlformats.org/drawingml/2006/main">
              <a:ext uri="{FF2B5EF4-FFF2-40B4-BE49-F238E27FC236}">
                <a16:creationId xmlns:a16="http://schemas.microsoft.com/office/drawing/2014/main" id="{E5B760F6-8092-4A9A-91B4-920A2FFE1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1796" y="3954063"/>
            <a:ext cx="1100100" cy="100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94E"/>
              </a:buClr>
              <a:buSzPts val="6126"/>
              <a:buFont typeface="Microsoft JhengHei"/>
              <a:buNone/>
            </a:pPr>
            <a:r>
              <a:rPr sz="6126" b="1">
                <a:solidFill>
                  <a:srgbClr val="D4A94E"/>
                </a:solidFill>
                <a:latin typeface="Microsoft JhengHei"/>
                <a:ea typeface="Microsoft JhengHei"/>
                <a:cs typeface="Microsoft JhengHei"/>
              </a:rPr>
              <a:t>→</a:t>
            </a:r>
            <a:endParaRPr sz="2118"/>
          </a:p>
        </p:txBody>
      </p:sp>
      <p:sp>
        <p:nvSpPr>
          <p:cNvPr id="230" name="Google Shape;230;p12">
            <a:extLst xmlns:a="http://schemas.openxmlformats.org/drawingml/2006/main">
              <a:ext uri="{FF2B5EF4-FFF2-40B4-BE49-F238E27FC236}">
                <a16:creationId xmlns:a16="http://schemas.microsoft.com/office/drawing/2014/main" id="{0777BD17-505E-4036-9B17-04074627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1795" y="3089600"/>
            <a:ext cx="1540200" cy="4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1702"/>
              <a:buFont typeface="Microsoft JhengHei"/>
              <a:buNone/>
            </a:pPr>
            <a:r>
              <a:rPr sz="1702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NOW</a:t>
            </a:r>
            <a:endParaRPr sz="2118"/>
          </a:p>
        </p:txBody>
      </p:sp>
      <p:sp>
        <p:nvSpPr>
          <p:cNvPr id="231" name="Google Shape;231;p12">
            <a:extLst xmlns:a="http://schemas.openxmlformats.org/drawingml/2006/main">
              <a:ext uri="{FF2B5EF4-FFF2-40B4-BE49-F238E27FC236}">
                <a16:creationId xmlns:a16="http://schemas.microsoft.com/office/drawing/2014/main" id="{2D5379F3-F6AC-4E56-9651-363B84C3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1795" y="3781170"/>
            <a:ext cx="6160200" cy="14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3857"/>
              <a:buFont typeface="Microsoft JhengHei"/>
              <a:buNone/>
            </a:pPr>
            <a:r>
              <a:rPr sz="3857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定義問題 · 拆解需求</a:t>
            </a:r>
            <a:endParaRPr sz="2118"/>
          </a:p>
          <a:p xmlns:a="http://schemas.openxmlformats.org/drawingml/2006/main">
            <a:pPr marL="0" marR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3857"/>
              <a:buFont typeface="Microsoft JhengHei"/>
              <a:buNone/>
            </a:pPr>
            <a:r>
              <a:rPr sz="3857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制定規則 · 測試驗收</a:t>
            </a:r>
            <a:endParaRPr sz="2118"/>
          </a:p>
        </p:txBody>
      </p:sp>
    </p:spTree>
    <p:extLst>
      <p:ext uri="{BB962C8B-B14F-4D97-AF65-F5344CB8AC3E}">
        <p14:creationId xmlns:p14="http://schemas.microsoft.com/office/powerpoint/2010/main" val="17242212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7" name="Google Shape;237;p13">
            <a:extLst xmlns:a="http://schemas.openxmlformats.org/drawingml/2006/main">
              <a:ext uri="{FF2B5EF4-FFF2-40B4-BE49-F238E27FC236}">
                <a16:creationId xmlns:a16="http://schemas.microsoft.com/office/drawing/2014/main" id="{01C55CE7-A0A6-479D-AA3C-8096D863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3">
            <a:extLst xmlns:a="http://schemas.openxmlformats.org/drawingml/2006/main">
              <a:ext uri="{FF2B5EF4-FFF2-40B4-BE49-F238E27FC236}">
                <a16:creationId xmlns:a16="http://schemas.microsoft.com/office/drawing/2014/main" id="{8E29D238-B549-4797-A01F-A63270FC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125"/>
              <a:buFont typeface="Microsoft JhengHei"/>
              <a:buNone/>
            </a:pPr>
            <a:r>
              <a:rPr sz="11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APPENDIX C</a:t>
            </a:r>
            <a:endParaRPr/>
          </a:p>
        </p:txBody>
      </p:sp>
      <p:sp>
        <p:nvSpPr>
          <p:cNvPr id="239" name="Google Shape;239;p13">
            <a:extLst xmlns:a="http://schemas.openxmlformats.org/drawingml/2006/main">
              <a:ext uri="{FF2B5EF4-FFF2-40B4-BE49-F238E27FC236}">
                <a16:creationId xmlns:a16="http://schemas.microsoft.com/office/drawing/2014/main" id="{0B1130F8-7CCE-4104-8D0F-96523031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3225"/>
              <a:buFont typeface="Microsoft JhengHei"/>
              <a:buNone/>
            </a:pPr>
            <a:r>
              <a:rPr sz="322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五項工程決策支撐系統持續運作</a:t>
            </a:r>
            <a:endParaRPr/>
          </a:p>
        </p:txBody>
      </p:sp>
      <p:sp>
        <p:nvSpPr>
          <p:cNvPr id="240" name="Google Shape;240;p13">
            <a:extLst xmlns:a="http://schemas.openxmlformats.org/drawingml/2006/main">
              <a:ext uri="{FF2B5EF4-FFF2-40B4-BE49-F238E27FC236}">
                <a16:creationId xmlns:a16="http://schemas.microsoft.com/office/drawing/2014/main" id="{C8A9B6DE-C9CF-44A4-82BD-B5884069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341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D6B62"/>
              </a:buClr>
              <a:buSzPts val="975"/>
              <a:buFont typeface="Microsoft JhengHei"/>
              <a:buNone/>
            </a:pPr>
            <a:r>
              <a:rPr sz="975" b="1">
                <a:solidFill>
                  <a:srgbClr val="5D6B62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  <a:endParaRPr/>
          </a:p>
        </p:txBody>
      </p:sp>
      <p:sp>
        <p:nvSpPr>
          <p:cNvPr id="241" name="Google Shape;241;p13">
            <a:extLst xmlns:a="http://schemas.openxmlformats.org/drawingml/2006/main">
              <a:ext uri="{FF2B5EF4-FFF2-40B4-BE49-F238E27FC236}">
                <a16:creationId xmlns:a16="http://schemas.microsoft.com/office/drawing/2014/main" id="{03D77F2E-82EA-4FE2-BD0C-1D21FE35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1524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3">
            <a:extLst xmlns:a="http://schemas.openxmlformats.org/drawingml/2006/main">
              <a:ext uri="{FF2B5EF4-FFF2-40B4-BE49-F238E27FC236}">
                <a16:creationId xmlns:a16="http://schemas.microsoft.com/office/drawing/2014/main" id="{DB958062-3506-4343-B466-C4EDE790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66925"/>
            <a:ext cx="129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Microsoft JhengHei"/>
              <a:buNone/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面向</a:t>
            </a:r>
            <a:endParaRPr/>
          </a:p>
        </p:txBody>
      </p:sp>
      <p:sp>
        <p:nvSpPr>
          <p:cNvPr id="243" name="Google Shape;243;p13">
            <a:extLst xmlns:a="http://schemas.openxmlformats.org/drawingml/2006/main">
              <a:ext uri="{FF2B5EF4-FFF2-40B4-BE49-F238E27FC236}">
                <a16:creationId xmlns:a16="http://schemas.microsoft.com/office/drawing/2014/main" id="{A966912F-ECE7-48DF-9280-30C36809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9431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3">
            <a:extLst xmlns:a="http://schemas.openxmlformats.org/drawingml/2006/main">
              <a:ext uri="{FF2B5EF4-FFF2-40B4-BE49-F238E27FC236}">
                <a16:creationId xmlns:a16="http://schemas.microsoft.com/office/drawing/2014/main" id="{43E9790E-B1A5-4A82-B3F7-8468B7D9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66925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Microsoft JhengHei"/>
              <a:buNone/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我的選擇</a:t>
            </a:r>
            <a:endParaRPr/>
          </a:p>
        </p:txBody>
      </p:sp>
      <p:sp>
        <p:nvSpPr>
          <p:cNvPr id="245" name="Google Shape;245;p13">
            <a:extLst xmlns:a="http://schemas.openxmlformats.org/drawingml/2006/main">
              <a:ext uri="{FF2B5EF4-FFF2-40B4-BE49-F238E27FC236}">
                <a16:creationId xmlns:a16="http://schemas.microsoft.com/office/drawing/2014/main" id="{113645D6-E973-40E5-A807-3BCF264B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9431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3">
            <a:extLst xmlns:a="http://schemas.openxmlformats.org/drawingml/2006/main">
              <a:ext uri="{FF2B5EF4-FFF2-40B4-BE49-F238E27FC236}">
                <a16:creationId xmlns:a16="http://schemas.microsoft.com/office/drawing/2014/main" id="{DC8BEAE8-207B-4A88-8A53-4A40851F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669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Microsoft JhengHei"/>
              <a:buNone/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技術組合</a:t>
            </a:r>
            <a:endParaRPr/>
          </a:p>
        </p:txBody>
      </p:sp>
      <p:sp>
        <p:nvSpPr>
          <p:cNvPr id="247" name="Google Shape;247;p13">
            <a:extLst xmlns:a="http://schemas.openxmlformats.org/drawingml/2006/main">
              <a:ext uri="{FF2B5EF4-FFF2-40B4-BE49-F238E27FC236}">
                <a16:creationId xmlns:a16="http://schemas.microsoft.com/office/drawing/2014/main" id="{BC8907CB-C780-48AB-B232-3ABCAF1FD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43100"/>
            <a:ext cx="457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4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3">
            <a:extLst xmlns:a="http://schemas.openxmlformats.org/drawingml/2006/main">
              <a:ext uri="{FF2B5EF4-FFF2-40B4-BE49-F238E27FC236}">
                <a16:creationId xmlns:a16="http://schemas.microsoft.com/office/drawing/2014/main" id="{A85DCE1B-F712-489E-B11C-8273AE67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66925"/>
            <a:ext cx="434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5"/>
              <a:buFont typeface="Microsoft JhengHei"/>
              <a:buNone/>
            </a:pPr>
            <a:r>
              <a:rPr sz="12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目的</a:t>
            </a:r>
            <a:endParaRPr/>
          </a:p>
        </p:txBody>
      </p:sp>
      <p:sp>
        <p:nvSpPr>
          <p:cNvPr id="249" name="Google Shape;249;p13">
            <a:extLst xmlns:a="http://schemas.openxmlformats.org/drawingml/2006/main">
              <a:ext uri="{FF2B5EF4-FFF2-40B4-BE49-F238E27FC236}">
                <a16:creationId xmlns:a16="http://schemas.microsoft.com/office/drawing/2014/main" id="{5F4E3E45-CA1E-4EDC-B3B4-586F60F6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3">
            <a:extLst xmlns:a="http://schemas.openxmlformats.org/drawingml/2006/main">
              <a:ext uri="{FF2B5EF4-FFF2-40B4-BE49-F238E27FC236}">
                <a16:creationId xmlns:a16="http://schemas.microsoft.com/office/drawing/2014/main" id="{54CFEA73-2F55-42A2-962D-41C80AE1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527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帳號與權限</a:t>
            </a:r>
            <a:endParaRPr/>
          </a:p>
        </p:txBody>
      </p:sp>
      <p:sp>
        <p:nvSpPr>
          <p:cNvPr id="251" name="Google Shape;251;p13">
            <a:extLst xmlns:a="http://schemas.openxmlformats.org/drawingml/2006/main">
              <a:ext uri="{FF2B5EF4-FFF2-40B4-BE49-F238E27FC236}">
                <a16:creationId xmlns:a16="http://schemas.microsoft.com/office/drawing/2014/main" id="{3EE5A29B-1D00-40E5-9986-7064E222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4003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3">
            <a:extLst xmlns:a="http://schemas.openxmlformats.org/drawingml/2006/main">
              <a:ext uri="{FF2B5EF4-FFF2-40B4-BE49-F238E27FC236}">
                <a16:creationId xmlns:a16="http://schemas.microsoft.com/office/drawing/2014/main" id="{66D08D99-5938-4857-947C-E7B57207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527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依角色控管功能</a:t>
            </a:r>
            <a:endParaRPr/>
          </a:p>
        </p:txBody>
      </p:sp>
      <p:sp>
        <p:nvSpPr>
          <p:cNvPr id="253" name="Google Shape;253;p13">
            <a:extLst xmlns:a="http://schemas.openxmlformats.org/drawingml/2006/main">
              <a:ext uri="{FF2B5EF4-FFF2-40B4-BE49-F238E27FC236}">
                <a16:creationId xmlns:a16="http://schemas.microsoft.com/office/drawing/2014/main" id="{3A16095D-162A-4A73-89F7-626A5CDE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003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3">
            <a:extLst xmlns:a="http://schemas.openxmlformats.org/drawingml/2006/main">
              <a:ext uri="{FF2B5EF4-FFF2-40B4-BE49-F238E27FC236}">
                <a16:creationId xmlns:a16="http://schemas.microsoft.com/office/drawing/2014/main" id="{9F4004C3-CC95-40FB-B726-F6F0F892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527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JWT／中介層</a:t>
            </a:r>
            <a:endParaRPr/>
          </a:p>
        </p:txBody>
      </p:sp>
      <p:sp>
        <p:nvSpPr>
          <p:cNvPr id="255" name="Google Shape;255;p13">
            <a:extLst xmlns:a="http://schemas.openxmlformats.org/drawingml/2006/main">
              <a:ext uri="{FF2B5EF4-FFF2-40B4-BE49-F238E27FC236}">
                <a16:creationId xmlns:a16="http://schemas.microsoft.com/office/drawing/2014/main" id="{E2BD9130-7F9C-477E-9B39-584417DB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0030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3">
            <a:extLst xmlns:a="http://schemas.openxmlformats.org/drawingml/2006/main">
              <a:ext uri="{FF2B5EF4-FFF2-40B4-BE49-F238E27FC236}">
                <a16:creationId xmlns:a16="http://schemas.microsoft.com/office/drawing/2014/main" id="{14A4963A-8517-4330-B05D-8B55450C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527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125"/>
              <a:buFont typeface="Microsoft JhengHei"/>
              <a:buNone/>
            </a:pPr>
            <a:r>
              <a: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區分學生與管理功能</a:t>
            </a:r>
            <a:endParaRPr/>
          </a:p>
        </p:txBody>
      </p:sp>
      <p:sp>
        <p:nvSpPr>
          <p:cNvPr id="257" name="Google Shape;257;p13">
            <a:extLst xmlns:a="http://schemas.openxmlformats.org/drawingml/2006/main">
              <a:ext uri="{FF2B5EF4-FFF2-40B4-BE49-F238E27FC236}">
                <a16:creationId xmlns:a16="http://schemas.microsoft.com/office/drawing/2014/main" id="{5EE2FDB0-491E-48BA-9609-4D076230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3">
            <a:extLst xmlns:a="http://schemas.openxmlformats.org/drawingml/2006/main">
              <a:ext uri="{FF2B5EF4-FFF2-40B4-BE49-F238E27FC236}">
                <a16:creationId xmlns:a16="http://schemas.microsoft.com/office/drawing/2014/main" id="{2D12EF1E-A0CE-4592-9BED-AF2F4F34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學習資料</a:t>
            </a:r>
            <a:endParaRPr/>
          </a:p>
        </p:txBody>
      </p:sp>
      <p:sp>
        <p:nvSpPr>
          <p:cNvPr id="259" name="Google Shape;259;p13">
            <a:extLst xmlns:a="http://schemas.openxmlformats.org/drawingml/2006/main">
              <a:ext uri="{FF2B5EF4-FFF2-40B4-BE49-F238E27FC236}">
                <a16:creationId xmlns:a16="http://schemas.microsoft.com/office/drawing/2014/main" id="{89D2272F-DF50-4D8A-9B08-3E3B3B72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480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3">
            <a:extLst xmlns:a="http://schemas.openxmlformats.org/drawingml/2006/main">
              <a:ext uri="{FF2B5EF4-FFF2-40B4-BE49-F238E27FC236}">
                <a16:creationId xmlns:a16="http://schemas.microsoft.com/office/drawing/2014/main" id="{DECBF243-BACC-4BB4-9457-1BC56684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004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sz="120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輕量型資料庫與</a:t>
            </a:r>
            <a:r>
              <a: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三個資料庫分工</a:t>
            </a:r>
            <a:endParaRPr/>
          </a:p>
        </p:txBody>
      </p:sp>
      <p:sp>
        <p:nvSpPr>
          <p:cNvPr id="261" name="Google Shape;261;p13">
            <a:extLst xmlns:a="http://schemas.openxmlformats.org/drawingml/2006/main">
              <a:ext uri="{FF2B5EF4-FFF2-40B4-BE49-F238E27FC236}">
                <a16:creationId xmlns:a16="http://schemas.microsoft.com/office/drawing/2014/main" id="{41240370-5602-44A4-B84F-C097D6B0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480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3">
            <a:extLst xmlns:a="http://schemas.openxmlformats.org/drawingml/2006/main">
              <a:ext uri="{FF2B5EF4-FFF2-40B4-BE49-F238E27FC236}">
                <a16:creationId xmlns:a16="http://schemas.microsoft.com/office/drawing/2014/main" id="{62B03D16-2791-46B4-8042-DEA2F7A0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004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SQLite 三庫</a:t>
            </a:r>
            <a:endParaRPr/>
          </a:p>
        </p:txBody>
      </p:sp>
      <p:sp>
        <p:nvSpPr>
          <p:cNvPr id="263" name="Google Shape;263;p13">
            <a:extLst xmlns:a="http://schemas.openxmlformats.org/drawingml/2006/main">
              <a:ext uri="{FF2B5EF4-FFF2-40B4-BE49-F238E27FC236}">
                <a16:creationId xmlns:a16="http://schemas.microsoft.com/office/drawing/2014/main" id="{F5A237C6-B27E-4F7A-AC82-EE9070C3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4800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3">
            <a:extLst xmlns:a="http://schemas.openxmlformats.org/drawingml/2006/main">
              <a:ext uri="{FF2B5EF4-FFF2-40B4-BE49-F238E27FC236}">
                <a16:creationId xmlns:a16="http://schemas.microsoft.com/office/drawing/2014/main" id="{E6E58A66-611D-4E37-B0F9-729AD53C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004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125"/>
              <a:buFont typeface="Microsoft JhengHei"/>
              <a:buNone/>
            </a:pPr>
            <a:r>
              <a:rPr sz="11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快速部屬與</a:t>
            </a:r>
            <a:r>
              <a: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降低耦合</a:t>
            </a:r>
            <a:endParaRPr/>
          </a:p>
        </p:txBody>
      </p:sp>
      <p:sp>
        <p:nvSpPr>
          <p:cNvPr id="265" name="Google Shape;265;p13">
            <a:extLst xmlns:a="http://schemas.openxmlformats.org/drawingml/2006/main">
              <a:ext uri="{FF2B5EF4-FFF2-40B4-BE49-F238E27FC236}">
                <a16:creationId xmlns:a16="http://schemas.microsoft.com/office/drawing/2014/main" id="{96BDBCCA-ADBE-4A50-BC00-1E5E3EA06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3">
            <a:extLst xmlns:a="http://schemas.openxmlformats.org/drawingml/2006/main">
              <a:ext uri="{FF2B5EF4-FFF2-40B4-BE49-F238E27FC236}">
                <a16:creationId xmlns:a16="http://schemas.microsoft.com/office/drawing/2014/main" id="{D10FE56B-84BB-4D9F-BB13-D2187BBE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內容匯入</a:t>
            </a:r>
            <a:endParaRPr/>
          </a:p>
        </p:txBody>
      </p:sp>
      <p:sp>
        <p:nvSpPr>
          <p:cNvPr id="267" name="Google Shape;267;p13">
            <a:extLst xmlns:a="http://schemas.openxmlformats.org/drawingml/2006/main">
              <a:ext uri="{FF2B5EF4-FFF2-40B4-BE49-F238E27FC236}">
                <a16:creationId xmlns:a16="http://schemas.microsoft.com/office/drawing/2014/main" id="{F9C260C0-6ED0-4FB8-9612-FC8C7100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6957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3">
            <a:extLst xmlns:a="http://schemas.openxmlformats.org/drawingml/2006/main">
              <a:ext uri="{FF2B5EF4-FFF2-40B4-BE49-F238E27FC236}">
                <a16:creationId xmlns:a16="http://schemas.microsoft.com/office/drawing/2014/main" id="{B2470172-744D-4240-8D3A-98735A34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481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辨識後進入三階段審查</a:t>
            </a:r>
            <a:endParaRPr/>
          </a:p>
        </p:txBody>
      </p:sp>
      <p:sp>
        <p:nvSpPr>
          <p:cNvPr id="269" name="Google Shape;269;p13">
            <a:extLst xmlns:a="http://schemas.openxmlformats.org/drawingml/2006/main">
              <a:ext uri="{FF2B5EF4-FFF2-40B4-BE49-F238E27FC236}">
                <a16:creationId xmlns:a16="http://schemas.microsoft.com/office/drawing/2014/main" id="{B67F6C93-0F6F-4BD1-877E-3BA372DF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957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3">
            <a:extLst xmlns:a="http://schemas.openxmlformats.org/drawingml/2006/main">
              <a:ext uri="{FF2B5EF4-FFF2-40B4-BE49-F238E27FC236}">
                <a16:creationId xmlns:a16="http://schemas.microsoft.com/office/drawing/2014/main" id="{1BBC4FE1-B021-4AE8-BA9E-C9F96690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481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OCR／Gemini</a:t>
            </a:r>
            <a:endParaRPr/>
          </a:p>
        </p:txBody>
      </p:sp>
      <p:sp>
        <p:nvSpPr>
          <p:cNvPr id="271" name="Google Shape;271;p13">
            <a:extLst xmlns:a="http://schemas.openxmlformats.org/drawingml/2006/main">
              <a:ext uri="{FF2B5EF4-FFF2-40B4-BE49-F238E27FC236}">
                <a16:creationId xmlns:a16="http://schemas.microsoft.com/office/drawing/2014/main" id="{8AD9CE28-1659-41BB-A0DD-86121355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9570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3">
            <a:extLst xmlns:a="http://schemas.openxmlformats.org/drawingml/2006/main">
              <a:ext uri="{FF2B5EF4-FFF2-40B4-BE49-F238E27FC236}">
                <a16:creationId xmlns:a16="http://schemas.microsoft.com/office/drawing/2014/main" id="{00FBCE27-EF25-419A-A2BA-A7E5CD71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481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125"/>
              <a:buFont typeface="Microsoft JhengHei"/>
              <a:buNone/>
            </a:pPr>
            <a:r>
              <a:rPr sz="11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多資料來源與嚴格AI審核並入庫</a:t>
            </a:r>
            <a:endParaRPr/>
          </a:p>
        </p:txBody>
      </p:sp>
      <p:sp>
        <p:nvSpPr>
          <p:cNvPr id="273" name="Google Shape;273;p13">
            <a:extLst xmlns:a="http://schemas.openxmlformats.org/drawingml/2006/main">
              <a:ext uri="{FF2B5EF4-FFF2-40B4-BE49-F238E27FC236}">
                <a16:creationId xmlns:a16="http://schemas.microsoft.com/office/drawing/2014/main" id="{3F441EB6-AA31-411E-B60F-9A9E22BE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3">
            <a:extLst xmlns:a="http://schemas.openxmlformats.org/drawingml/2006/main">
              <a:ext uri="{FF2B5EF4-FFF2-40B4-BE49-F238E27FC236}">
                <a16:creationId xmlns:a16="http://schemas.microsoft.com/office/drawing/2014/main" id="{DB89A8DD-585F-4AF4-99D3-CAB5580D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發音服務</a:t>
            </a:r>
            <a:endParaRPr/>
          </a:p>
        </p:txBody>
      </p:sp>
      <p:sp>
        <p:nvSpPr>
          <p:cNvPr id="275" name="Google Shape;275;p13">
            <a:extLst xmlns:a="http://schemas.openxmlformats.org/drawingml/2006/main">
              <a:ext uri="{FF2B5EF4-FFF2-40B4-BE49-F238E27FC236}">
                <a16:creationId xmlns:a16="http://schemas.microsoft.com/office/drawing/2014/main" id="{46F993C6-0E8C-4B98-A928-A73A95A0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3434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3">
            <a:extLst xmlns:a="http://schemas.openxmlformats.org/drawingml/2006/main">
              <a:ext uri="{FF2B5EF4-FFF2-40B4-BE49-F238E27FC236}">
                <a16:creationId xmlns:a16="http://schemas.microsoft.com/office/drawing/2014/main" id="{7E1AF132-2313-462F-B45F-A481B37D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958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字典音源優先，TTS 備援</a:t>
            </a:r>
            <a:endParaRPr/>
          </a:p>
        </p:txBody>
      </p:sp>
      <p:sp>
        <p:nvSpPr>
          <p:cNvPr id="277" name="Google Shape;277;p13">
            <a:extLst xmlns:a="http://schemas.openxmlformats.org/drawingml/2006/main">
              <a:ext uri="{FF2B5EF4-FFF2-40B4-BE49-F238E27FC236}">
                <a16:creationId xmlns:a16="http://schemas.microsoft.com/office/drawing/2014/main" id="{D130032C-D8DE-4491-A89E-2835F709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3434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3">
            <a:extLst xmlns:a="http://schemas.openxmlformats.org/drawingml/2006/main">
              <a:ext uri="{FF2B5EF4-FFF2-40B4-BE49-F238E27FC236}">
                <a16:creationId xmlns:a16="http://schemas.microsoft.com/office/drawing/2014/main" id="{216B34B9-2A4A-4FE6-932D-C1F5DE2B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4958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7A5620"/>
              </a:buClr>
              <a:buSzPts val="1200"/>
              <a:buFont typeface="Microsoft JhengHei"/>
              <a:buNone/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快取／fallback</a:t>
            </a:r>
            <a:endParaRPr/>
          </a:p>
        </p:txBody>
      </p:sp>
      <p:sp>
        <p:nvSpPr>
          <p:cNvPr id="279" name="Google Shape;279;p13">
            <a:extLst xmlns:a="http://schemas.openxmlformats.org/drawingml/2006/main">
              <a:ext uri="{FF2B5EF4-FFF2-40B4-BE49-F238E27FC236}">
                <a16:creationId xmlns:a16="http://schemas.microsoft.com/office/drawing/2014/main" id="{6FFB4266-17D5-474F-8534-F73CB241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4340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8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3">
            <a:extLst xmlns:a="http://schemas.openxmlformats.org/drawingml/2006/main">
              <a:ext uri="{FF2B5EF4-FFF2-40B4-BE49-F238E27FC236}">
                <a16:creationId xmlns:a16="http://schemas.microsoft.com/office/drawing/2014/main" id="{13EE818B-E990-4059-8397-9AFA16F65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958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125"/>
              <a:buFont typeface="Microsoft JhengHei"/>
              <a:buNone/>
            </a:pPr>
            <a:r>
              <a:rPr sz="1125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兼顧正確性與可用性</a:t>
            </a:r>
            <a:endParaRPr/>
          </a:p>
        </p:txBody>
      </p:sp>
      <p:sp>
        <p:nvSpPr>
          <p:cNvPr id="281" name="Google Shape;281;p13">
            <a:extLst xmlns:a="http://schemas.openxmlformats.org/drawingml/2006/main">
              <a:ext uri="{FF2B5EF4-FFF2-40B4-BE49-F238E27FC236}">
                <a16:creationId xmlns:a16="http://schemas.microsoft.com/office/drawing/2014/main" id="{8606648C-FFC9-4280-B7B8-ABB71E51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91100"/>
            <a:ext cx="1524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3">
            <a:extLst xmlns:a="http://schemas.openxmlformats.org/drawingml/2006/main">
              <a:ext uri="{FF2B5EF4-FFF2-40B4-BE49-F238E27FC236}">
                <a16:creationId xmlns:a16="http://schemas.microsoft.com/office/drawing/2014/main" id="{5B4A30B8-9B39-477B-B98A-1CA582CD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1295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公開部署</a:t>
            </a:r>
            <a:endParaRPr/>
          </a:p>
        </p:txBody>
      </p:sp>
      <p:sp>
        <p:nvSpPr>
          <p:cNvPr id="283" name="Google Shape;283;p13">
            <a:extLst xmlns:a="http://schemas.openxmlformats.org/drawingml/2006/main">
              <a:ext uri="{FF2B5EF4-FFF2-40B4-BE49-F238E27FC236}">
                <a16:creationId xmlns:a16="http://schemas.microsoft.com/office/drawing/2014/main" id="{A2AD2C85-904B-4E1E-9532-7B5F6DC5E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991100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3">
            <a:extLst xmlns:a="http://schemas.openxmlformats.org/drawingml/2006/main">
              <a:ext uri="{FF2B5EF4-FFF2-40B4-BE49-F238E27FC236}">
                <a16:creationId xmlns:a16="http://schemas.microsoft.com/office/drawing/2014/main" id="{EAB67592-16E8-4FCE-A262-9E84B0A6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43500"/>
            <a:ext cx="2152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將服務</a:t>
            </a:r>
            <a:r>
              <a:rPr sz="120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部屬至</a:t>
            </a:r>
            <a:r>
              <a:rPr sz="1200" b="0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公開網域</a:t>
            </a:r>
            <a:endParaRPr/>
          </a:p>
        </p:txBody>
      </p:sp>
      <p:sp>
        <p:nvSpPr>
          <p:cNvPr id="285" name="Google Shape;285;p13">
            <a:extLst xmlns:a="http://schemas.openxmlformats.org/drawingml/2006/main">
              <a:ext uri="{FF2B5EF4-FFF2-40B4-BE49-F238E27FC236}">
                <a16:creationId xmlns:a16="http://schemas.microsoft.com/office/drawing/2014/main" id="{F077DEB7-EF3D-4E41-9F2F-BA31C426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9911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3">
            <a:extLst xmlns:a="http://schemas.openxmlformats.org/drawingml/2006/main">
              <a:ext uri="{FF2B5EF4-FFF2-40B4-BE49-F238E27FC236}">
                <a16:creationId xmlns:a16="http://schemas.microsoft.com/office/drawing/2014/main" id="{C05D4EE3-EEBC-4F5B-A63C-B36DF43F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43500"/>
            <a:ext cx="1485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200"/>
              <a:buFont typeface="Microsoft JhengHei"/>
              <a:buNone/>
            </a:pP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Nginx</a:t>
            </a:r>
            <a:r>
              <a:rPr sz="1200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／DuckDNS</a:t>
            </a:r>
            <a:endParaRPr/>
          </a:p>
        </p:txBody>
      </p:sp>
      <p:sp>
        <p:nvSpPr>
          <p:cNvPr id="287" name="Google Shape;287;p13">
            <a:extLst xmlns:a="http://schemas.openxmlformats.org/drawingml/2006/main">
              <a:ext uri="{FF2B5EF4-FFF2-40B4-BE49-F238E27FC236}">
                <a16:creationId xmlns:a16="http://schemas.microsoft.com/office/drawing/2014/main" id="{4DDBED11-B5F0-4C43-95D8-C4EFA6CC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91100"/>
            <a:ext cx="4572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 cmpd="sng">
            <a:solidFill>
              <a:srgbClr val="CBD6C7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3">
            <a:extLst xmlns:a="http://schemas.openxmlformats.org/drawingml/2006/main">
              <a:ext uri="{FF2B5EF4-FFF2-40B4-BE49-F238E27FC236}">
                <a16:creationId xmlns:a16="http://schemas.microsoft.com/office/drawing/2014/main" id="{DA6EE686-41DB-4646-8B28-A34C9C11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43500"/>
            <a:ext cx="434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1125"/>
              <a:buFont typeface="Microsoft JhengHei"/>
              <a:buNone/>
            </a:pPr>
            <a:r>
              <a:rPr sz="1125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架設網頁使其多裝置支援與快速迭代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21348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EF182B30-DE8F-465F-84A1-AFEA96F0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14978FD9-9454-4AEC-A6BB-EFAC41B0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6096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A94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" name="Google Shape;18;p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481ff7d8efd4c70">
            <a:alphaModFix/>
          </a:blip>
          <a:srcRect xmlns:a="http://schemas.openxmlformats.org/drawingml/2006/main" l="9676" t="10268" r="11528" b="12583"/>
          <a:stretch xmlns:a="http://schemas.openxmlformats.org/drawingml/2006/main"/>
        </p:blipFill>
        <p:spPr>
          <a:xfrm xmlns:a="http://schemas.openxmlformats.org/drawingml/2006/main">
            <a:off x="1409925" y="1913013"/>
            <a:ext cx="1275900" cy="124928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C6682B19-CDED-4555-BCA0-462F38E0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75" y="3210000"/>
            <a:ext cx="1885800" cy="43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75"/>
              <a:buFont typeface="Microsoft JhengHei"/>
              <a:buNone/>
            </a:pPr>
            <a:r>
              <a:rPr sz="217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WORDS KING</a:t>
            </a:r>
            <a:endParaRPr/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E29FC837-9834-4F3D-BC6D-759F24F9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225" y="3648000"/>
            <a:ext cx="1041300" cy="3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CE5EE"/>
              </a:buClr>
              <a:buSzPts val="1350"/>
              <a:buFont typeface="Microsoft JhengHei"/>
              <a:buNone/>
            </a:pPr>
            <a:r>
              <a:rPr sz="1350" b="0">
                <a:solidFill>
                  <a:srgbClr val="DCE5EE"/>
                </a:solidFill>
                <a:latin typeface="Microsoft JhengHei"/>
                <a:ea typeface="Microsoft JhengHei"/>
                <a:cs typeface="Microsoft JhengHei"/>
              </a:rPr>
              <a:t>專案作品報告</a:t>
            </a:r>
            <a:endParaRPr/>
          </a:p>
        </p:txBody>
      </p:sp>
      <p:sp>
        <p:nvSp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48C22397-1CF3-4641-80E7-F1030312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219200"/>
            <a:ext cx="6875700" cy="17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4575"/>
              <a:buFont typeface="Microsoft JhengHei"/>
              <a:buNone/>
            </a:pPr>
            <a:r>
              <a:rPr sz="45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從學習痛點出發</a:t>
            </a:r>
            <a:endParaRPr sz="4575" b="1">
              <a:solidFill>
                <a:srgbClr val="1F2D25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marL="0" marR="0" lv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4575"/>
              <a:buFont typeface="Microsoft JhengHei"/>
              <a:buNone/>
            </a:pPr>
            <a:r>
              <a:rPr sz="4575" b="1">
                <a:solidFill>
                  <a:srgbClr val="1F2D25"/>
                </a:solidFill>
                <a:latin typeface="Microsoft JhengHei"/>
                <a:ea typeface="Microsoft JhengHei"/>
                <a:cs typeface="Microsoft JhengHei"/>
              </a:rPr>
              <a:t>	建立單字學習網站。</a:t>
            </a:r>
            <a:endParaRPr sz="4575" b="1">
              <a:solidFill>
                <a:srgbClr val="1F2D25"/>
              </a:solidFill>
              <a:latin typeface="Microsoft JhengHei"/>
              <a:ea typeface="Microsoft JhengHei"/>
              <a:cs typeface="Microsoft JhengHei"/>
            </a:endParaRPr>
          </a:p>
          <a:p xmlns:a="http://schemas.openxmlformats.org/drawingml/2006/main">
            <a:pPr marL="0" marR="0" lv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1F2D25"/>
              </a:buClr>
              <a:buSzPts val="4575"/>
              <a:buFont typeface="Microsoft JhengHei"/>
              <a:buNone/>
            </a:pPr>
            <a:r>
              <a:t/>
            </a:r>
            <a:endParaRPr/>
          </a:p>
        </p:txBody>
      </p:sp>
      <p:cxnSp>
        <p:nvCxnSpPr>
          <p:cNvPr id="31" name="Google Shape;22;p3"/>
          <p:cNvCxnSpPr/>
          <p:nvPr/>
        </p:nvCxnSpPr>
        <p:spPr>
          <a:xfrm xmlns:a="http://schemas.openxmlformats.org/drawingml/2006/main">
            <a:off x="4800600" y="4495800"/>
            <a:ext cx="5810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CBD6C7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" name="Google Shape;23;p3">
            <a:extLst xmlns:a="http://schemas.openxmlformats.org/drawingml/2006/main">
              <a:ext uri="{FF2B5EF4-FFF2-40B4-BE49-F238E27FC236}">
                <a16:creationId xmlns:a16="http://schemas.microsoft.com/office/drawing/2014/main" id="{373A7D9B-64A0-4957-9BD5-2325938F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810125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725"/>
              <a:buFont typeface="Microsoft JhengHei"/>
              <a:buNone/>
            </a:pPr>
            <a:r>
              <a: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詹秉睿</a:t>
            </a:r>
            <a:endParaRPr/>
          </a:p>
          <a:p xmlns:a="http://schemas.openxmlformats.org/drawingml/2006/main">
            <a:pPr marL="0" marR="0" lvl="0" indent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315F45"/>
              </a:buClr>
              <a:buSzPts val="1725"/>
              <a:buFont typeface="Microsoft JhengHei"/>
              <a:buNone/>
            </a:pPr>
            <a:r>
              <a:rPr sz="1725" b="1">
                <a:solidFill>
                  <a:srgbClr val="315F45"/>
                </a:solidFill>
                <a:latin typeface="Microsoft JhengHei"/>
                <a:ea typeface="Microsoft JhengHei"/>
                <a:cs typeface="Microsoft JhengHei"/>
              </a:rPr>
              <a:t>清水高中 · 高三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8021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2026-08-18T05:14:10.1330000Z</dcterms:created>
  <dcterms:modified xsi:type="dcterms:W3CDTF">2026-08-18T05:14:10.1330000Z</dcterms:modified>
</coreProperties>
</file>