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本專案識別與申請人資料。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Merriam-Webster — https://www.merriam-webster.com/dictionary/distribute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Oxford Advanced Learner's Dictionary — https://www.oxfordlearnersdictionaries.com/definition/english/distribute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本專案開發動機。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本專案開發紀錄。</a:t>
            </a:r>
            <a:endParaRPr/>
          </a:p>
        </p:txBody>
      </p:sp>
      <p:sp>
        <p:nvSpPr>
          <p:cNvPr id="46" name="Google Shape;4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本專案原始碼：server.js、src/routes、src/db、src/middleware、src/utils、public。</a:t>
            </a:r>
            <a:endParaRPr/>
          </a:p>
        </p:txBody>
      </p:sp>
      <p:sp>
        <p:nvSpPr>
          <p:cNvPr id="76" name="Google Shape;7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本專案展示畫面。</a:t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本專案功能流程與資料結構。</a:t>
            </a:r>
            <a:endParaRPr/>
          </a:p>
        </p:txBody>
      </p:sp>
      <p:sp>
        <p:nvSpPr>
          <p:cNvPr id="124" name="Google Shape;12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本專案 AI 匯入流程：scripts/image_word_pipeline.py、src/routes/import.js。</a:t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本專案資料庫統計，2026/08/15。</a:t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本專案發音服務與內容審查功能。</a:t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本專案學習反思、公開服務與未來規劃。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https://words.ytconch.duckdns.org/</a:t>
            </a:r>
            <a:endParaRPr/>
          </a:p>
        </p:txBody>
      </p:sp>
      <p:sp>
        <p:nvSpPr>
          <p:cNvPr id="220" name="Google Shape;22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本專案原始碼、資料庫分工與部署架構。</a:t>
            </a:r>
            <a:endParaRPr/>
          </a:p>
        </p:txBody>
      </p:sp>
      <p:sp>
        <p:nvSpPr>
          <p:cNvPr id="235" name="Google Shape;23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公開服務：https://words.ytconch.duckdns.org/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本專案展示用去識別化畫面。</a:t>
            </a:r>
            <a:endParaRPr/>
          </a:p>
        </p:txBody>
      </p:sp>
      <p:sp>
        <p:nvSpPr>
          <p:cNvPr id="292" name="Google Shape;29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10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" y="819150"/>
            <a:ext cx="609600" cy="76200"/>
          </a:xfrm>
          <a:prstGeom prst="roundRect">
            <a:avLst>
              <a:gd fmla="val 50000" name="adj"/>
            </a:avLst>
          </a:prstGeom>
          <a:solidFill>
            <a:srgbClr val="D4A9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/>
          </a:blip>
          <a:srcRect b="12583" l="9676" r="11528" t="10268"/>
          <a:stretch/>
        </p:blipFill>
        <p:spPr>
          <a:xfrm>
            <a:off x="1409925" y="1913013"/>
            <a:ext cx="1275900" cy="12492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1104975" y="3210000"/>
            <a:ext cx="18858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Microsoft JhengHei"/>
              <a:buNone/>
            </a:pPr>
            <a:r>
              <a:rPr b="1" lang="en-US" sz="2175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WORDS KING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527225" y="3648000"/>
            <a:ext cx="1041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5EE"/>
              </a:buClr>
              <a:buSzPts val="1350"/>
              <a:buFont typeface="Microsoft JhengHei"/>
              <a:buNone/>
            </a:pPr>
            <a:r>
              <a:rPr b="0" lang="en-US" sz="135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專案作品報告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762500" y="1219200"/>
            <a:ext cx="6875700" cy="17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rPr b="1" lang="en-US" sz="457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從學習痛點出發</a:t>
            </a:r>
            <a:endParaRPr b="1" sz="4575">
              <a:solidFill>
                <a:srgbClr val="1F2D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rPr b="1" lang="en-US" sz="457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	建立單字學習網站。</a:t>
            </a:r>
            <a:endParaRPr b="1" sz="4575">
              <a:solidFill>
                <a:srgbClr val="1F2D2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t/>
            </a:r>
            <a:endParaRPr/>
          </a:p>
        </p:txBody>
      </p:sp>
      <p:cxnSp>
        <p:nvCxnSpPr>
          <p:cNvPr id="22" name="Google Shape;22;p3"/>
          <p:cNvCxnSpPr/>
          <p:nvPr/>
        </p:nvCxnSpPr>
        <p:spPr>
          <a:xfrm>
            <a:off x="4800600" y="4495800"/>
            <a:ext cx="5810250" cy="0"/>
          </a:xfrm>
          <a:prstGeom prst="straightConnector1">
            <a:avLst/>
          </a:prstGeom>
          <a:noFill/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/>
          <p:nvPr/>
        </p:nvSpPr>
        <p:spPr>
          <a:xfrm>
            <a:off x="4800600" y="4810125"/>
            <a:ext cx="3238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725"/>
              <a:buFont typeface="Microsoft JhengHei"/>
              <a:buNone/>
            </a:pPr>
            <a:r>
              <a:rPr b="1" lang="en-US" sz="1725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詹秉睿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725"/>
              <a:buFont typeface="Microsoft JhengHei"/>
              <a:buNone/>
            </a:pPr>
            <a:r>
              <a:rPr b="1" lang="en-US" sz="1725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清水高中 · 高三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85800" y="36195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b="1" lang="en-US" sz="1125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ORIGIN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85800" y="6858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我不想再逐字詢問 AI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1144250" y="6534150"/>
            <a:ext cx="361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b="1" lang="en-US" sz="9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02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42950" y="1905000"/>
            <a:ext cx="4857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175"/>
              <a:buFont typeface="Microsoft JhengHei"/>
              <a:buNone/>
            </a:pPr>
            <a:r>
              <a:rPr b="1" lang="en-US" sz="2175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以前，我會把每個單字逐一問 AI：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175"/>
              <a:buFont typeface="Microsoft JhengHei"/>
              <a:buNone/>
            </a:pPr>
            <a:r>
              <a:rPr b="1" lang="en-US" sz="2175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它的拉丁字根是什麼？詞源如何演變？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742950" y="3352800"/>
            <a:ext cx="48577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b="0" lang="en-US"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這種方法能讓我理解單字，卻無法規模化；</a:t>
            </a:r>
            <a:br>
              <a:rPr b="0" lang="en-US"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0" lang="en-US"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我也觀察到，同學多半仍靠重複背誦</a:t>
            </a:r>
            <a:r>
              <a:rPr lang="en-US"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來記憶單字</a:t>
            </a:r>
            <a:r>
              <a:rPr b="0" lang="en-US"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b="0" sz="1575">
              <a:solidFill>
                <a:srgbClr val="5D6B6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b="0" lang="en-US"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於是我把個人的查詢流程，</a:t>
            </a:r>
            <a:endParaRPr b="0" sz="1575">
              <a:solidFill>
                <a:srgbClr val="5D6B6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b="0" lang="en-US"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改造成可以整理、練習與追蹤的系統。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191250" y="1828800"/>
            <a:ext cx="4667250" cy="3333750"/>
          </a:xfrm>
          <a:prstGeom prst="roundRect">
            <a:avLst>
              <a:gd fmla="val 6286" name="adj"/>
            </a:avLst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572325" y="2108575"/>
            <a:ext cx="3714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525"/>
              <a:buFont typeface="Microsoft JhengHei"/>
              <a:buNone/>
            </a:pPr>
            <a:r>
              <a:rPr b="1" lang="en-US" sz="35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distribute</a:t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810700" y="3100463"/>
            <a:ext cx="1143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325"/>
              <a:buFont typeface="Microsoft JhengHei"/>
              <a:buNone/>
            </a:pPr>
            <a:r>
              <a:rPr b="1" lang="en-US" sz="2325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dis-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8146325" y="3110063"/>
            <a:ext cx="362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2175"/>
              <a:buFont typeface="Microsoft JhengHei"/>
              <a:buNone/>
            </a:pPr>
            <a:r>
              <a:rPr b="1" lang="en-US" sz="2175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</a:t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530450" y="3100463"/>
            <a:ext cx="1809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325"/>
              <a:buFont typeface="Microsoft JhengHei"/>
              <a:buNone/>
            </a:pPr>
            <a:r>
              <a:rPr b="1" lang="en-US" sz="2325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tribuere</a:t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691600" y="3657600"/>
            <a:ext cx="138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b="0" lang="en-US" sz="135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apart／分開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411350" y="3657600"/>
            <a:ext cx="2047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b="0" lang="en-US" sz="135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assign／分配</a:t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572325" y="4233725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425"/>
              <a:buFont typeface="Microsoft JhengHei"/>
              <a:buNone/>
            </a:pPr>
            <a:r>
              <a:rPr lang="en-US" sz="14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拉丁字跟的背誦與搭配，使的記憶量減少與英語單字邏輯化。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685800" y="36195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b="1" lang="en-US" sz="1125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EVOLUTION</a:t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85800" y="6858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四個月內，把</a:t>
            </a: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想法架構</a:t>
            </a: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做成公開服務</a:t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11144250" y="6534150"/>
            <a:ext cx="361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b="1" lang="en-US" sz="9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</a:t>
            </a:r>
            <a:r>
              <a:rPr b="1" lang="en-US" sz="9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cxnSp>
        <p:nvCxnSpPr>
          <p:cNvPr id="52" name="Google Shape;52;p5"/>
          <p:cNvCxnSpPr/>
          <p:nvPr/>
        </p:nvCxnSpPr>
        <p:spPr>
          <a:xfrm>
            <a:off x="990600" y="3257550"/>
            <a:ext cx="10001250" cy="0"/>
          </a:xfrm>
          <a:prstGeom prst="straightConnector1">
            <a:avLst/>
          </a:prstGeom>
          <a:noFill/>
          <a:ln cap="flat" cmpd="sng" w="476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5"/>
          <p:cNvSpPr/>
          <p:nvPr/>
        </p:nvSpPr>
        <p:spPr>
          <a:xfrm>
            <a:off x="1085850" y="31146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752475" y="24193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b="1" lang="en-US" sz="2100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04/24</a:t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371475" y="3638550"/>
            <a:ext cx="1714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b="1" lang="en-US" sz="15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開始開發</a:t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342900" y="4210050"/>
            <a:ext cx="17716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b="0" lang="en-US" sz="12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完成專案骨架</a:t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200400" y="31146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2867025" y="24193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b="1" lang="en-US" sz="2100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04/25</a:t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429100" y="3567113"/>
            <a:ext cx="1714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b="1" lang="en-US" sz="15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beta版本釋出</a:t>
            </a:r>
            <a:br>
              <a:rPr b="1" lang="en-US" sz="15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en-US" sz="15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基本單字功能與練習</a:t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2457450" y="4210050"/>
            <a:ext cx="17716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b="0" lang="en-US" sz="12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開始累積練習紀錄</a:t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314950" y="31146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981575" y="24193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b="1" lang="en-US" sz="2100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04/29</a:t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4486725" y="3567188"/>
            <a:ext cx="19422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b="1" lang="en-US" sz="15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OCR掃描資料</a:t>
            </a:r>
            <a:br>
              <a:rPr b="1" lang="en-US" sz="15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en-US" sz="15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</a:t>
            </a:r>
            <a:r>
              <a:rPr b="1" lang="en-US" sz="15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擬合分析資料</a:t>
            </a:r>
            <a:r>
              <a:rPr b="1" lang="en-US" sz="15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匯入</a:t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4572000" y="4210050"/>
            <a:ext cx="17716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b="0" lang="en-US" sz="12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建立內容處理管線</a:t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7429500" y="31146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D4A9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7096125" y="24193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641F"/>
              </a:buClr>
              <a:buSzPts val="2100"/>
              <a:buFont typeface="Microsoft JhengHei"/>
              <a:buNone/>
            </a:pPr>
            <a:r>
              <a:rPr b="1" lang="en-US" sz="2100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05/25</a:t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715125" y="3638550"/>
            <a:ext cx="1714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b="1" lang="en-US" sz="15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公測版本發布</a:t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686550" y="4210050"/>
            <a:ext cx="17716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b="0" lang="en-US" sz="12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同學可透過</a:t>
            </a:r>
            <a:r>
              <a:rPr lang="en-US" sz="12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公網</a:t>
            </a:r>
            <a:r>
              <a:rPr lang="en-US" sz="12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鏈結</a:t>
            </a:r>
            <a:r>
              <a:rPr b="0" lang="en-US" sz="12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</a:t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9544050" y="31146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9210675" y="24193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b="1" lang="en-US" sz="2100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08/15</a:t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8829675" y="3638550"/>
            <a:ext cx="1714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b="1" lang="en-US" sz="15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持續維運</a:t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801100" y="4210050"/>
            <a:ext cx="17716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b="0" lang="en-US" sz="12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持續補充內容與功能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685800" y="36195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b="1" lang="en-US" sz="1125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ENGINEERING</a:t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685800" y="6858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我把重複化的查詢學習做成了高效且方便的網頁</a:t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1144250" y="6534150"/>
            <a:ext cx="361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b="1" lang="en-US" sz="9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</a:t>
            </a:r>
            <a:r>
              <a:rPr b="1" lang="en-US" sz="9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/>
          </a:p>
        </p:txBody>
      </p:sp>
      <p:cxnSp>
        <p:nvCxnSpPr>
          <p:cNvPr id="82" name="Google Shape;82;p6"/>
          <p:cNvCxnSpPr/>
          <p:nvPr/>
        </p:nvCxnSpPr>
        <p:spPr>
          <a:xfrm>
            <a:off x="3219450" y="3143250"/>
            <a:ext cx="857250" cy="0"/>
          </a:xfrm>
          <a:prstGeom prst="straightConnector1">
            <a:avLst/>
          </a:prstGeom>
          <a:noFill/>
          <a:ln cap="flat" cmpd="sng" w="38100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6"/>
          <p:cNvCxnSpPr/>
          <p:nvPr/>
        </p:nvCxnSpPr>
        <p:spPr>
          <a:xfrm>
            <a:off x="7505700" y="3143250"/>
            <a:ext cx="857250" cy="0"/>
          </a:xfrm>
          <a:prstGeom prst="straightConnector1">
            <a:avLst/>
          </a:prstGeom>
          <a:noFill/>
          <a:ln cap="flat" cmpd="sng" w="38100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6"/>
          <p:cNvSpPr/>
          <p:nvPr/>
        </p:nvSpPr>
        <p:spPr>
          <a:xfrm>
            <a:off x="723900" y="2000250"/>
            <a:ext cx="2495550" cy="3105150"/>
          </a:xfrm>
          <a:prstGeom prst="roundRect">
            <a:avLst>
              <a:gd fmla="val 8397" name="adj"/>
            </a:avLst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723900" y="2000250"/>
            <a:ext cx="2495550" cy="114300"/>
          </a:xfrm>
          <a:prstGeom prst="roundRect">
            <a:avLst>
              <a:gd fmla="val 50000" name="adj"/>
            </a:avLst>
          </a:prstGeom>
          <a:solidFill>
            <a:srgbClr val="102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990600" y="2381250"/>
            <a:ext cx="552450" cy="552450"/>
          </a:xfrm>
          <a:prstGeom prst="roundRect">
            <a:avLst>
              <a:gd fmla="val 50000" name="adj"/>
            </a:avLst>
          </a:prstGeom>
          <a:solidFill>
            <a:srgbClr val="DDE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990600" y="2533650"/>
            <a:ext cx="552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1275"/>
              <a:buFont typeface="Microsoft JhengHei"/>
              <a:buNone/>
            </a:pPr>
            <a:r>
              <a:rPr b="1" lang="en-US" sz="1275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01</a:t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990600" y="3200400"/>
            <a:ext cx="19621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b="1" lang="en-US" sz="20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使用者體驗</a:t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990600" y="3848100"/>
            <a:ext cx="19621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b="0"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單字庫</a:t>
            </a:r>
            <a:endParaRPr/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b="0"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多模式練習</a:t>
            </a:r>
            <a:endParaRPr/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b="0"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趨勢與排行榜</a:t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076700" y="2000250"/>
            <a:ext cx="3429000" cy="3105150"/>
          </a:xfrm>
          <a:prstGeom prst="roundRect">
            <a:avLst>
              <a:gd fmla="val 6748" name="adj"/>
            </a:avLst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076700" y="2000250"/>
            <a:ext cx="3429000" cy="114300"/>
          </a:xfrm>
          <a:prstGeom prst="roundRect">
            <a:avLst>
              <a:gd fmla="val 50000" name="adj"/>
            </a:avLst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4343400" y="2381250"/>
            <a:ext cx="552450" cy="552450"/>
          </a:xfrm>
          <a:prstGeom prst="roundRect">
            <a:avLst>
              <a:gd fmla="val 50000" name="adj"/>
            </a:avLst>
          </a:prstGeom>
          <a:solidFill>
            <a:srgbClr val="DDE9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343400" y="2533650"/>
            <a:ext cx="552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75"/>
              <a:buFont typeface="Microsoft JhengHei"/>
              <a:buNone/>
            </a:pPr>
            <a:r>
              <a:rPr b="1" lang="en-US" sz="1275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02</a:t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343400" y="32004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b="1" lang="en-US" sz="20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服務與資料</a:t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343400" y="3886200"/>
            <a:ext cx="28956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b="0"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Express API／JWT 權限</a:t>
            </a:r>
            <a:endParaRPr/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b="0"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SQLite 三庫分工</a:t>
            </a:r>
            <a:endParaRPr/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b="0"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學習同步、通知</a:t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362950" y="2000250"/>
            <a:ext cx="3105150" cy="3105150"/>
          </a:xfrm>
          <a:prstGeom prst="roundRect">
            <a:avLst>
              <a:gd fmla="val 6748" name="adj"/>
            </a:avLst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362950" y="2000250"/>
            <a:ext cx="3105150" cy="114300"/>
          </a:xfrm>
          <a:prstGeom prst="roundRect">
            <a:avLst>
              <a:gd fmla="val 50000" name="adj"/>
            </a:avLst>
          </a:prstGeom>
          <a:solidFill>
            <a:srgbClr val="8B64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8629650" y="2381250"/>
            <a:ext cx="552450" cy="552450"/>
          </a:xfrm>
          <a:prstGeom prst="roundRect">
            <a:avLst>
              <a:gd fmla="val 50000" name="adj"/>
            </a:avLst>
          </a:prstGeom>
          <a:solidFill>
            <a:srgbClr val="F4E9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629650" y="2533650"/>
            <a:ext cx="552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641F"/>
              </a:buClr>
              <a:buSzPts val="1275"/>
              <a:buFont typeface="Microsoft JhengHei"/>
              <a:buNone/>
            </a:pPr>
            <a:r>
              <a:rPr b="1" lang="en-US" sz="1275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03</a:t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8629650" y="3200400"/>
            <a:ext cx="2571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b="1" lang="en-US" sz="20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內容與維運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8629650" y="3848100"/>
            <a:ext cx="2571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b="0"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OCR／Gemini 匯入</a:t>
            </a:r>
            <a:endParaRPr/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b="0"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管理後台與人工審核</a:t>
            </a:r>
            <a:endParaRPr/>
          </a:p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b="0"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發音快取與 fallback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685800" y="36195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b="1" lang="en-US" sz="1125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PRODUCT</a:t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85800" y="6858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完整的學習功能與監測</a:t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11144250" y="6534150"/>
            <a:ext cx="361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b="1" lang="en-US" sz="9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</a:t>
            </a:r>
            <a:r>
              <a:rPr b="1" lang="en-US" sz="9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/>
          </a:p>
        </p:txBody>
      </p:sp>
      <p:pic>
        <p:nvPicPr>
          <p:cNvPr id="111" name="Google Shape;111;p7" title="螢幕擷取畫面 2026-08-15 233027.png"/>
          <p:cNvPicPr preferRelativeResize="0"/>
          <p:nvPr/>
        </p:nvPicPr>
        <p:blipFill rotWithShape="1">
          <a:blip r:embed="rId3">
            <a:alphaModFix/>
          </a:blip>
          <a:srcRect b="0" l="30" r="30" t="0"/>
          <a:stretch/>
        </p:blipFill>
        <p:spPr>
          <a:xfrm>
            <a:off x="26" y="2509325"/>
            <a:ext cx="3815400" cy="21474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id="112" name="Google Shape;112;p7" title="螢幕擷取畫面 2026-08-15 233132.png"/>
          <p:cNvPicPr preferRelativeResize="0"/>
          <p:nvPr/>
        </p:nvPicPr>
        <p:blipFill rotWithShape="1">
          <a:blip r:embed="rId4">
            <a:alphaModFix/>
          </a:blip>
          <a:srcRect b="0" l="30" r="30" t="0"/>
          <a:stretch/>
        </p:blipFill>
        <p:spPr>
          <a:xfrm>
            <a:off x="4187687" y="2509325"/>
            <a:ext cx="3815400" cy="21474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id="113" name="Google Shape;113;p7" title="螢幕擷取畫面 2026-08-15 23322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4177" y="2509325"/>
            <a:ext cx="3817800" cy="21474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726623" y="4978974"/>
            <a:ext cx="2362200" cy="322200"/>
          </a:xfrm>
          <a:prstGeom prst="roundRect">
            <a:avLst>
              <a:gd fmla="val 50000" name="adj"/>
            </a:avLst>
          </a:prstGeom>
          <a:solidFill>
            <a:srgbClr val="DDE9D4"/>
          </a:solidFill>
          <a:ln>
            <a:noFill/>
          </a:ln>
        </p:spPr>
        <p:txBody>
          <a:bodyPr anchorCtr="0" anchor="ctr" bIns="103075" lIns="103075" spcFirstLastPara="1" rIns="103075" wrap="square" tIns="10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726623" y="5021924"/>
            <a:ext cx="23622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68"/>
              <a:buFont typeface="Microsoft JhengHei"/>
              <a:buNone/>
            </a:pPr>
            <a:r>
              <a:rPr b="1" lang="en-US" sz="1268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理解：單字庫</a:t>
            </a:r>
            <a:endParaRPr sz="1578"/>
          </a:p>
        </p:txBody>
      </p:sp>
      <p:sp>
        <p:nvSpPr>
          <p:cNvPr id="116" name="Google Shape;116;p7"/>
          <p:cNvSpPr/>
          <p:nvPr/>
        </p:nvSpPr>
        <p:spPr>
          <a:xfrm>
            <a:off x="4806909" y="4978974"/>
            <a:ext cx="2577000" cy="322200"/>
          </a:xfrm>
          <a:prstGeom prst="roundRect">
            <a:avLst>
              <a:gd fmla="val 50000" name="adj"/>
            </a:avLst>
          </a:prstGeom>
          <a:solidFill>
            <a:srgbClr val="DDE9D4"/>
          </a:solidFill>
          <a:ln>
            <a:noFill/>
          </a:ln>
        </p:spPr>
        <p:txBody>
          <a:bodyPr anchorCtr="0" anchor="ctr" bIns="103075" lIns="103075" spcFirstLastPara="1" rIns="103075" wrap="square" tIns="10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4806909" y="5021924"/>
            <a:ext cx="2577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68"/>
              <a:buFont typeface="Microsoft JhengHei"/>
              <a:buNone/>
            </a:pPr>
            <a:r>
              <a:rPr b="1" lang="en-US" sz="1268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練習</a:t>
            </a:r>
            <a:r>
              <a:rPr b="1" lang="en-US" sz="1268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b="1" lang="en-US" sz="1268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三模式訓練</a:t>
            </a:r>
            <a:endParaRPr sz="1578"/>
          </a:p>
        </p:txBody>
      </p:sp>
      <p:sp>
        <p:nvSpPr>
          <p:cNvPr id="118" name="Google Shape;118;p7"/>
          <p:cNvSpPr/>
          <p:nvPr/>
        </p:nvSpPr>
        <p:spPr>
          <a:xfrm>
            <a:off x="9080472" y="4978974"/>
            <a:ext cx="2362200" cy="322200"/>
          </a:xfrm>
          <a:prstGeom prst="roundRect">
            <a:avLst>
              <a:gd fmla="val 50000" name="adj"/>
            </a:avLst>
          </a:prstGeom>
          <a:solidFill>
            <a:srgbClr val="DDE9D4"/>
          </a:solidFill>
          <a:ln>
            <a:noFill/>
          </a:ln>
        </p:spPr>
        <p:txBody>
          <a:bodyPr anchorCtr="0" anchor="ctr" bIns="103075" lIns="103075" spcFirstLastPara="1" rIns="103075" wrap="square" tIns="10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9080472" y="5021924"/>
            <a:ext cx="23622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68"/>
              <a:buFont typeface="Microsoft JhengHei"/>
              <a:buNone/>
            </a:pPr>
            <a:r>
              <a:rPr b="1" lang="en-US" sz="1268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追蹤：學習趨勢</a:t>
            </a:r>
            <a:endParaRPr sz="1578"/>
          </a:p>
        </p:txBody>
      </p:sp>
      <p:sp>
        <p:nvSpPr>
          <p:cNvPr id="120" name="Google Shape;120;p7"/>
          <p:cNvSpPr/>
          <p:nvPr/>
        </p:nvSpPr>
        <p:spPr>
          <a:xfrm>
            <a:off x="685800" y="1365138"/>
            <a:ext cx="99519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Words King 的核心目的並非單純提供單字庫，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而是引導使用者透過實作練習發現個人學習盲點。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系統隨後進行數據分析並提供精準練題，協助使用者徹底克服難點、提升學習效率。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685800" y="36195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b="1" lang="en-US" sz="1125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PROBLEM FRAMING</a:t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685800" y="6858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趨勢功能</a:t>
            </a: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把『會背』</a:t>
            </a: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變</a:t>
            </a: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</a:t>
            </a: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能看見的</a:t>
            </a: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『掌握程度』</a:t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685800" y="1376250"/>
            <a:ext cx="10820400" cy="1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使用者於單字庫完成單字複習後，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可進入練習區選擇單元與模式進行測驗。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測驗完畢後，系統會彙整答題數據並傳送至後端儲存。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下次使用者再次測驗時，系統將依據先前的答題表現，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結合錯題演算法精準推送並調整題目。</a:t>
            </a:r>
            <a:r>
              <a:rPr lang="en-US"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11144250" y="6534150"/>
            <a:ext cx="361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b="1" lang="en-US" sz="9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</a:t>
            </a:r>
            <a:r>
              <a:rPr b="1" lang="en-US" sz="9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endParaRPr/>
          </a:p>
        </p:txBody>
      </p:sp>
      <p:cxnSp>
        <p:nvCxnSpPr>
          <p:cNvPr id="131" name="Google Shape;131;p8"/>
          <p:cNvCxnSpPr/>
          <p:nvPr/>
        </p:nvCxnSpPr>
        <p:spPr>
          <a:xfrm>
            <a:off x="3390900" y="3657250"/>
            <a:ext cx="762000" cy="0"/>
          </a:xfrm>
          <a:prstGeom prst="straightConnector1">
            <a:avLst/>
          </a:prstGeom>
          <a:noFill/>
          <a:ln cap="flat" cmpd="sng" w="38100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8"/>
          <p:cNvCxnSpPr/>
          <p:nvPr/>
        </p:nvCxnSpPr>
        <p:spPr>
          <a:xfrm>
            <a:off x="7105650" y="3657250"/>
            <a:ext cx="762000" cy="0"/>
          </a:xfrm>
          <a:prstGeom prst="straightConnector1">
            <a:avLst/>
          </a:prstGeom>
          <a:noFill/>
          <a:ln cap="flat" cmpd="sng" w="38100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8"/>
          <p:cNvSpPr/>
          <p:nvPr/>
        </p:nvSpPr>
        <p:spPr>
          <a:xfrm>
            <a:off x="723900" y="2961925"/>
            <a:ext cx="2667000" cy="2362200"/>
          </a:xfrm>
          <a:prstGeom prst="roundRect">
            <a:avLst>
              <a:gd fmla="val 8871" name="adj"/>
            </a:avLst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952500" y="3190525"/>
            <a:ext cx="514500" cy="514500"/>
          </a:xfrm>
          <a:prstGeom prst="roundRect">
            <a:avLst>
              <a:gd fmla="val 50000" name="adj"/>
            </a:avLst>
          </a:prstGeom>
          <a:solidFill>
            <a:srgbClr val="DDE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952500" y="3304825"/>
            <a:ext cx="5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1350"/>
              <a:buFont typeface="Microsoft JhengHei"/>
              <a:buNone/>
            </a:pPr>
            <a:r>
              <a:rPr b="1" lang="en-US" sz="1350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01</a:t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952500" y="3952525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400"/>
              <a:buFont typeface="Microsoft JhengHei"/>
              <a:buNone/>
            </a:pPr>
            <a:r>
              <a:rPr b="1" lang="en-US" sz="24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理解</a:t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952500" y="4524025"/>
            <a:ext cx="2209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b="0"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以字根、詞源、詞義與例句建立記憶線索。</a:t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4152900" y="2961925"/>
            <a:ext cx="2952900" cy="2362200"/>
          </a:xfrm>
          <a:prstGeom prst="roundRect">
            <a:avLst>
              <a:gd fmla="val 8871" name="adj"/>
            </a:avLst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4381500" y="3190525"/>
            <a:ext cx="514500" cy="514500"/>
          </a:xfrm>
          <a:prstGeom prst="roundRect">
            <a:avLst>
              <a:gd fmla="val 50000" name="adj"/>
            </a:avLst>
          </a:prstGeom>
          <a:solidFill>
            <a:srgbClr val="DDE9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381500" y="3304825"/>
            <a:ext cx="5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350"/>
              <a:buFont typeface="Microsoft JhengHei"/>
              <a:buNone/>
            </a:pPr>
            <a:r>
              <a:rPr b="1" lang="en-US" sz="1350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02</a:t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4381500" y="3952525"/>
            <a:ext cx="249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400"/>
              <a:buFont typeface="Microsoft JhengHei"/>
              <a:buNone/>
            </a:pPr>
            <a:r>
              <a:rPr b="1" lang="en-US" sz="24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練習</a:t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4381500" y="4524025"/>
            <a:ext cx="2495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b="0"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用中選英、看中打英、克漏字等模式</a:t>
            </a:r>
            <a:r>
              <a:rPr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練習</a:t>
            </a:r>
            <a:r>
              <a:rPr b="0"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7867650" y="2961925"/>
            <a:ext cx="3600600" cy="2362200"/>
          </a:xfrm>
          <a:prstGeom prst="roundRect">
            <a:avLst>
              <a:gd fmla="val 8871" name="adj"/>
            </a:avLst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8096250" y="3190525"/>
            <a:ext cx="514500" cy="514500"/>
          </a:xfrm>
          <a:prstGeom prst="roundRect">
            <a:avLst>
              <a:gd fmla="val 50000" name="adj"/>
            </a:avLst>
          </a:prstGeom>
          <a:solidFill>
            <a:srgbClr val="F4E9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8096250" y="3304825"/>
            <a:ext cx="5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1350"/>
              <a:buFont typeface="Microsoft JhengHei"/>
              <a:buNone/>
            </a:pPr>
            <a:r>
              <a:rPr b="1" lang="en-US" sz="1350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03</a:t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8096250" y="3952525"/>
            <a:ext cx="31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400"/>
              <a:buFont typeface="Microsoft JhengHei"/>
              <a:buNone/>
            </a:pPr>
            <a:r>
              <a:rPr b="1" lang="en-US" sz="24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追蹤</a:t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8096250" y="4524025"/>
            <a:ext cx="3143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b="0"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保留作答、錯題與熟練度，讓下一次複習</a:t>
            </a:r>
            <a:r>
              <a:rPr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可以做出更精準的題目推送</a:t>
            </a:r>
            <a:r>
              <a:rPr b="0" lang="en-US"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685800" y="36195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b="1" lang="en-US" sz="1125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RELIABILITY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685800" y="6858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單字庫入庫</a:t>
            </a: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品質控制讓</a:t>
            </a: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優質</a:t>
            </a: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AI 內容</a:t>
            </a: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才</a:t>
            </a: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能進入</a:t>
            </a: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</a:t>
            </a: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系統</a:t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685800" y="1332052"/>
            <a:ext cx="108204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針對 AI 輸出內容的不確定性，我們設計了「AI 自我核查」與「人工最終把關」的雙重防線。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資料經由 AI 內部的「初審、複審、最終仲裁」三重自我審查與格式過濾，能有效收斂異常；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最終再經由人工專業審核，確保進入資料庫的每一筆資料皆具備高穩定度與檢索價值。 </a:t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11144250" y="6534150"/>
            <a:ext cx="361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b="1" lang="en-US" sz="9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07</a:t>
            </a:r>
            <a:endParaRPr/>
          </a:p>
        </p:txBody>
      </p:sp>
      <p:cxnSp>
        <p:nvCxnSpPr>
          <p:cNvPr id="158" name="Google Shape;158;p9"/>
          <p:cNvCxnSpPr/>
          <p:nvPr/>
        </p:nvCxnSpPr>
        <p:spPr>
          <a:xfrm>
            <a:off x="6057900" y="3124200"/>
            <a:ext cx="4762500" cy="0"/>
          </a:xfrm>
          <a:prstGeom prst="straightConnector1">
            <a:avLst/>
          </a:prstGeom>
          <a:noFill/>
          <a:ln cap="flat" cmpd="sng" w="476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9"/>
          <p:cNvSpPr/>
          <p:nvPr/>
        </p:nvSpPr>
        <p:spPr>
          <a:xfrm>
            <a:off x="6000750" y="2667000"/>
            <a:ext cx="914400" cy="914400"/>
          </a:xfrm>
          <a:prstGeom prst="roundRect">
            <a:avLst>
              <a:gd fmla="val 50000" name="adj"/>
            </a:avLst>
          </a:prstGeom>
          <a:solidFill>
            <a:srgbClr val="DDE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6000750" y="2895600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325"/>
              <a:buFont typeface="Microsoft JhengHei"/>
              <a:buNone/>
            </a:pPr>
            <a:r>
              <a:rPr b="1" lang="en-US" sz="2325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5734050" y="3790950"/>
            <a:ext cx="1447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725"/>
              <a:buFont typeface="Microsoft JhengHei"/>
              <a:buNone/>
            </a:pPr>
            <a:r>
              <a:rPr b="1" lang="en-US" sz="17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生成</a:t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5734050" y="42100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75"/>
              <a:buFont typeface="Microsoft JhengHei"/>
              <a:buNone/>
            </a:pPr>
            <a:r>
              <a:rPr b="0" lang="en-US" sz="12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建立初稿</a:t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7810500" y="2667000"/>
            <a:ext cx="914400" cy="914400"/>
          </a:xfrm>
          <a:prstGeom prst="roundRect">
            <a:avLst>
              <a:gd fmla="val 50000" name="adj"/>
            </a:avLst>
          </a:prstGeom>
          <a:solidFill>
            <a:srgbClr val="DDE9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7810500" y="2895600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325"/>
              <a:buFont typeface="Microsoft JhengHei"/>
              <a:buNone/>
            </a:pPr>
            <a:r>
              <a:rPr b="1" lang="en-US" sz="2325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7543800" y="3790950"/>
            <a:ext cx="1447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725"/>
              <a:buFont typeface="Microsoft JhengHei"/>
              <a:buNone/>
            </a:pPr>
            <a:r>
              <a:rPr b="1" lang="en-US" sz="17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兩次</a:t>
            </a:r>
            <a:r>
              <a:rPr b="1" lang="en-US" sz="17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複核</a:t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7543800" y="42100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75"/>
              <a:buFont typeface="Microsoft JhengHei"/>
              <a:buNone/>
            </a:pPr>
            <a:r>
              <a:rPr b="0" lang="en-US" sz="12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檢查缺漏</a:t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9620250" y="2667000"/>
            <a:ext cx="914400" cy="914400"/>
          </a:xfrm>
          <a:prstGeom prst="roundRect">
            <a:avLst>
              <a:gd fmla="val 50000" name="adj"/>
            </a:avLst>
          </a:prstGeom>
          <a:solidFill>
            <a:srgbClr val="F4E9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9620250" y="2895600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2325"/>
              <a:buFont typeface="Microsoft JhengHei"/>
              <a:buNone/>
            </a:pPr>
            <a:r>
              <a:rPr b="1" lang="en-US" sz="2325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9353550" y="3790950"/>
            <a:ext cx="1447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725"/>
              <a:buFont typeface="Microsoft JhengHei"/>
              <a:buNone/>
            </a:pPr>
            <a:r>
              <a:rPr b="1" lang="en-US" sz="17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仲裁</a:t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9353550" y="42100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75"/>
              <a:buFont typeface="Microsoft JhengHei"/>
              <a:buNone/>
            </a:pPr>
            <a:r>
              <a:rPr b="0" lang="en-US" sz="12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決定最終稿</a:t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6057900" y="4857750"/>
            <a:ext cx="4762500" cy="819150"/>
          </a:xfrm>
          <a:prstGeom prst="roundRect">
            <a:avLst>
              <a:gd fmla="val 20930" name="adj"/>
            </a:avLst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6067350" y="4972050"/>
            <a:ext cx="4743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350"/>
              <a:buFont typeface="Microsoft JhengHei"/>
              <a:buNone/>
            </a:pPr>
            <a:r>
              <a:rPr b="1" lang="en-US" sz="1550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最後仍要通過：</a:t>
            </a:r>
            <a:endParaRPr b="1" sz="1550">
              <a:solidFill>
                <a:srgbClr val="315F4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350"/>
              <a:buFont typeface="Microsoft JhengHei"/>
              <a:buNone/>
            </a:pPr>
            <a:r>
              <a:rPr b="1" lang="en-US" sz="1550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json格式驗證 · 詞性規則 · 漏字／重複檢查 · 失敗回退</a:t>
            </a:r>
            <a:endParaRPr sz="1600"/>
          </a:p>
        </p:txBody>
      </p:sp>
      <p:pic>
        <p:nvPicPr>
          <p:cNvPr id="173" name="Google Shape;173;p9" title="螢幕擷取畫面 2026-08-16 010346.png"/>
          <p:cNvPicPr preferRelativeResize="0"/>
          <p:nvPr/>
        </p:nvPicPr>
        <p:blipFill rotWithShape="1">
          <a:blip r:embed="rId3">
            <a:alphaModFix/>
          </a:blip>
          <a:srcRect b="23530" l="0" r="4689" t="0"/>
          <a:stretch/>
        </p:blipFill>
        <p:spPr>
          <a:xfrm>
            <a:off x="197600" y="2378275"/>
            <a:ext cx="5747222" cy="259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685800" y="36195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b="1" lang="en-US" sz="1125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EVIDENCE</a:t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685800" y="6858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Words King 已累積真實使用紀錄</a:t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714375" y="1304925"/>
            <a:ext cx="10820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b="0" lang="en-US"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內容規模與作答資料，讓我能觀察系統運作並持續調整功能。</a:t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11144250" y="6534150"/>
            <a:ext cx="361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b="1" lang="en-US" sz="9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08</a:t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742950" y="2190750"/>
            <a:ext cx="2190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3600"/>
              <a:buFont typeface="Microsoft JhengHei"/>
              <a:buNone/>
            </a:pPr>
            <a:r>
              <a:rPr b="1" lang="en-US" sz="3600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3,</a:t>
            </a:r>
            <a:r>
              <a:rPr b="1" lang="en-US" sz="3600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684 </a:t>
            </a:r>
            <a:endParaRPr/>
          </a:p>
        </p:txBody>
      </p:sp>
      <p:cxnSp>
        <p:nvCxnSpPr>
          <p:cNvPr id="185" name="Google Shape;185;p10"/>
          <p:cNvCxnSpPr/>
          <p:nvPr/>
        </p:nvCxnSpPr>
        <p:spPr>
          <a:xfrm>
            <a:off x="742950" y="2819400"/>
            <a:ext cx="2190750" cy="0"/>
          </a:xfrm>
          <a:prstGeom prst="straightConnector1">
            <a:avLst/>
          </a:prstGeom>
          <a:noFill/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10"/>
          <p:cNvSpPr/>
          <p:nvPr/>
        </p:nvSpPr>
        <p:spPr>
          <a:xfrm>
            <a:off x="742950" y="2933700"/>
            <a:ext cx="2190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b="0" lang="en-US" sz="135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</a:t>
            </a:r>
            <a:r>
              <a:rPr b="0" lang="en-US" sz="135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單字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b="0" lang="en-US" sz="135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分布於 71 個單元</a:t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3448050" y="2190750"/>
            <a:ext cx="2190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3600"/>
              <a:buFont typeface="Microsoft JhengHei"/>
              <a:buNone/>
            </a:pPr>
            <a:r>
              <a:rPr b="1" lang="en-US" sz="3600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38</a:t>
            </a:r>
            <a:endParaRPr/>
          </a:p>
        </p:txBody>
      </p:sp>
      <p:cxnSp>
        <p:nvCxnSpPr>
          <p:cNvPr id="188" name="Google Shape;188;p10"/>
          <p:cNvCxnSpPr/>
          <p:nvPr/>
        </p:nvCxnSpPr>
        <p:spPr>
          <a:xfrm>
            <a:off x="3448050" y="2819400"/>
            <a:ext cx="2190750" cy="0"/>
          </a:xfrm>
          <a:prstGeom prst="straightConnector1">
            <a:avLst/>
          </a:prstGeom>
          <a:noFill/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10"/>
          <p:cNvSpPr/>
          <p:nvPr/>
        </p:nvSpPr>
        <p:spPr>
          <a:xfrm>
            <a:off x="3448050" y="2933700"/>
            <a:ext cx="2190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b="0" lang="en-US" sz="135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位造訪者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b="0" lang="en-US" sz="135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公開服務使用紀錄</a:t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6153150" y="2190750"/>
            <a:ext cx="2190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3600"/>
              <a:buFont typeface="Microsoft JhengHei"/>
              <a:buNone/>
            </a:pPr>
            <a:r>
              <a:rPr b="1" lang="en-US" sz="3600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37</a:t>
            </a:r>
            <a:endParaRPr/>
          </a:p>
        </p:txBody>
      </p:sp>
      <p:cxnSp>
        <p:nvCxnSpPr>
          <p:cNvPr id="191" name="Google Shape;191;p10"/>
          <p:cNvCxnSpPr/>
          <p:nvPr/>
        </p:nvCxnSpPr>
        <p:spPr>
          <a:xfrm>
            <a:off x="6153150" y="2819400"/>
            <a:ext cx="2190750" cy="0"/>
          </a:xfrm>
          <a:prstGeom prst="straightConnector1">
            <a:avLst/>
          </a:prstGeom>
          <a:noFill/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10"/>
          <p:cNvSpPr/>
          <p:nvPr/>
        </p:nvSpPr>
        <p:spPr>
          <a:xfrm>
            <a:off x="6153150" y="2933700"/>
            <a:ext cx="2190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b="0" lang="en-US" sz="135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位產生作答紀錄者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b="0" lang="en-US" sz="135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已留下實際學習資料</a:t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8858250" y="2190750"/>
            <a:ext cx="26479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53A"/>
              </a:buClr>
              <a:buSzPts val="3600"/>
              <a:buFont typeface="Microsoft JhengHei"/>
              <a:buNone/>
            </a:pPr>
            <a:r>
              <a:rPr b="1" lang="en-US" sz="3600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10,011</a:t>
            </a:r>
            <a:endParaRPr/>
          </a:p>
        </p:txBody>
      </p:sp>
      <p:cxnSp>
        <p:nvCxnSpPr>
          <p:cNvPr id="194" name="Google Shape;194;p10"/>
          <p:cNvCxnSpPr/>
          <p:nvPr/>
        </p:nvCxnSpPr>
        <p:spPr>
          <a:xfrm>
            <a:off x="8858250" y="2819400"/>
            <a:ext cx="2647950" cy="0"/>
          </a:xfrm>
          <a:prstGeom prst="straightConnector1">
            <a:avLst/>
          </a:prstGeom>
          <a:noFill/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0"/>
          <p:cNvSpPr/>
          <p:nvPr/>
        </p:nvSpPr>
        <p:spPr>
          <a:xfrm>
            <a:off x="8858250" y="2933700"/>
            <a:ext cx="26479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b="0" lang="en-US" sz="135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筆作答紀錄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b="0" lang="en-US" sz="135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可追蹤錯題與熟練度</a:t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781050" y="4495800"/>
            <a:ext cx="10687050" cy="971550"/>
          </a:xfrm>
          <a:prstGeom prst="roundRect">
            <a:avLst>
              <a:gd fmla="val 19608" name="adj"/>
            </a:avLst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1123950" y="4743450"/>
            <a:ext cx="9486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b="1" lang="en-US" sz="20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142 批</a:t>
            </a:r>
            <a:r>
              <a:rPr b="1" lang="en-US" sz="20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AI單字資料</a:t>
            </a:r>
            <a:r>
              <a:rPr b="1" lang="en-US" sz="20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匯入 · 277 場</a:t>
            </a:r>
            <a:r>
              <a:rPr b="1" lang="en-US" sz="20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使用者單字</a:t>
            </a:r>
            <a:r>
              <a:rPr b="1" lang="en-US" sz="20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練習 · 2,122 筆熟練度資料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685800" y="36195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b="1" lang="en-US" sz="1125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ITERATION</a:t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685800" y="6858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以反饋為導向，推動系統持續迭代 </a:t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685800" y="1257300"/>
            <a:ext cx="10820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結合使用者回報與自主邊界測試精準定位問題，並導入工程化標準流程進行修復與版本更新。 </a:t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11144250" y="6534150"/>
            <a:ext cx="361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b="1" lang="en-US" sz="9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09</a:t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742950" y="2038350"/>
            <a:ext cx="5029200" cy="3162300"/>
          </a:xfrm>
          <a:prstGeom prst="roundRect">
            <a:avLst>
              <a:gd fmla="val 6627" name="adj"/>
            </a:avLst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1047750" y="2619375"/>
            <a:ext cx="409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175"/>
              <a:buFont typeface="Microsoft JhengHei"/>
              <a:buNone/>
            </a:pPr>
            <a:r>
              <a:rPr b="1" lang="en-US" sz="217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語音模型發音不正確</a:t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1047750" y="3171825"/>
            <a:ext cx="342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2100"/>
              <a:buFont typeface="Microsoft JhengHei"/>
              <a:buNone/>
            </a:pPr>
            <a:r>
              <a:rPr b="1" lang="en-US" sz="2100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↓</a:t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1047750" y="3667125"/>
            <a:ext cx="4095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b="0" lang="en-US"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優先抓取</a:t>
            </a:r>
            <a:r>
              <a:rPr lang="en-US"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API</a:t>
            </a:r>
            <a:r>
              <a:rPr b="0" lang="en-US"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字典真人發音；</a:t>
            </a:r>
            <a:endParaRPr b="0" sz="1575">
              <a:solidFill>
                <a:srgbClr val="5D6B6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b="0" lang="en-US"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無合適來源時，再以 TTS</a:t>
            </a:r>
            <a:r>
              <a:rPr lang="en-US"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模組</a:t>
            </a:r>
            <a:r>
              <a:rPr b="0" lang="en-US"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作為 fallback。</a:t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6419850" y="2038350"/>
            <a:ext cx="5029200" cy="3162300"/>
          </a:xfrm>
          <a:prstGeom prst="roundRect">
            <a:avLst>
              <a:gd fmla="val 6627" name="adj"/>
            </a:avLst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6724650" y="2619375"/>
            <a:ext cx="409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175"/>
              <a:buFont typeface="Microsoft JhengHei"/>
              <a:buNone/>
            </a:pPr>
            <a:r>
              <a:rPr b="1" lang="en-US" sz="217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單次生成會留下分析錯誤</a:t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6724650" y="3171825"/>
            <a:ext cx="342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2100"/>
              <a:buFont typeface="Microsoft JhengHei"/>
              <a:buNone/>
            </a:pPr>
            <a:r>
              <a:rPr b="1" lang="en-US" sz="2100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↓</a:t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6724650" y="3667125"/>
            <a:ext cx="4095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b="0" lang="en-US"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拆成生成、複核、仲裁，並用規則驗證與回退避免錯誤直接進入單字庫。</a:t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3709950" y="5338400"/>
            <a:ext cx="47721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b="1" lang="en-US" sz="18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我透過實際使用與自行測試</a:t>
            </a:r>
            <a:endParaRPr sz="2000"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b="1" lang="en-US" sz="18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持續推動下一輪迭代</a:t>
            </a:r>
            <a:br>
              <a:rPr b="1" lang="en-US" sz="18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en-US" sz="18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公測發布後我也持續的蒐集使用者回饋</a:t>
            </a:r>
            <a:br>
              <a:rPr b="1" lang="en-US" sz="18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en-US" sz="18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來持續的優化前後端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685800" y="36195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b="1" lang="en-US" sz="1125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REFLECTION</a:t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685800" y="6858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從寫程式到做系統決策</a:t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685800" y="1489000"/>
            <a:ext cx="10820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過往我主要運用 C++ 與 TypeScript 開發基礎專案；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如今隨著 AI 工具的普及，我將開發重點從單純的「寫碼」轉化為「工程大局觀」的展現。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結合對系統架構的理解與程式扎實度，我不僅能快速整合新技術，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lang="en-US"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更能在注重</a:t>
            </a:r>
            <a:r>
              <a:rPr b="1" lang="en-US"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可用</a:t>
            </a:r>
            <a:r>
              <a:rPr b="1" lang="en-US"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性</a:t>
            </a:r>
            <a:r>
              <a:rPr lang="en-US"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與</a:t>
            </a:r>
            <a:r>
              <a:rPr b="1" lang="en-US"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資訊安全</a:t>
            </a:r>
            <a:r>
              <a:rPr lang="en-US"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的前提下，獨立建構出高品質、高穩定度的 Web 應用程式。</a:t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11144250" y="6534150"/>
            <a:ext cx="361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b="1" lang="en-US" sz="9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</a:t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685800" y="3089600"/>
            <a:ext cx="15402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702"/>
              <a:buFont typeface="Microsoft JhengHei"/>
              <a:buNone/>
            </a:pPr>
            <a:r>
              <a:rPr b="1" lang="en-US" sz="1702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BEFORE</a:t>
            </a:r>
            <a:endParaRPr sz="2118"/>
          </a:p>
        </p:txBody>
      </p:sp>
      <p:sp>
        <p:nvSpPr>
          <p:cNvPr id="228" name="Google Shape;228;p12"/>
          <p:cNvSpPr/>
          <p:nvPr/>
        </p:nvSpPr>
        <p:spPr>
          <a:xfrm>
            <a:off x="685800" y="3781170"/>
            <a:ext cx="36300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3857"/>
              <a:buFont typeface="Microsoft JhengHei"/>
              <a:buNone/>
            </a:pPr>
            <a:r>
              <a:rPr b="1" lang="en-US" sz="3857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具備程式基礎</a:t>
            </a:r>
            <a:endParaRPr sz="2118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3857"/>
              <a:buFont typeface="Microsoft JhengHei"/>
              <a:buNone/>
            </a:pPr>
            <a:r>
              <a:rPr b="1" lang="en-US" sz="3857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做過小型專案</a:t>
            </a:r>
            <a:endParaRPr sz="2118"/>
          </a:p>
        </p:txBody>
      </p:sp>
      <p:sp>
        <p:nvSpPr>
          <p:cNvPr id="229" name="Google Shape;229;p12"/>
          <p:cNvSpPr/>
          <p:nvPr/>
        </p:nvSpPr>
        <p:spPr>
          <a:xfrm>
            <a:off x="4601796" y="3954063"/>
            <a:ext cx="11001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6126"/>
              <a:buFont typeface="Microsoft JhengHei"/>
              <a:buNone/>
            </a:pPr>
            <a:r>
              <a:rPr b="1" lang="en-US" sz="6126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→</a:t>
            </a:r>
            <a:endParaRPr sz="2118"/>
          </a:p>
        </p:txBody>
      </p:sp>
      <p:sp>
        <p:nvSpPr>
          <p:cNvPr id="230" name="Google Shape;230;p12"/>
          <p:cNvSpPr/>
          <p:nvPr/>
        </p:nvSpPr>
        <p:spPr>
          <a:xfrm>
            <a:off x="6031795" y="3089600"/>
            <a:ext cx="15402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702"/>
              <a:buFont typeface="Microsoft JhengHei"/>
              <a:buNone/>
            </a:pPr>
            <a:r>
              <a:rPr b="1" lang="en-US" sz="1702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NOW</a:t>
            </a:r>
            <a:endParaRPr sz="2118"/>
          </a:p>
        </p:txBody>
      </p:sp>
      <p:sp>
        <p:nvSpPr>
          <p:cNvPr id="231" name="Google Shape;231;p12"/>
          <p:cNvSpPr/>
          <p:nvPr/>
        </p:nvSpPr>
        <p:spPr>
          <a:xfrm>
            <a:off x="6031795" y="3781170"/>
            <a:ext cx="6160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3857"/>
              <a:buFont typeface="Microsoft JhengHei"/>
              <a:buNone/>
            </a:pPr>
            <a:r>
              <a:rPr b="1" lang="en-US" sz="3857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定義問題 · 拆解需求</a:t>
            </a:r>
            <a:endParaRPr sz="2118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3857"/>
              <a:buFont typeface="Microsoft JhengHei"/>
              <a:buNone/>
            </a:pPr>
            <a:r>
              <a:rPr b="1" lang="en-US" sz="3857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制定規則 · 測試驗收</a:t>
            </a:r>
            <a:endParaRPr sz="2118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2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685800" y="36195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b="1" lang="en-US" sz="1125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APPENDIX C</a:t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685800" y="685800"/>
            <a:ext cx="10820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b="1" lang="en-US" sz="32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五項工程決策支撐系統持續運作</a:t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11144250" y="6534150"/>
            <a:ext cx="361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b="1" lang="en-US" sz="9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</a:t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742950" y="1943100"/>
            <a:ext cx="1524000" cy="457200"/>
          </a:xfrm>
          <a:prstGeom prst="rect">
            <a:avLst/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857250" y="2066925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b="1" lang="en-US" sz="1275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面向</a:t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2266950" y="1943100"/>
            <a:ext cx="2381250" cy="457200"/>
          </a:xfrm>
          <a:prstGeom prst="rect">
            <a:avLst/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2381250" y="2066925"/>
            <a:ext cx="2152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b="1" lang="en-US" sz="1275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我的選擇</a:t>
            </a: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4648200" y="1943100"/>
            <a:ext cx="1714500" cy="457200"/>
          </a:xfrm>
          <a:prstGeom prst="rect">
            <a:avLst/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4762500" y="2066925"/>
            <a:ext cx="148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b="1" lang="en-US" sz="1275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技術組合</a:t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6362700" y="1943100"/>
            <a:ext cx="4572000" cy="457200"/>
          </a:xfrm>
          <a:prstGeom prst="rect">
            <a:avLst/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6477000" y="2066925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b="1" lang="en-US" sz="1275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目的</a:t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742950" y="2400300"/>
            <a:ext cx="1524000" cy="64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857250" y="2552700"/>
            <a:ext cx="129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b="1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帳號與權限</a:t>
            </a: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2266950" y="2400300"/>
            <a:ext cx="2381250" cy="64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2381250" y="2552700"/>
            <a:ext cx="2152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b="0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依角色控管功能</a:t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4648200" y="2400300"/>
            <a:ext cx="1714500" cy="64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4762500" y="2552700"/>
            <a:ext cx="1485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b="1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JWT／中介層</a:t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6362700" y="2400300"/>
            <a:ext cx="4572000" cy="64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6477000" y="2552700"/>
            <a:ext cx="434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b="0" lang="en-US" sz="11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區分學生與管理功能</a:t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742950" y="3048000"/>
            <a:ext cx="1524000" cy="647700"/>
          </a:xfrm>
          <a:prstGeom prst="rect">
            <a:avLst/>
          </a:prstGeom>
          <a:solidFill>
            <a:srgbClr val="EEF3E8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857250" y="3200400"/>
            <a:ext cx="129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b="1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學習資料</a:t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2266950" y="3048000"/>
            <a:ext cx="2381250" cy="647700"/>
          </a:xfrm>
          <a:prstGeom prst="rect">
            <a:avLst/>
          </a:prstGeom>
          <a:solidFill>
            <a:srgbClr val="EEF3E8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2381250" y="3200400"/>
            <a:ext cx="2152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輕量型資料庫與</a:t>
            </a:r>
            <a:r>
              <a:rPr b="0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三個資料庫分工</a:t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4648200" y="3048000"/>
            <a:ext cx="1714500" cy="647700"/>
          </a:xfrm>
          <a:prstGeom prst="rect">
            <a:avLst/>
          </a:prstGeom>
          <a:solidFill>
            <a:srgbClr val="EEF3E8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4762500" y="3200400"/>
            <a:ext cx="1485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b="1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SQLite 三庫</a:t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6362700" y="3048000"/>
            <a:ext cx="4572000" cy="647700"/>
          </a:xfrm>
          <a:prstGeom prst="rect">
            <a:avLst/>
          </a:prstGeom>
          <a:solidFill>
            <a:srgbClr val="EEF3E8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6477000" y="3200400"/>
            <a:ext cx="434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lang="en-US" sz="11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快速部屬與</a:t>
            </a:r>
            <a:r>
              <a:rPr b="0" lang="en-US" sz="11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降低耦合</a:t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742950" y="3695700"/>
            <a:ext cx="1524000" cy="64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857250" y="3848100"/>
            <a:ext cx="129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b="1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內容匯入</a:t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2266950" y="3695700"/>
            <a:ext cx="2381250" cy="64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2381250" y="3848100"/>
            <a:ext cx="2152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b="0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辨識後進入三階段審查</a:t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4648200" y="3695700"/>
            <a:ext cx="1714500" cy="64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4762500" y="3848100"/>
            <a:ext cx="1485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b="1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OCR／Gemini</a:t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6362700" y="3695700"/>
            <a:ext cx="4572000" cy="64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6477000" y="3848100"/>
            <a:ext cx="434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lang="en-US" sz="11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多資料來源與嚴格AI審核並入庫</a:t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742950" y="4343400"/>
            <a:ext cx="1524000" cy="647700"/>
          </a:xfrm>
          <a:prstGeom prst="rect">
            <a:avLst/>
          </a:prstGeom>
          <a:solidFill>
            <a:srgbClr val="EEF3E8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857250" y="4495800"/>
            <a:ext cx="129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b="1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發音服務</a:t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2266950" y="4343400"/>
            <a:ext cx="2381250" cy="647700"/>
          </a:xfrm>
          <a:prstGeom prst="rect">
            <a:avLst/>
          </a:prstGeom>
          <a:solidFill>
            <a:srgbClr val="EEF3E8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2381250" y="4495800"/>
            <a:ext cx="2152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b="0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字典音源優先，TTS 備援</a:t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4648200" y="4343400"/>
            <a:ext cx="1714500" cy="647700"/>
          </a:xfrm>
          <a:prstGeom prst="rect">
            <a:avLst/>
          </a:prstGeom>
          <a:solidFill>
            <a:srgbClr val="EEF3E8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4762500" y="4495800"/>
            <a:ext cx="1485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1200"/>
              <a:buFont typeface="Microsoft JhengHei"/>
              <a:buNone/>
            </a:pPr>
            <a:r>
              <a:rPr b="1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快取／fallback</a:t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6362700" y="4343400"/>
            <a:ext cx="4572000" cy="647700"/>
          </a:xfrm>
          <a:prstGeom prst="rect">
            <a:avLst/>
          </a:prstGeom>
          <a:solidFill>
            <a:srgbClr val="EEF3E8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6477000" y="4495800"/>
            <a:ext cx="434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b="0" lang="en-US" sz="11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兼顧正確性與可用性</a:t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742950" y="4991100"/>
            <a:ext cx="1524000" cy="64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857250" y="5143500"/>
            <a:ext cx="129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b="1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公開部署</a:t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2266950" y="4991100"/>
            <a:ext cx="2381250" cy="64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2381250" y="5143500"/>
            <a:ext cx="2152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b="0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將服務</a:t>
            </a:r>
            <a:r>
              <a:rPr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部屬至</a:t>
            </a:r>
            <a:r>
              <a:rPr b="0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公開網域</a:t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4648200" y="4991100"/>
            <a:ext cx="1714500" cy="64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4762500" y="5143500"/>
            <a:ext cx="1485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b="1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Nginx</a:t>
            </a:r>
            <a:r>
              <a:rPr b="1" lang="en-US"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／DuckDNS</a:t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6362700" y="4991100"/>
            <a:ext cx="4572000" cy="64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6477000" y="5143500"/>
            <a:ext cx="434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lang="en-US" sz="11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架設網頁使其多裝置支援與快速迭代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2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15F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