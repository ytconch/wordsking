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a07fa0e7c4f2d" /><Relationship Type="http://schemas.openxmlformats.org/officeDocument/2006/relationships/extended-properties" Target="/docProps/app.xml" Id="R84c7af66074f4873" /><Relationship Type="http://schemas.openxmlformats.org/officeDocument/2006/relationships/officeDocument" Target="/ppt/presentation.xml" Id="R8ee94ef851d64a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26788790841ed"/>
  </p:sldMasterIdLst>
  <p:notesMasterIdLst>
    <p:notesMasterId xmlns:r="http://schemas.openxmlformats.org/officeDocument/2006/relationships" r:id="R616cd58981434f12"/>
  </p:notesMasterIdLst>
  <p:sldIdLst>
    <p:sldId xmlns:r="http://schemas.openxmlformats.org/officeDocument/2006/relationships" id="256" r:id="Rb8fe5f7f6cc54c77"/>
    <p:sldId xmlns:r="http://schemas.openxmlformats.org/officeDocument/2006/relationships" id="257" r:id="R1ed20afc96e246ed"/>
    <p:sldId xmlns:r="http://schemas.openxmlformats.org/officeDocument/2006/relationships" id="258" r:id="R891fc7fd79ea47e3"/>
    <p:sldId xmlns:r="http://schemas.openxmlformats.org/officeDocument/2006/relationships" id="259" r:id="Rc84edac1af274368"/>
    <p:sldId xmlns:r="http://schemas.openxmlformats.org/officeDocument/2006/relationships" id="260" r:id="R41e0e475c70246e2"/>
    <p:sldId xmlns:r="http://schemas.openxmlformats.org/officeDocument/2006/relationships" id="261" r:id="R45b299a1b0754204"/>
    <p:sldId xmlns:r="http://schemas.openxmlformats.org/officeDocument/2006/relationships" id="262" r:id="R794c64e955294daf"/>
    <p:sldId xmlns:r="http://schemas.openxmlformats.org/officeDocument/2006/relationships" id="263" r:id="Rd114881f4e3a4208"/>
    <p:sldId xmlns:r="http://schemas.openxmlformats.org/officeDocument/2006/relationships" id="264" r:id="Rc54350131e1144bc"/>
    <p:sldId xmlns:r="http://schemas.openxmlformats.org/officeDocument/2006/relationships" id="265" r:id="R6401aa48f8c344e5"/>
    <p:sldId xmlns:r="http://schemas.openxmlformats.org/officeDocument/2006/relationships" id="266" r:id="R49ad343d9d524cbd"/>
    <p:sldId xmlns:r="http://schemas.openxmlformats.org/officeDocument/2006/relationships" id="267" r:id="R723b08939f6b41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e8a080fa742c9" /><Relationship Type="http://schemas.openxmlformats.org/officeDocument/2006/relationships/slideMaster" Target="/ppt/slideMasters/slideMaster1.xml" Id="R5a226788790841ed" /><Relationship Type="http://schemas.openxmlformats.org/officeDocument/2006/relationships/notesMaster" Target="/ppt/notesMasters/notesMaster1.xml" Id="R616cd58981434f12" /><Relationship Type="http://schemas.openxmlformats.org/officeDocument/2006/relationships/presProps" Target="/ppt/presProps.xml" Id="R2c064733cc424922" /><Relationship Type="http://schemas.openxmlformats.org/officeDocument/2006/relationships/tableStyles" Target="/ppt/tableStyles.xml" Id="R843fbfcb8a3c43b1" /><Relationship Type="http://schemas.openxmlformats.org/officeDocument/2006/relationships/slide" Target="/ppt/slides/slide1.xml" Id="Rb8fe5f7f6cc54c77" /><Relationship Type="http://schemas.openxmlformats.org/officeDocument/2006/relationships/slide" Target="/ppt/slides/slide2.xml" Id="R1ed20afc96e246ed" /><Relationship Type="http://schemas.openxmlformats.org/officeDocument/2006/relationships/slide" Target="/ppt/slides/slide3.xml" Id="R891fc7fd79ea47e3" /><Relationship Type="http://schemas.openxmlformats.org/officeDocument/2006/relationships/slide" Target="/ppt/slides/slide4.xml" Id="Rc84edac1af274368" /><Relationship Type="http://schemas.openxmlformats.org/officeDocument/2006/relationships/slide" Target="/ppt/slides/slide5.xml" Id="R41e0e475c70246e2" /><Relationship Type="http://schemas.openxmlformats.org/officeDocument/2006/relationships/slide" Target="/ppt/slides/slide6.xml" Id="R45b299a1b0754204" /><Relationship Type="http://schemas.openxmlformats.org/officeDocument/2006/relationships/slide" Target="/ppt/slides/slide7.xml" Id="R794c64e955294daf" /><Relationship Type="http://schemas.openxmlformats.org/officeDocument/2006/relationships/slide" Target="/ppt/slides/slide8.xml" Id="Rd114881f4e3a4208" /><Relationship Type="http://schemas.openxmlformats.org/officeDocument/2006/relationships/slide" Target="/ppt/slides/slide9.xml" Id="Rc54350131e1144bc" /><Relationship Type="http://schemas.openxmlformats.org/officeDocument/2006/relationships/slide" Target="/ppt/slides/slide10.xml" Id="R6401aa48f8c344e5" /><Relationship Type="http://schemas.openxmlformats.org/officeDocument/2006/relationships/slide" Target="/ppt/slides/slide11.xml" Id="R49ad343d9d524cbd" /><Relationship Type="http://schemas.openxmlformats.org/officeDocument/2006/relationships/slide" Target="/ppt/slides/slide12.xml" Id="R723b08939f6b41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253fd64b27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833125217455d" /><Relationship Type="http://schemas.openxmlformats.org/officeDocument/2006/relationships/notesMaster" Target="/ppt/notesMasters/notesMaster1.xml" Id="R1cc5188d28744c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0495dc3dc44d36" /><Relationship Type="http://schemas.openxmlformats.org/officeDocument/2006/relationships/notesMaster" Target="/ppt/notesMasters/notesMaster1.xml" Id="R73671be9218a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6b073376a48d4" /><Relationship Type="http://schemas.openxmlformats.org/officeDocument/2006/relationships/notesMaster" Target="/ppt/notesMasters/notesMaster1.xml" Id="Rd1aafb6d93ef49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31f5f2d8f7438d" /><Relationship Type="http://schemas.openxmlformats.org/officeDocument/2006/relationships/notesMaster" Target="/ppt/notesMasters/notesMaster1.xml" Id="R4dffd582e37843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fdd7a8bc044e74" /><Relationship Type="http://schemas.openxmlformats.org/officeDocument/2006/relationships/notesMaster" Target="/ppt/notesMasters/notesMaster1.xml" Id="R530ee77fd0754a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c49bfaec9a46d0" /><Relationship Type="http://schemas.openxmlformats.org/officeDocument/2006/relationships/notesMaster" Target="/ppt/notesMasters/notesMaster1.xml" Id="R4c767625166744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61389a30d44a0" /><Relationship Type="http://schemas.openxmlformats.org/officeDocument/2006/relationships/notesMaster" Target="/ppt/notesMasters/notesMaster1.xml" Id="R09a11575d3624a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cf9f4a24404bf3" /><Relationship Type="http://schemas.openxmlformats.org/officeDocument/2006/relationships/notesMaster" Target="/ppt/notesMasters/notesMaster1.xml" Id="R2abba776989b4d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fba802b9254757" /><Relationship Type="http://schemas.openxmlformats.org/officeDocument/2006/relationships/notesMaster" Target="/ppt/notesMasters/notesMaster1.xml" Id="R9a51742d9dd542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5a807b07dc4ad9" /><Relationship Type="http://schemas.openxmlformats.org/officeDocument/2006/relationships/notesMaster" Target="/ppt/notesMasters/notesMaster1.xml" Id="Rb6f117265b0045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00d920c5e64544" /><Relationship Type="http://schemas.openxmlformats.org/officeDocument/2006/relationships/notesMaster" Target="/ppt/notesMasters/notesMaster1.xml" Id="R809503b462ad4a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6b8aa26af242cc" /><Relationship Type="http://schemas.openxmlformats.org/officeDocument/2006/relationships/notesMaster" Target="/ppt/notesMasters/notesMaster1.xml" Id="R8dfa212b775f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本專案識別與申請人資料。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Merriam-Webster — https://www.merriam-webster.com/dictionary/distribute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Oxford Advanced Learner's Dictionary — https://www.oxfordlearnersdictionaries.com/definition/english/distribute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本專案開發動機。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本專案開發紀錄。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本專案原始碼：server.js、src/routes、src/db、src/middleware、src/utils、public。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本專案展示畫面。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本專案功能流程與資料結構。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 AI 匯入流程：scripts/image_word_pipeline.py、src/routes/import.js。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本專案資料庫統計，2026/08/15。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本專案發音服務與內容審查功能。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本專案學習反思。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https://words.ytconch.duckdns.org/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本專案原始碼、資料庫分工與部署架構。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公開服務：https://words.ytconch.duckdns.org/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本專案識別與展示入口。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bf178982a451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f1686013054ea3" /><Relationship Type="http://schemas.openxmlformats.org/officeDocument/2006/relationships/slideLayout" Target="/ppt/slideLayouts/slideLayout1.xml" Id="Re9be68c863d3482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be68c863d3482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b15f1a78d4339" /><Relationship Type="http://schemas.openxmlformats.org/officeDocument/2006/relationships/image" Target="/ppt/media/image.png" Id="R67353d878a60456c" /><Relationship Type="http://schemas.openxmlformats.org/officeDocument/2006/relationships/notesSlide" Target="/ppt/notesSlides/notesSlide1.xml" Id="R513343d71ff84d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e44f9cc5f4288" /><Relationship Type="http://schemas.openxmlformats.org/officeDocument/2006/relationships/notesSlide" Target="/ppt/notesSlides/notesSlide2.xml" Id="Rf70019d161064a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3f80886864207" /><Relationship Type="http://schemas.openxmlformats.org/officeDocument/2006/relationships/notesSlide" Target="/ppt/notesSlides/notesSlide3.xml" Id="Ree64f901597a4b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5ade1dff34d8f" /><Relationship Type="http://schemas.openxmlformats.org/officeDocument/2006/relationships/notesSlide" Target="/ppt/notesSlides/notesSlide4.xml" Id="R8b1cb30f9bef4c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68584f6f14927" /><Relationship Type="http://schemas.openxmlformats.org/officeDocument/2006/relationships/image" Target="/ppt/media/image2.png" Id="Rf13237e689274ced" /><Relationship Type="http://schemas.openxmlformats.org/officeDocument/2006/relationships/image" Target="/ppt/media/image3.png" Id="R548a584f64f94775" /><Relationship Type="http://schemas.openxmlformats.org/officeDocument/2006/relationships/image" Target="/ppt/media/image4.png" Id="R26a55112edf54fe9" /><Relationship Type="http://schemas.openxmlformats.org/officeDocument/2006/relationships/notesSlide" Target="/ppt/notesSlides/notesSlide5.xml" Id="R1ca0e0dd78f44f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6ef72dcfc4b67" /><Relationship Type="http://schemas.openxmlformats.org/officeDocument/2006/relationships/notesSlide" Target="/ppt/notesSlides/notesSlide6.xml" Id="Rd303a552dbc749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e9a2a72d4c11" /><Relationship Type="http://schemas.openxmlformats.org/officeDocument/2006/relationships/image" Target="/ppt/media/image5.png" Id="Rc77a484c1aa74e16" /><Relationship Type="http://schemas.openxmlformats.org/officeDocument/2006/relationships/notesSlide" Target="/ppt/notesSlides/notesSlide7.xml" Id="R91ee518530684a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66bbd2d5d40b6" /><Relationship Type="http://schemas.openxmlformats.org/officeDocument/2006/relationships/notesSlide" Target="/ppt/notesSlides/notesSlide8.xml" Id="Rbcb97db8a5974c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f4847c3c64bf8" /><Relationship Type="http://schemas.openxmlformats.org/officeDocument/2006/relationships/notesSlide" Target="/ppt/notesSlides/notesSlide9.xml" Id="Re0d63c2770d54f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f26d52fd4458f" /><Relationship Type="http://schemas.openxmlformats.org/officeDocument/2006/relationships/notesSlide" Target="/ppt/notesSlides/notesSlide10.xml" Id="Rad4692ea4bff42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f8d225ba24807" /><Relationship Type="http://schemas.openxmlformats.org/officeDocument/2006/relationships/notesSlide" Target="/ppt/notesSlides/notesSlide11.xml" Id="Rfebac6e5239943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dd16c47734b00" /><Relationship Type="http://schemas.openxmlformats.org/officeDocument/2006/relationships/image" Target="/ppt/media/image.png" Id="Rc2d4ea0e7a6c4830" /><Relationship Type="http://schemas.openxmlformats.org/officeDocument/2006/relationships/hyperlink" Target="https://words.ytconch.duckdns.org/" TargetMode="External" Id="Re9fa26aec1b34eed" /><Relationship Type="http://schemas.openxmlformats.org/officeDocument/2006/relationships/notesSlide" Target="/ppt/notesSlides/notesSlide12.xml" Id="Rf5ba7e8067ef4c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F182B30-DE8F-465F-84A1-AFEA96F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4978FD9-9454-4AEC-A6BB-EFAC41B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" name="Google Shape;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353d878a60456c">
            <a:alphaModFix/>
          </a:blip>
          <a:srcRect xmlns:a="http://schemas.openxmlformats.org/drawingml/2006/main" l="9676" t="10268" r="11528" b="12583"/>
          <a:stretch xmlns:a="http://schemas.openxmlformats.org/drawingml/2006/main"/>
        </p:blipFill>
        <p:spPr>
          <a:xfrm xmlns:a="http://schemas.openxmlformats.org/drawingml/2006/main">
            <a:off x="1409925" y="1913013"/>
            <a:ext cx="1275900" cy="12492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6682B19-CDED-4555-BCA0-462F38E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75" y="3210000"/>
            <a:ext cx="1885800" cy="4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29FC837-9834-4F3D-BC6D-759F24F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225" y="3648000"/>
            <a:ext cx="1041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EE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專案作品報告</a:t>
            </a:r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8C22397-1CF3-4641-80E7-F103031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875700" cy="17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從學習痛點出發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建立單字學習網站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39" name="Google Shape;22;p3"/>
          <p:cNvCxnSpPr/>
          <p:nvPr/>
        </p:nvCxn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73A7D9B-64A0-4957-9BD5-2325938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  <a:endParaRPr/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2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3350CDCD-2F4C-45D4-A0E1-86508A1A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B82BAAD-B14E-4A2B-8316-B0AE01B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8C656883-9603-4A5C-B28E-6F6AC52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  <a:endParaRPr/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BA8082D0-4374-4A3C-B5A6-770CD49F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8009F63-77DA-4A13-AFD9-C1B0AD56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  <a:endParaRPr/>
          </a:p>
          <a:p xmlns:a="http://schemas.openxmlformats.org/drawingml/2006/main">
            <a:pPr marL="0" marR="0" lv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B2E91261-6974-4A96-A625-28F976DC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</a:t>
            </a:r>
            <a:br/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我也觀察到，同學多半仍靠重複背誦</a:t>
            </a:r>
            <a:r>
              <a:rPr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來記憶單字</a:t>
            </a: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於是我把個人的查詢流程，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改造成可以整理、練習與追蹤的系統。</a:t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EE7736BF-9A50-4D7E-AA45-DF84DA7A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A9BBFBAE-63C4-40B5-BC93-5190A99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325" y="2108575"/>
            <a:ext cx="37149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525"/>
              <a:buFont typeface="Microsoft JhengHei"/>
              <a:buNone/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  <a:endParaRPr/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502E520B-64AF-4F71-AEFC-849E1FA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700" y="3100463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  <a:endParaRPr/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A8ED0F95-9DED-4047-84A4-19D1DABF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6325" y="3110063"/>
            <a:ext cx="362100" cy="3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  <a:endParaRPr/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B19292F9-F72F-4903-A52A-4AFFA952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450" y="3100463"/>
            <a:ext cx="18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  <a:endParaRPr/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45BC3746-108A-4925-9967-6F7D392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600" y="3657600"/>
            <a:ext cx="13812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  <a:endParaRPr/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0E9FFB18-EED8-406E-B7D4-A1843CDE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350" y="3657600"/>
            <a:ext cx="20478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  <a:endParaRPr/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944AEFF7-AE4B-4D23-86A3-2111F86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325" y="4233725"/>
            <a:ext cx="37149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425"/>
              <a:buFont typeface="Microsoft JhengHei"/>
              <a:buNone/>
            </a:pPr>
            <a:r>
              <a:rPr sz="14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拆解拉丁字根與詞源，能降低記憶負擔，也看懂單字結構。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25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D36D5933-E733-4AD7-BFF2-AD48D11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927C5388-FBC5-4F1B-80B1-4FB775D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E348FC6C-CD87-45CE-8366-7FB88A3C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不到四個月，把想法做成公開服務</a:t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8B6F43FE-BBC0-41EF-9A62-93612683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/>
          </a:p>
        </p:txBody>
      </p:sp>
      <p:cxnSp>
        <p:nvCxnSpPr>
          <p:cNvPr id="82" name="Google Shape;52;p5"/>
          <p:cNvCxnSpPr/>
          <p:nvPr/>
        </p:nvCxnSpPr>
        <p:spPr>
          <a:xfrm xmlns:a="http://schemas.openxmlformats.org/drawingml/2006/main">
            <a:off x="990600" y="325755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DD14D4CF-0307-4EA3-AEFF-28A00B82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E237033F-D33A-49A8-8D27-F97F3B6E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  <a:endParaRPr/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288C2856-A386-469F-A425-BCCE5D0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開始開發</a:t>
            </a:r>
            <a:endParaRPr/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92A04741-E8D1-4016-93FA-20FD746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完成專案骨架</a:t>
            </a:r>
            <a:endParaRPr/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BB687320-CF9C-4B5E-869C-107C4F43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03F3F345-02FE-4697-BF17-8823B2C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  <a:endParaRPr/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03F8B919-70F7-42D6-BB8F-D89066D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100" y="3567113"/>
            <a:ext cx="1714500" cy="4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第一版可用</a:t>
            </a:r>
            <a:endParaRPr/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基本單字功能與練習</a:t>
            </a:r>
            <a:endParaRPr/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F3DB0D99-D224-43F2-A740-EF76218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開始累積練習紀錄</a:t>
            </a:r>
            <a:endParaRPr/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CF696CDB-6D3F-4AEE-9980-D39CA1EE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E2CA5241-299A-49CE-8426-C37E188A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  <a:endParaRPr/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86AE0AE1-6B55-4C5E-BFCC-F7C0365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725" y="3567188"/>
            <a:ext cx="1942200" cy="47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建立 AI 匯入流程</a:t>
            </a:r>
            <a:endParaRPr/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 掃描與內容處理</a:t>
            </a:r>
            <a:endParaRPr/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6A94E182-BF1E-46B8-B382-EE810A2B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建立內容處理管線</a:t>
            </a:r>
            <a:endParaRPr/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4D99C547-F1C2-4E00-9591-9E83AD7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1BDDDF4E-A837-4E15-86C2-25E69B87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  <a:endParaRPr/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9F041F44-9C85-4E70-A483-0625A97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  <a:endParaRPr/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8A42448A-8AAC-4686-9B5C-234E1101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同學可透過網路使用</a:t>
            </a:r>
            <a:endParaRPr/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5D7872EE-DFC6-418C-9C01-301C4F2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56BF1236-3EB9-4E2F-9B12-E4EF30F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  <a:endParaRPr/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02F09CBE-9653-4654-B02B-309EE9D3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持續維運</a:t>
            </a:r>
            <a:endParaRPr/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D75B4DA1-5768-4D1C-A919-E0E2F8D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持續補充內容與功能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875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954E67D-EDE6-4516-A81D-D22C6B09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4BB3F04A-602B-4A2D-9A1B-FCC150E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7AED2D14-A31E-457F-8780-7CB18D6B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我把重複查詢，做成方便使用的學習網站</a:t>
            </a:r>
            <a:endParaRPr/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149E63CA-FFFC-4513-8D8C-BAAE4B2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/>
          </a:p>
        </p:txBody>
      </p:sp>
      <p:cxnSp>
        <p:nvCxnSpPr>
          <p:cNvPr id="112" name="Google Shape;82;p6"/>
          <p:cNvCxnSpPr/>
          <p:nvPr/>
        </p:nvCxnSpPr>
        <p:spPr>
          <a:xfrm xmlns:a="http://schemas.openxmlformats.org/drawingml/2006/main">
            <a:off x="3219450" y="3143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83;p6"/>
          <p:cNvCxnSpPr/>
          <p:nvPr/>
        </p:nvCxnSpPr>
        <p:spPr>
          <a:xfrm xmlns:a="http://schemas.openxmlformats.org/drawingml/2006/main">
            <a:off x="7505700" y="3143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A8EB080C-75BD-4908-8BCA-3BB8137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7D82A42A-3B82-4686-B82D-30F4E46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19B9C3BC-38E3-4817-BE11-78C8F976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37978291-0FC7-4F3D-9587-C0C566DA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/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C39C3625-40F3-466B-AC89-80B5CF75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  <a:endParaRPr/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C138ED77-A313-4DB7-B6D6-13B4F3FB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  <a:endParaRPr/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FA1693EA-B4E0-46BA-8EBC-2C3DB26F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414CD254-A410-46D2-A4FF-37E8D8D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8EDA6C8F-B17D-4F7E-B18A-D47DE38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1F606EDF-962E-4647-9200-6452D508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7FA5FCF7-70B9-4F57-B1B2-305E30CB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  <a:endParaRPr/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EB3E973C-8E19-4D90-94C5-82BF97E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28956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</a:t>
            </a:r>
            <a:endParaRPr/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F4B2EE08-C396-4B55-B928-C64A774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50BE9041-23F6-4834-A9E2-7727E7C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AFF9C159-5925-4BAD-B72A-D0D0F07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4F54E8F2-D715-40FA-AA61-9FFDB6C7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/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86820D1A-EDC9-4712-B8C1-528FBD1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  <a:endParaRPr/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9F67E9E2-4FE8-474A-8027-02C8F250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7386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DBE3AA94-2730-4383-A27E-3DB720E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2A265CBF-C057-430F-B3D0-5A11C12F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  <a:endParaRPr/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E2EBEDF6-0487-4D50-9015-050AAA48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從理解、練習到學習追蹤</a:t>
            </a:r>
            <a:endParaRPr/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849D436B-9A5B-4F18-BFDE-18F82524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/>
          </a:p>
        </p:txBody>
      </p:sp>
      <p:pic>
        <p:nvPicPr>
          <p:cNvPr id="128" name="Google Shape;11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3237e689274ced">
            <a:alphaModFix/>
          </a:blip>
          <a:srcRect xmlns:a="http://schemas.openxmlformats.org/drawingml/2006/main" l="30" t="0" r="30" b="0"/>
          <a:stretch xmlns:a="http://schemas.openxmlformats.org/drawingml/2006/main"/>
        </p:blipFill>
        <p:spPr>
          <a:xfrm xmlns:a="http://schemas.openxmlformats.org/drawingml/2006/main">
            <a:off x="26" y="2509325"/>
            <a:ext cx="38154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pic>
        <p:nvPicPr>
          <p:cNvPr id="129" name="Google Shape;11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8a584f64f94775">
            <a:alphaModFix/>
          </a:blip>
          <a:srcRect xmlns:a="http://schemas.openxmlformats.org/drawingml/2006/main" l="30" t="0" r="30" b="0"/>
          <a:stretch xmlns:a="http://schemas.openxmlformats.org/drawingml/2006/main"/>
        </p:blipFill>
        <p:spPr>
          <a:xfrm xmlns:a="http://schemas.openxmlformats.org/drawingml/2006/main">
            <a:off x="4187687" y="2509325"/>
            <a:ext cx="38154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pic>
        <p:nvPicPr>
          <p:cNvPr id="130" name="Google Shape;11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a55112edf54f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74177" y="2509325"/>
            <a:ext cx="38178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4575E237-53CD-48BF-8036-E3363AE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3" y="4978974"/>
            <a:ext cx="23622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EE005F60-0914-49AF-A856-4773B0DA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3" y="5021924"/>
            <a:ext cx="23622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  <a:endParaRPr sz="1578"/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45E9E687-5504-4D1E-B00D-68B1F68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09" y="4978974"/>
            <a:ext cx="25770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E87AB986-E193-4E2D-A175-459BF1C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09" y="5021924"/>
            <a:ext cx="25770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三模式訓練</a:t>
            </a:r>
            <a:endParaRPr sz="1578"/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F82B26A3-720D-4029-9651-515F039B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472" y="4978974"/>
            <a:ext cx="23622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BB01C699-3BAE-44CB-93C2-7E939D7A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472" y="5021924"/>
            <a:ext cx="23622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  <a:endParaRPr sz="1578"/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6735BEAC-BA97-4FF5-8C92-787CA2D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5138"/>
            <a:ext cx="9951900" cy="10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不只提供單字內容，也讓使用者透過練習找出容易答錯的單字。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系統會整理作答結果與熟練度，作為下一次複習與題目推送的依據。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890013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8DD88E46-5516-4714-AB17-37D924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3F5B4F98-0CF7-42FB-A78B-CD395456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  <a:endParaRPr/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7C3272B7-4CA5-4413-8B9D-98CE282F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讓「會背」變成看得見的掌握程度</a:t>
            </a:r>
            <a:endParaRPr/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45E66A83-E273-46A5-A086-81F9154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6250"/>
            <a:ext cx="10820400" cy="146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使用者先在單字庫理解字根與詞源，再進入練習區作答。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系統保留答題、錯題與熟練度，並在下次練習時，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依先前表現調整題目與推送重點。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B6406077-526D-48AD-A21A-37E4334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/>
          </a:p>
        </p:txBody>
      </p:sp>
      <p:cxnSp>
        <p:nvCxnSpPr>
          <p:cNvPr id="160" name="Google Shape;131;p8"/>
          <p:cNvCxnSpPr/>
          <p:nvPr/>
        </p:nvCxnSpPr>
        <p:spPr>
          <a:xfrm xmlns:a="http://schemas.openxmlformats.org/drawingml/2006/main">
            <a:off x="3390900" y="365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32;p8"/>
          <p:cNvCxnSpPr/>
          <p:nvPr/>
        </p:nvCxnSpPr>
        <p:spPr>
          <a:xfrm xmlns:a="http://schemas.openxmlformats.org/drawingml/2006/main">
            <a:off x="7105650" y="365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423F6E8A-311A-40BA-A370-DA8E4C00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1925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AE36B599-7370-4BC8-8766-7EB1412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071FE151-A94B-4B33-A2DF-9E89CDB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4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/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687C2835-5BF9-44EB-BE93-C1D043A9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5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  <a:endParaRPr/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DDC53BA6-7EDD-44F6-BA06-9D9CF12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0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  <a:endParaRPr/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83E38438-AA77-4F4B-9FFB-C02E727D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61925"/>
            <a:ext cx="29529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33EB7B87-AAFC-4432-BC03-7750577D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90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D2D38504-0DF1-4276-9E26-F643D92C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04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822A6438-E116-4468-8DD5-8ED39BD8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525"/>
            <a:ext cx="24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endParaRPr/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5DF627D6-C6C4-45F4-B9C3-D4DBFF5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025"/>
            <a:ext cx="2495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</a:t>
            </a:r>
            <a:r>
              <a:rPr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/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7FC0D494-A689-48D3-A04E-D799EDE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61925"/>
            <a:ext cx="36006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9986FC45-BF40-444D-B03C-A8529BA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64F8FCA7-E097-4329-A9A9-046CEF8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4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/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D072C838-6DF7-40F0-9966-32964BC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525"/>
            <a:ext cx="31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  <a:endParaRPr/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6BB84C55-3209-428A-82F5-F7A091E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025"/>
            <a:ext cx="31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</a:t>
            </a:r>
            <a:r>
              <a:rPr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可以做出更精準的題目推送</a:t>
            </a: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9445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7A3156E6-913A-44ED-95F0-9E160D2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624C0532-8C13-4F64-8431-F8B83C4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  <a:endParaRPr/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20D26C95-94DC-4299-86E1-471CE8CD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我先讓 AI 內容通過審查，再進入單字庫</a:t>
            </a:r>
            <a:endParaRPr/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7476C1A1-FA99-4DA1-9932-409F0E2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2052"/>
            <a:ext cx="10820400" cy="98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AI 產生的內容不會直接寫入資料庫。我將流程拆成生成、兩次複核與仲裁，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再用格式、詞性、漏字與重複規則過濾；最後由我在管理後台確認，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才正式入庫。</a:t>
            </a:r>
            <a:endParaRPr/>
          </a:p>
        </p:txBody>
      </p:sp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4639FCBA-D760-4B17-9DE5-75811759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  <a:endParaRPr/>
          </a:p>
        </p:txBody>
      </p:sp>
      <p:cxnSp>
        <p:nvCxnSpPr>
          <p:cNvPr id="186" name="Google Shape;158;p9"/>
          <p:cNvCxnSpPr/>
          <p:nvPr/>
        </p:nvCxnSpPr>
        <p:spPr>
          <a:xfrm xmlns:a="http://schemas.openxmlformats.org/drawingml/2006/main">
            <a:off x="6057900" y="312420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02612991-A67A-492A-8BB5-ADEE3C1A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BF398BF5-2A69-40A4-AAE3-9824643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/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B0317F48-4DD5-42A0-B63C-731667E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  <a:endParaRPr/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964E8A61-36B0-47EC-B516-B0D57A13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  <a:endParaRPr/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EB0DD88F-D775-46C5-A839-0780FFC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93DED767-5820-4ABD-B9D7-9170434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/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68F989F5-F48E-4974-919B-428560E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兩次</a:t>
            </a: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  <a:endParaRPr/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F1515B04-18EA-475D-B7EE-CF4A5A16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  <a:endParaRPr/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9F669583-4A25-4420-B751-ABA296D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151C4ED8-D5C8-4C38-980B-4FE6908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/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EDC98E73-893F-4C13-9ABC-98DD280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  <a:endParaRPr/>
          </a:p>
        </p:txBody>
      </p:sp>
      <p:sp>
        <p:nvSpPr>
          <p:cNvPr id="170" name="Google Shape;170;p9">
            <a:extLst xmlns:a="http://schemas.openxmlformats.org/drawingml/2006/main">
              <a:ext uri="{FF2B5EF4-FFF2-40B4-BE49-F238E27FC236}">
                <a16:creationId xmlns:a16="http://schemas.microsoft.com/office/drawing/2014/main" id="{744F9117-D303-4638-A1EA-78EEFEE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  <a:endParaRPr/>
          </a:p>
        </p:txBody>
      </p:sp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972EC77E-5C67-4D96-9A8E-A0E41C88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B1EB3C1C-3FC0-458C-993E-6C5D880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350" y="4972050"/>
            <a:ext cx="47436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</a:t>
            </a:r>
            <a:endParaRPr sz="1550" b="1">
              <a:solidFill>
                <a:srgbClr val="315F4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JSON 格式 · 詞性規則 · 漏字／重複檢查 · 失敗回退</a:t>
            </a:r>
            <a:endParaRPr sz="1600"/>
          </a:p>
        </p:txBody>
      </p:sp>
      <p:pic>
        <p:nvPicPr>
          <p:cNvPr id="201" name="Google Shape;17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7a484c1aa74e16">
            <a:alphaModFix/>
          </a:blip>
          <a:srcRect xmlns:a="http://schemas.openxmlformats.org/drawingml/2006/main" l="0" t="0" r="4689" b="23530"/>
          <a:stretch xmlns:a="http://schemas.openxmlformats.org/drawingml/2006/main"/>
        </p:blipFill>
        <p:spPr>
          <a:xfrm xmlns:a="http://schemas.openxmlformats.org/drawingml/2006/main">
            <a:off x="197600" y="2378275"/>
            <a:ext cx="5747222" cy="25937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42856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0">
            <a:extLst xmlns:a="http://schemas.openxmlformats.org/drawingml/2006/main">
              <a:ext uri="{FF2B5EF4-FFF2-40B4-BE49-F238E27FC236}">
                <a16:creationId xmlns:a16="http://schemas.microsoft.com/office/drawing/2014/main" id="{94ABCA70-7CF9-41CA-A58F-8D78F99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473D54E1-51E2-4D63-B65E-34ADD46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  <a:endParaRPr/>
          </a:p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132D085E-E91B-4D7A-87BA-E3A9555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已累積真實使用紀錄</a:t>
            </a:r>
            <a:endParaRPr/>
          </a:p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7A97C1B1-F429-4F3B-9348-BE7BC588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049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截至 2026/08/15，這些資料持續支援我觀察系統與調整功能。</a:t>
            </a:r>
            <a:endParaRPr/>
          </a:p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527D7E4C-E47C-46B1-8F87-A012D328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  <a:endParaRPr/>
          </a:p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30157EFA-AF74-4180-BAD4-A58E4947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9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</a:t>
            </a: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684 </a:t>
            </a:r>
            <a:endParaRPr/>
          </a:p>
        </p:txBody>
      </p:sp>
      <p:cxnSp>
        <p:nvCxnSpPr>
          <p:cNvPr id="220" name="Google Shape;185;p10"/>
          <p:cNvCxnSpPr/>
          <p:nvPr/>
        </p:nvCxnSpPr>
        <p:spPr>
          <a:xfrm xmlns:a="http://schemas.openxmlformats.org/drawingml/2006/main">
            <a:off x="742950" y="2819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469489FE-3FC2-4974-A5CF-D40D403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</a:t>
            </a: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  <a:endParaRPr/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A1341FAD-52D7-4F44-A181-4D49B79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  <a:endParaRPr/>
          </a:p>
        </p:txBody>
      </p:sp>
      <p:cxnSp>
        <p:nvCxnSpPr>
          <p:cNvPr id="223" name="Google Shape;188;p10"/>
          <p:cNvCxnSpPr/>
          <p:nvPr/>
        </p:nvCxnSpPr>
        <p:spPr>
          <a:xfrm xmlns:a="http://schemas.openxmlformats.org/drawingml/2006/main">
            <a:off x="3448050" y="2819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B0FFB4FB-6867-4814-9CBA-3E330E3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位造訪使用者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  <a:endParaRPr/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7E922683-2F0A-4A56-9438-0F0E4A16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  <a:endParaRPr/>
          </a:p>
        </p:txBody>
      </p:sp>
      <p:cxnSp>
        <p:nvCxnSpPr>
          <p:cNvPr id="226" name="Google Shape;191;p10"/>
          <p:cNvCxnSpPr/>
          <p:nvPr/>
        </p:nvCxnSpPr>
        <p:spPr>
          <a:xfrm xmlns:a="http://schemas.openxmlformats.org/drawingml/2006/main">
            <a:off x="6153150" y="2819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F156EB08-4023-47C0-BB64-C914BE8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位留下作答紀錄者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已產生實際學習資料</a:t>
            </a:r>
            <a:endParaRPr/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7F9216ED-1FC8-4655-BF5C-C89C705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53A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  <a:endParaRPr/>
          </a:p>
        </p:txBody>
      </p:sp>
      <p:cxnSp>
        <p:nvCxnSpPr>
          <p:cNvPr id="229" name="Google Shape;194;p10"/>
          <p:cNvCxnSpPr/>
          <p:nvPr/>
        </p:nvCxnSpPr>
        <p:spPr>
          <a:xfrm xmlns:a="http://schemas.openxmlformats.org/drawingml/2006/main">
            <a:off x="8858250" y="28194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8EB3F6BE-9918-421B-91A9-7552600D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  <a:endParaRPr/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F5C64B24-872B-46AF-ADD1-F78E58C8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43FC7175-1E20-4B18-B38E-0AFD1AFC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94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AI單字資料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 · 277 場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使用者單字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 · 2,122 筆熟練度資料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2340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11">
            <a:extLst xmlns:a="http://schemas.openxmlformats.org/drawingml/2006/main">
              <a:ext uri="{FF2B5EF4-FFF2-40B4-BE49-F238E27FC236}">
                <a16:creationId xmlns:a16="http://schemas.microsoft.com/office/drawing/2014/main" id="{96EBB248-C0A0-42C6-B062-D4EDD1C3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>
            <a:extLst xmlns:a="http://schemas.openxmlformats.org/drawingml/2006/main">
              <a:ext uri="{FF2B5EF4-FFF2-40B4-BE49-F238E27FC236}">
                <a16:creationId xmlns:a16="http://schemas.microsoft.com/office/drawing/2014/main" id="{B6EE8E75-4C81-412B-B59B-574D6DEA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  <a:endParaRPr/>
          </a:p>
        </p:txBody>
      </p:sp>
      <p:sp>
        <p:nvSpPr>
          <p:cNvPr id="205" name="Google Shape;205;p11">
            <a:extLst xmlns:a="http://schemas.openxmlformats.org/drawingml/2006/main">
              <a:ext uri="{FF2B5EF4-FFF2-40B4-BE49-F238E27FC236}">
                <a16:creationId xmlns:a16="http://schemas.microsoft.com/office/drawing/2014/main" id="{2EEE03C3-6738-4994-AAD4-464EDC12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以反饋為導向，推動系統持續迭代 </a:t>
            </a:r>
            <a:endParaRPr/>
          </a:p>
        </p:txBody>
      </p:sp>
      <p:sp>
        <p:nvSpPr>
          <p:cNvPr id="206" name="Google Shape;206;p11">
            <a:extLst xmlns:a="http://schemas.openxmlformats.org/drawingml/2006/main">
              <a:ext uri="{FF2B5EF4-FFF2-40B4-BE49-F238E27FC236}">
                <a16:creationId xmlns:a16="http://schemas.microsoft.com/office/drawing/2014/main" id="{3ECAD217-965D-4703-AFDC-EB0848D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我從同學回報與自行測試中找出問題，再把修正納入下一輪版本。</a:t>
            </a:r>
            <a:endParaRPr/>
          </a:p>
        </p:txBody>
      </p:sp>
      <p:sp>
        <p:nvSpPr>
          <p:cNvPr id="207" name="Google Shape;207;p11">
            <a:extLst xmlns:a="http://schemas.openxmlformats.org/drawingml/2006/main">
              <a:ext uri="{FF2B5EF4-FFF2-40B4-BE49-F238E27FC236}">
                <a16:creationId xmlns:a16="http://schemas.microsoft.com/office/drawing/2014/main" id="{9EF89ADD-EB24-4B76-A64F-4792F07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  <a:endParaRPr/>
          </a:p>
        </p:txBody>
      </p:sp>
      <p:sp>
        <p:nvSpPr>
          <p:cNvPr id="208" name="Google Shape;208;p11">
            <a:extLst xmlns:a="http://schemas.openxmlformats.org/drawingml/2006/main">
              <a:ext uri="{FF2B5EF4-FFF2-40B4-BE49-F238E27FC236}">
                <a16:creationId xmlns:a16="http://schemas.microsoft.com/office/drawing/2014/main" id="{E2F61FFA-82AA-43BD-B813-64B18E3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>
            <a:extLst xmlns:a="http://schemas.openxmlformats.org/drawingml/2006/main">
              <a:ext uri="{FF2B5EF4-FFF2-40B4-BE49-F238E27FC236}">
                <a16:creationId xmlns:a16="http://schemas.microsoft.com/office/drawing/2014/main" id="{36EAC563-CBEB-4CFB-A06E-29163125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0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  <a:endParaRPr/>
          </a:p>
        </p:txBody>
      </p:sp>
      <p:sp>
        <p:nvSpPr>
          <p:cNvPr id="210" name="Google Shape;210;p11">
            <a:extLst xmlns:a="http://schemas.openxmlformats.org/drawingml/2006/main">
              <a:ext uri="{FF2B5EF4-FFF2-40B4-BE49-F238E27FC236}">
                <a16:creationId xmlns:a16="http://schemas.microsoft.com/office/drawing/2014/main" id="{3699BF75-C484-44B1-A1F9-6543065A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342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  <a:endParaRPr/>
          </a:p>
        </p:txBody>
      </p:sp>
      <p:sp>
        <p:nvSpPr>
          <p:cNvPr id="211" name="Google Shape;211;p11">
            <a:extLst xmlns:a="http://schemas.openxmlformats.org/drawingml/2006/main">
              <a:ext uri="{FF2B5EF4-FFF2-40B4-BE49-F238E27FC236}">
                <a16:creationId xmlns:a16="http://schemas.microsoft.com/office/drawing/2014/main" id="{7B7F9132-E49E-4399-A624-E7EECD6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095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優先使用 API 字典真人發音；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無合適來源時，再以 TTS 作為備援。</a:t>
            </a:r>
            <a:endParaRPr/>
          </a:p>
        </p:txBody>
      </p:sp>
      <p:sp>
        <p:nvSpPr>
          <p:cNvPr id="212" name="Google Shape;212;p11">
            <a:extLst xmlns:a="http://schemas.openxmlformats.org/drawingml/2006/main">
              <a:ext uri="{FF2B5EF4-FFF2-40B4-BE49-F238E27FC236}">
                <a16:creationId xmlns:a16="http://schemas.microsoft.com/office/drawing/2014/main" id="{E3B16422-BC2C-4B5B-BB47-CD61B658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>
            <a:extLst xmlns:a="http://schemas.openxmlformats.org/drawingml/2006/main">
              <a:ext uri="{FF2B5EF4-FFF2-40B4-BE49-F238E27FC236}">
                <a16:creationId xmlns:a16="http://schemas.microsoft.com/office/drawing/2014/main" id="{AD65A369-F7C6-4EDE-8518-BC2878F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40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  <a:endParaRPr/>
          </a:p>
        </p:txBody>
      </p:sp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DF77B60E-B7F3-46A6-BF6F-56BC285D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71825"/>
            <a:ext cx="342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  <a:endParaRPr/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FACC70DD-9042-4E0D-ADD6-D5FA8C3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4095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  <a:endParaRPr/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37D871E7-789F-4BCE-B66C-956191B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50" y="5338400"/>
            <a:ext cx="4772100" cy="13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我透過實際使用、自行測試與同學回報，</a:t>
            </a:r>
            <a:endParaRPr sz="2000"/>
          </a:p>
          <a:p xmlns:a="http://schemas.openxmlformats.org/drawingml/2006/main">
            <a:pPr marL="0" marR="0" lv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持續修正前後端，推動下一輪迭代。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5052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Google Shape;222;p12">
            <a:extLst xmlns:a="http://schemas.openxmlformats.org/drawingml/2006/main">
              <a:ext uri="{FF2B5EF4-FFF2-40B4-BE49-F238E27FC236}">
                <a16:creationId xmlns:a16="http://schemas.microsoft.com/office/drawing/2014/main" id="{550FC784-9006-4025-BE02-219011A9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>
            <a:extLst xmlns:a="http://schemas.openxmlformats.org/drawingml/2006/main">
              <a:ext uri="{FF2B5EF4-FFF2-40B4-BE49-F238E27FC236}">
                <a16:creationId xmlns:a16="http://schemas.microsoft.com/office/drawing/2014/main" id="{892A2988-9ED1-479A-848F-763A39B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  <a:endParaRPr/>
          </a:p>
        </p:txBody>
      </p:sp>
      <p:sp>
        <p:nvSpPr>
          <p:cNvPr id="224" name="Google Shape;224;p12">
            <a:extLst xmlns:a="http://schemas.openxmlformats.org/drawingml/2006/main">
              <a:ext uri="{FF2B5EF4-FFF2-40B4-BE49-F238E27FC236}">
                <a16:creationId xmlns:a16="http://schemas.microsoft.com/office/drawing/2014/main" id="{9E8168C0-0F46-40BC-8B15-58BE9BC5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我學到的，不只是把功能做出來</a:t>
            </a:r>
            <a:endParaRPr/>
          </a:p>
        </p:txBody>
      </p:sp>
      <p:sp>
        <p:nvSpPr>
          <p:cNvPr id="225" name="Google Shape;225;p12">
            <a:extLst xmlns:a="http://schemas.openxmlformats.org/drawingml/2006/main">
              <a:ext uri="{FF2B5EF4-FFF2-40B4-BE49-F238E27FC236}">
                <a16:creationId xmlns:a16="http://schemas.microsoft.com/office/drawing/2014/main" id="{D7DD0AAD-3AB7-40BC-808A-5D31605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9000"/>
            <a:ext cx="10820400" cy="107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一開始，我把開發理解成把功能寫出來；系統真正上線後，我才發現，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定義問題、拆解需求、驗證結果與持續修正，才決定作品是否可靠。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我運用 AI 與 Coding Agent 協助實作，但由我決定要解決什麼、如何驗收，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以及哪些結果不能直接採用。這也讓我學會建立備援、審查與迭代流程。</a:t>
            </a:r>
            <a:endParaRPr/>
          </a:p>
        </p:txBody>
      </p:sp>
      <p:sp>
        <p:nvSpPr>
          <p:cNvPr id="226" name="Google Shape;226;p12">
            <a:extLst xmlns:a="http://schemas.openxmlformats.org/drawingml/2006/main">
              <a:ext uri="{FF2B5EF4-FFF2-40B4-BE49-F238E27FC236}">
                <a16:creationId xmlns:a16="http://schemas.microsoft.com/office/drawing/2014/main" id="{99299112-D2D9-400E-84CC-AFC3BE4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/>
          </a:p>
        </p:txBody>
      </p:sp>
      <p:sp>
        <p:nvSpPr>
          <p:cNvPr id="227" name="Google Shape;227;p12">
            <a:extLst xmlns:a="http://schemas.openxmlformats.org/drawingml/2006/main">
              <a:ext uri="{FF2B5EF4-FFF2-40B4-BE49-F238E27FC236}">
                <a16:creationId xmlns:a16="http://schemas.microsoft.com/office/drawing/2014/main" id="{40776E84-D3B3-4A89-B2A1-30E8353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9600"/>
            <a:ext cx="1540200" cy="4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sz="1702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  <a:endParaRPr sz="2118"/>
          </a:p>
        </p:txBody>
      </p:sp>
      <p:sp>
        <p:nvSpPr>
          <p:cNvPr id="228" name="Google Shape;228;p12">
            <a:extLst xmlns:a="http://schemas.openxmlformats.org/drawingml/2006/main">
              <a:ext uri="{FF2B5EF4-FFF2-40B4-BE49-F238E27FC236}">
                <a16:creationId xmlns:a16="http://schemas.microsoft.com/office/drawing/2014/main" id="{250B3C1E-7E3C-4C0D-9445-3E2DBE5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70"/>
            <a:ext cx="3630000" cy="1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會寫程式</a:t>
            </a:r>
            <a:endParaRPr sz="2118"/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做出功能</a:t>
            </a:r>
            <a:endParaRPr sz="2118"/>
          </a:p>
        </p:txBody>
      </p:sp>
      <p:sp>
        <p:nvSpPr>
          <p:cNvPr id="229" name="Google Shape;229;p12">
            <a:extLst xmlns:a="http://schemas.openxmlformats.org/drawingml/2006/main">
              <a:ext uri="{FF2B5EF4-FFF2-40B4-BE49-F238E27FC236}">
                <a16:creationId xmlns:a16="http://schemas.microsoft.com/office/drawing/2014/main" id="{E5B760F6-8092-4A9A-91B4-920A2FFE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796" y="3954063"/>
            <a:ext cx="1100100" cy="10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6126"/>
              <a:buFont typeface="Microsoft JhengHei"/>
              <a:buNone/>
            </a:pPr>
            <a:r>
              <a:rPr sz="6126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  <a:endParaRPr sz="2118"/>
          </a:p>
        </p:txBody>
      </p:sp>
      <p:sp>
        <p:nvSpPr>
          <p:cNvPr id="230" name="Google Shape;230;p12">
            <a:extLst xmlns:a="http://schemas.openxmlformats.org/drawingml/2006/main">
              <a:ext uri="{FF2B5EF4-FFF2-40B4-BE49-F238E27FC236}">
                <a16:creationId xmlns:a16="http://schemas.microsoft.com/office/drawing/2014/main" id="{0777BD17-505E-4036-9B17-0407462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795" y="3089600"/>
            <a:ext cx="1540200" cy="4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sz="1702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  <a:endParaRPr sz="2118"/>
          </a:p>
        </p:txBody>
      </p:sp>
      <p:sp>
        <p:nvSpPr>
          <p:cNvPr id="231" name="Google Shape;231;p12">
            <a:extLst xmlns:a="http://schemas.openxmlformats.org/drawingml/2006/main">
              <a:ext uri="{FF2B5EF4-FFF2-40B4-BE49-F238E27FC236}">
                <a16:creationId xmlns:a16="http://schemas.microsoft.com/office/drawing/2014/main" id="{2D5379F3-F6AC-4E56-9651-363B84C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795" y="3781170"/>
            <a:ext cx="6160200" cy="1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  <a:endParaRPr sz="2118"/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驗證品質 · 承擔結果</a:t>
            </a:r>
            <a:endParaRPr sz="2118"/>
          </a:p>
        </p:txBody>
      </p:sp>
    </p:spTree>
    <p:extLst>
      <p:ext uri="{BB962C8B-B14F-4D97-AF65-F5344CB8AC3E}">
        <p14:creationId xmlns:p14="http://schemas.microsoft.com/office/powerpoint/2010/main" val="1724221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Google Shape;237;p13">
            <a:extLst xmlns:a="http://schemas.openxmlformats.org/drawingml/2006/main">
              <a:ext uri="{FF2B5EF4-FFF2-40B4-BE49-F238E27FC236}">
                <a16:creationId xmlns:a16="http://schemas.microsoft.com/office/drawing/2014/main" id="{01C55CE7-A0A6-479D-AA3C-8096D863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>
            <a:extLst xmlns:a="http://schemas.openxmlformats.org/drawingml/2006/main">
              <a:ext uri="{FF2B5EF4-FFF2-40B4-BE49-F238E27FC236}">
                <a16:creationId xmlns:a16="http://schemas.microsoft.com/office/drawing/2014/main" id="{8E29D238-B549-4797-A01F-A63270FC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  <a:endParaRPr/>
          </a:p>
        </p:txBody>
      </p:sp>
      <p:sp>
        <p:nvSpPr>
          <p:cNvPr id="239" name="Google Shape;239;p13">
            <a:extLst xmlns:a="http://schemas.openxmlformats.org/drawingml/2006/main">
              <a:ext uri="{FF2B5EF4-FFF2-40B4-BE49-F238E27FC236}">
                <a16:creationId xmlns:a16="http://schemas.microsoft.com/office/drawing/2014/main" id="{0B1130F8-7CCE-4104-8D0F-96523031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五項工程選擇，讓系統能持續運作</a:t>
            </a:r>
            <a:endParaRPr/>
          </a:p>
        </p:txBody>
      </p:sp>
      <p:sp>
        <p:nvSpPr>
          <p:cNvPr id="240" name="Google Shape;240;p13">
            <a:extLst xmlns:a="http://schemas.openxmlformats.org/drawingml/2006/main">
              <a:ext uri="{FF2B5EF4-FFF2-40B4-BE49-F238E27FC236}">
                <a16:creationId xmlns:a16="http://schemas.microsoft.com/office/drawing/2014/main" id="{C8A9B6DE-C9CF-44A4-82BD-B588406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/>
          </a:p>
        </p:txBody>
      </p:sp>
      <p:sp>
        <p:nvSpPr>
          <p:cNvPr id="241" name="Google Shape;241;p13">
            <a:extLst xmlns:a="http://schemas.openxmlformats.org/drawingml/2006/main">
              <a:ext uri="{FF2B5EF4-FFF2-40B4-BE49-F238E27FC236}">
                <a16:creationId xmlns:a16="http://schemas.microsoft.com/office/drawing/2014/main" id="{03D77F2E-82EA-4FE2-BD0C-1D21FE3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>
            <a:extLst xmlns:a="http://schemas.openxmlformats.org/drawingml/2006/main">
              <a:ext uri="{FF2B5EF4-FFF2-40B4-BE49-F238E27FC236}">
                <a16:creationId xmlns:a16="http://schemas.microsoft.com/office/drawing/2014/main" id="{DB958062-3506-4343-B466-C4EDE79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面向</a:t>
            </a:r>
            <a:endParaRPr/>
          </a:p>
        </p:txBody>
      </p:sp>
      <p:sp>
        <p:nvSpPr>
          <p:cNvPr id="243" name="Google Shape;243;p13">
            <a:extLst xmlns:a="http://schemas.openxmlformats.org/drawingml/2006/main">
              <a:ext uri="{FF2B5EF4-FFF2-40B4-BE49-F238E27FC236}">
                <a16:creationId xmlns:a16="http://schemas.microsoft.com/office/drawing/2014/main" id="{A966912F-ECE7-48DF-9280-30C3680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>
            <a:extLst xmlns:a="http://schemas.openxmlformats.org/drawingml/2006/main">
              <a:ext uri="{FF2B5EF4-FFF2-40B4-BE49-F238E27FC236}">
                <a16:creationId xmlns:a16="http://schemas.microsoft.com/office/drawing/2014/main" id="{43E9790E-B1A5-4A82-B3F7-8468B7D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我的選擇</a:t>
            </a:r>
            <a:endParaRPr/>
          </a:p>
        </p:txBody>
      </p:sp>
      <p:sp>
        <p:nvSpPr>
          <p:cNvPr id="245" name="Google Shape;245;p13">
            <a:extLst xmlns:a="http://schemas.openxmlformats.org/drawingml/2006/main">
              <a:ext uri="{FF2B5EF4-FFF2-40B4-BE49-F238E27FC236}">
                <a16:creationId xmlns:a16="http://schemas.microsoft.com/office/drawing/2014/main" id="{113645D6-E973-40E5-A807-3BCF264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>
            <a:extLst xmlns:a="http://schemas.openxmlformats.org/drawingml/2006/main">
              <a:ext uri="{FF2B5EF4-FFF2-40B4-BE49-F238E27FC236}">
                <a16:creationId xmlns:a16="http://schemas.microsoft.com/office/drawing/2014/main" id="{DC8BEAE8-207B-4A88-8A53-4A40851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技術組合</a:t>
            </a:r>
            <a:endParaRPr/>
          </a:p>
        </p:txBody>
      </p:sp>
      <p:sp>
        <p:nvSpPr>
          <p:cNvPr id="247" name="Google Shape;247;p13">
            <a:extLst xmlns:a="http://schemas.openxmlformats.org/drawingml/2006/main">
              <a:ext uri="{FF2B5EF4-FFF2-40B4-BE49-F238E27FC236}">
                <a16:creationId xmlns:a16="http://schemas.microsoft.com/office/drawing/2014/main" id="{BC8907CB-C780-48AB-B232-3ABCAF1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>
            <a:extLst xmlns:a="http://schemas.openxmlformats.org/drawingml/2006/main">
              <a:ext uri="{FF2B5EF4-FFF2-40B4-BE49-F238E27FC236}">
                <a16:creationId xmlns:a16="http://schemas.microsoft.com/office/drawing/2014/main" id="{A85DCE1B-F712-489E-B11C-8273AE6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目的</a:t>
            </a:r>
            <a:endParaRPr/>
          </a:p>
        </p:txBody>
      </p:sp>
      <p:sp>
        <p:nvSpPr>
          <p:cNvPr id="249" name="Google Shape;249;p13">
            <a:extLst xmlns:a="http://schemas.openxmlformats.org/drawingml/2006/main">
              <a:ext uri="{FF2B5EF4-FFF2-40B4-BE49-F238E27FC236}">
                <a16:creationId xmlns:a16="http://schemas.microsoft.com/office/drawing/2014/main" id="{5F4E3E45-CA1E-4EDC-B3B4-586F60F6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>
            <a:extLst xmlns:a="http://schemas.openxmlformats.org/drawingml/2006/main">
              <a:ext uri="{FF2B5EF4-FFF2-40B4-BE49-F238E27FC236}">
                <a16:creationId xmlns:a16="http://schemas.microsoft.com/office/drawing/2014/main" id="{54CFEA73-2F55-42A2-962D-41C80AE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帳號與權限</a:t>
            </a:r>
            <a:endParaRPr/>
          </a:p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3EE5A29B-1D00-40E5-9986-7064E22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>
            <a:extLst xmlns:a="http://schemas.openxmlformats.org/drawingml/2006/main">
              <a:ext uri="{FF2B5EF4-FFF2-40B4-BE49-F238E27FC236}">
                <a16:creationId xmlns:a16="http://schemas.microsoft.com/office/drawing/2014/main" id="{66D08D99-5938-4857-947C-E7B57207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依角色控管功能</a:t>
            </a:r>
            <a:endParaRPr/>
          </a:p>
        </p:txBody>
      </p:sp>
      <p:sp>
        <p:nvSpPr>
          <p:cNvPr id="253" name="Google Shape;253;p13">
            <a:extLst xmlns:a="http://schemas.openxmlformats.org/drawingml/2006/main">
              <a:ext uri="{FF2B5EF4-FFF2-40B4-BE49-F238E27FC236}">
                <a16:creationId xmlns:a16="http://schemas.microsoft.com/office/drawing/2014/main" id="{3A16095D-162A-4A73-89F7-626A5CD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>
            <a:extLst xmlns:a="http://schemas.openxmlformats.org/drawingml/2006/main">
              <a:ext uri="{FF2B5EF4-FFF2-40B4-BE49-F238E27FC236}">
                <a16:creationId xmlns:a16="http://schemas.microsoft.com/office/drawing/2014/main" id="{9F4004C3-CC95-40FB-B726-F6F0F89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JWT／中介層</a:t>
            </a:r>
            <a:endParaRPr/>
          </a:p>
        </p:txBody>
      </p:sp>
      <p:sp>
        <p:nvSpPr>
          <p:cNvPr id="255" name="Google Shape;255;p13">
            <a:extLst xmlns:a="http://schemas.openxmlformats.org/drawingml/2006/main">
              <a:ext uri="{FF2B5EF4-FFF2-40B4-BE49-F238E27FC236}">
                <a16:creationId xmlns:a16="http://schemas.microsoft.com/office/drawing/2014/main" id="{E2BD9130-7F9C-477E-9B39-584417D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>
            <a:extLst xmlns:a="http://schemas.openxmlformats.org/drawingml/2006/main">
              <a:ext uri="{FF2B5EF4-FFF2-40B4-BE49-F238E27FC236}">
                <a16:creationId xmlns:a16="http://schemas.microsoft.com/office/drawing/2014/main" id="{14A4963A-8517-4330-B05D-8B55450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區分學生與管理功能</a:t>
            </a:r>
            <a:endParaRPr/>
          </a:p>
        </p:txBody>
      </p:sp>
      <p:sp>
        <p:nvSpPr>
          <p:cNvPr id="257" name="Google Shape;257;p13">
            <a:extLst xmlns:a="http://schemas.openxmlformats.org/drawingml/2006/main">
              <a:ext uri="{FF2B5EF4-FFF2-40B4-BE49-F238E27FC236}">
                <a16:creationId xmlns:a16="http://schemas.microsoft.com/office/drawing/2014/main" id="{5EE2FDB0-491E-48BA-9609-4D07623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>
            <a:extLst xmlns:a="http://schemas.openxmlformats.org/drawingml/2006/main">
              <a:ext uri="{FF2B5EF4-FFF2-40B4-BE49-F238E27FC236}">
                <a16:creationId xmlns:a16="http://schemas.microsoft.com/office/drawing/2014/main" id="{2D12EF1E-A0CE-4592-9BED-AF2F4F3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學習資料</a:t>
            </a:r>
            <a:endParaRPr/>
          </a:p>
        </p:txBody>
      </p:sp>
      <p:sp>
        <p:nvSpPr>
          <p:cNvPr id="259" name="Google Shape;259;p13">
            <a:extLst xmlns:a="http://schemas.openxmlformats.org/drawingml/2006/main">
              <a:ext uri="{FF2B5EF4-FFF2-40B4-BE49-F238E27FC236}">
                <a16:creationId xmlns:a16="http://schemas.microsoft.com/office/drawing/2014/main" id="{89D2272F-DF50-4D8A-9B08-3E3B3B7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>
            <a:extLst xmlns:a="http://schemas.openxmlformats.org/drawingml/2006/main">
              <a:ext uri="{FF2B5EF4-FFF2-40B4-BE49-F238E27FC236}">
                <a16:creationId xmlns:a16="http://schemas.microsoft.com/office/drawing/2014/main" id="{DECBF243-BACC-4BB4-9457-1BC56684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以三個資料庫分工</a:t>
            </a:r>
            <a:endParaRPr/>
          </a:p>
        </p:txBody>
      </p:sp>
      <p:sp>
        <p:nvSpPr>
          <p:cNvPr id="261" name="Google Shape;261;p13">
            <a:extLst xmlns:a="http://schemas.openxmlformats.org/drawingml/2006/main">
              <a:ext uri="{FF2B5EF4-FFF2-40B4-BE49-F238E27FC236}">
                <a16:creationId xmlns:a16="http://schemas.microsoft.com/office/drawing/2014/main" id="{41240370-5602-44A4-B84F-C097D6B0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>
            <a:extLst xmlns:a="http://schemas.openxmlformats.org/drawingml/2006/main">
              <a:ext uri="{FF2B5EF4-FFF2-40B4-BE49-F238E27FC236}">
                <a16:creationId xmlns:a16="http://schemas.microsoft.com/office/drawing/2014/main" id="{62B03D16-2791-46B4-8042-DEA2F7A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SQLite 三庫</a:t>
            </a:r>
            <a:endParaRPr/>
          </a:p>
        </p:txBody>
      </p:sp>
      <p:sp>
        <p:nvSpPr>
          <p:cNvPr id="263" name="Google Shape;263;p13">
            <a:extLst xmlns:a="http://schemas.openxmlformats.org/drawingml/2006/main">
              <a:ext uri="{FF2B5EF4-FFF2-40B4-BE49-F238E27FC236}">
                <a16:creationId xmlns:a16="http://schemas.microsoft.com/office/drawing/2014/main" id="{F5A237C6-B27E-4F7A-AC82-EE9070C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>
            <a:extLst xmlns:a="http://schemas.openxmlformats.org/drawingml/2006/main">
              <a:ext uri="{FF2B5EF4-FFF2-40B4-BE49-F238E27FC236}">
                <a16:creationId xmlns:a16="http://schemas.microsoft.com/office/drawing/2014/main" id="{E6E58A66-611D-4E37-B0F9-729AD53C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快速部署並降低耦合</a:t>
            </a:r>
            <a:endParaRPr/>
          </a:p>
        </p:txBody>
      </p:sp>
      <p:sp>
        <p:nvSpPr>
          <p:cNvPr id="265" name="Google Shape;265;p13">
            <a:extLst xmlns:a="http://schemas.openxmlformats.org/drawingml/2006/main">
              <a:ext uri="{FF2B5EF4-FFF2-40B4-BE49-F238E27FC236}">
                <a16:creationId xmlns:a16="http://schemas.microsoft.com/office/drawing/2014/main" id="{96BDBCCA-ADBE-4A50-BC00-1E5E3EA0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D10FE56B-84BB-4D9F-BB13-D2187BBE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內容匯入</a:t>
            </a:r>
            <a:endParaRPr/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F9C260C0-6ED0-4FB8-9612-FC8C7100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B2470172-744D-4240-8D3A-98735A3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辨識後進入三階段審查</a:t>
            </a:r>
            <a:endParaRPr/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B67F6C93-0F6F-4BD1-877E-3BA372DF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1BBC4FE1-B021-4AE8-BA9E-C9F9669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OCR／Gemini</a:t>
            </a:r>
            <a:endParaRPr/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8AD9CE28-1659-41BB-A0DD-86121355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00FBCE27-EF25-419A-A2BA-A7E5CD7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多資料來源，審查後再入庫</a:t>
            </a:r>
            <a:endParaRPr/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3F441EB6-AA31-411E-B60F-9A9E22B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DB89A8DD-585F-4AF4-99D3-CAB5580D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發音服務</a:t>
            </a:r>
            <a:endParaRPr/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46F993C6-0E8C-4B98-A928-A73A95A0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7E1AF132-2313-462F-B45F-A481B37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字典音源優先，TTS 備援</a:t>
            </a:r>
            <a:endParaRPr/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D130032C-D8DE-4491-A89E-2835F70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216B34B9-2A4A-4FE6-932D-C1F5DE2B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快取／fallback</a:t>
            </a:r>
            <a:endParaRPr/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6FFB4266-17D5-474F-8534-F73CB241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>
            <a:extLst xmlns:a="http://schemas.openxmlformats.org/drawingml/2006/main">
              <a:ext uri="{FF2B5EF4-FFF2-40B4-BE49-F238E27FC236}">
                <a16:creationId xmlns:a16="http://schemas.microsoft.com/office/drawing/2014/main" id="{13EE818B-E990-4059-8397-9AFA16F6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兼顧正確性與可用性</a:t>
            </a:r>
            <a:endParaRPr/>
          </a:p>
        </p:txBody>
      </p:sp>
      <p:sp>
        <p:nvSpPr>
          <p:cNvPr id="281" name="Google Shape;281;p13">
            <a:extLst xmlns:a="http://schemas.openxmlformats.org/drawingml/2006/main">
              <a:ext uri="{FF2B5EF4-FFF2-40B4-BE49-F238E27FC236}">
                <a16:creationId xmlns:a16="http://schemas.microsoft.com/office/drawing/2014/main" id="{8606648C-FFC9-4280-B7B8-ABB71E5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>
            <a:extLst xmlns:a="http://schemas.openxmlformats.org/drawingml/2006/main">
              <a:ext uri="{FF2B5EF4-FFF2-40B4-BE49-F238E27FC236}">
                <a16:creationId xmlns:a16="http://schemas.microsoft.com/office/drawing/2014/main" id="{5B4A30B8-9B39-477B-B98A-1CA582C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  <a:endParaRPr/>
          </a:p>
        </p:txBody>
      </p:sp>
      <p:sp>
        <p:nvSpPr>
          <p:cNvPr id="283" name="Google Shape;283;p13">
            <a:extLst xmlns:a="http://schemas.openxmlformats.org/drawingml/2006/main">
              <a:ext uri="{FF2B5EF4-FFF2-40B4-BE49-F238E27FC236}">
                <a16:creationId xmlns:a16="http://schemas.microsoft.com/office/drawing/2014/main" id="{A2AD2C85-904B-4E1E-9532-7B5F6DC5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>
            <a:extLst xmlns:a="http://schemas.openxmlformats.org/drawingml/2006/main">
              <a:ext uri="{FF2B5EF4-FFF2-40B4-BE49-F238E27FC236}">
                <a16:creationId xmlns:a16="http://schemas.microsoft.com/office/drawing/2014/main" id="{EAB67592-16E8-4FCE-A262-9E84B0A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將服務部署至公開網域</a:t>
            </a:r>
            <a:endParaRPr/>
          </a:p>
        </p:txBody>
      </p:sp>
      <p:sp>
        <p:nvSpPr>
          <p:cNvPr id="285" name="Google Shape;285;p13">
            <a:extLst xmlns:a="http://schemas.openxmlformats.org/drawingml/2006/main">
              <a:ext uri="{FF2B5EF4-FFF2-40B4-BE49-F238E27FC236}">
                <a16:creationId xmlns:a16="http://schemas.microsoft.com/office/drawing/2014/main" id="{F077DEB7-EF3D-4E41-9F2F-BA31C42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C05D4EE3-EEBC-4F5B-A63C-B36DF43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Nginx</a:t>
            </a: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／DuckDNS</a:t>
            </a:r>
            <a:endParaRPr/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4DDBED11-B5F0-4C43-95D8-C4EFA6CC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DA6EE686-41DB-4646-8B28-A34C9C11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支援多裝置使用與快速迭代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1348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F182B30-DE8F-465F-84A1-AFEA96F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4978FD9-9454-4AEC-A6BB-EFAC41B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" name="Google Shape;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d4ea0e7a6c4830">
            <a:alphaModFix/>
          </a:blip>
          <a:srcRect xmlns:a="http://schemas.openxmlformats.org/drawingml/2006/main" l="9676" t="10268" r="11528" b="12583"/>
          <a:stretch xmlns:a="http://schemas.openxmlformats.org/drawingml/2006/main"/>
        </p:blipFill>
        <p:spPr>
          <a:xfrm xmlns:a="http://schemas.openxmlformats.org/drawingml/2006/main">
            <a:off x="1409925" y="1913013"/>
            <a:ext cx="1275900" cy="12492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6682B19-CDED-4555-BCA0-462F38E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75" y="3210000"/>
            <a:ext cx="1885800" cy="4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29FC837-9834-4F3D-BC6D-759F24F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225" y="3648000"/>
            <a:ext cx="1041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EE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公開服務</a:t>
            </a:r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8C22397-1CF3-4641-80E7-F103031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875700" cy="17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歡迎實際使用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39" name="Google Shape;22;p3"/>
          <p:cNvCxnSpPr/>
          <p:nvPr/>
        </p:nvCxn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73A7D9B-64A0-4957-9BD5-2325938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 u="sng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9fa26aec1b34eed"/>
              </a:rPr>
              <a:t>words.ytconch.duckdns.org</a:t>
            </a:r>
            <a:endParaRPr/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點擊網址，體驗完整學習流程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2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2026-08-18T05:17:13.7880000Z</dcterms:created>
  <dcterms:modified xsi:type="dcterms:W3CDTF">2026-08-18T05:17:13.7880000Z</dcterms:modified>
</coreProperties>
</file>